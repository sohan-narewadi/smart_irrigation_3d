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5.png"/><Relationship Id="rId6" Type="http://schemas.openxmlformats.org/officeDocument/2006/relationships/image" Target="../media/image-12-5.png"/><Relationship Id="rId7" Type="http://schemas.openxmlformats.org/officeDocument/2006/relationships/image" Target="../media/image-12-5.png"/><Relationship Id="rId8" Type="http://schemas.openxmlformats.org/officeDocument/2006/relationships/image" Target="../media/image-12-5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35640" y="54864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C:\Users\sohan\AppData\Local\Temp\claude\D--CEPDT-3D-model\6251275b-f963-4380-baeb-f7faaa89ac3b\scratchpad\deck\icons\FiDro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2178" y="735178"/>
            <a:ext cx="404165" cy="4041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CEPDT  PROJECT  ·  SMART AGRICULTURE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594360" y="2148840"/>
            <a:ext cx="10515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Irrigation System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375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Tinkercad Circuit Simulation to an Interactive 3D Digital Twin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40080" y="5623560"/>
            <a:ext cx="475488" cy="475488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8" name="Image 1" descr="C:\Users\sohan\AppData\Local\Temp\claude\D--CEPDT-3D-model\6251275b-f963-4380-baeb-f7faaa89ac3b\scratchpad\deck\icons\Fi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197" y="5737677"/>
            <a:ext cx="247254" cy="24725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61872" y="5623560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Tinkercad · Arduino Uno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297680" y="5623560"/>
            <a:ext cx="475488" cy="475488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2" descr="C:\Users\sohan\AppData\Local\Temp\claude\D--CEPDT-3D-model\6251275b-f963-4380-baeb-f7faaa89ac3b\scratchpad\deck\icons\Fi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1797" y="5737677"/>
            <a:ext cx="247254" cy="24725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919472" y="5623560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· WebGL Scene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955280" y="5623560"/>
            <a:ext cx="475488" cy="475488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14" name="Image 3" descr="C:\Users\sohan\AppData\Local\Temp\claude\D--CEPDT-3D-model\6251275b-f963-4380-baeb-f7faaa89ac3b\scratchpad\deck\icons\FiDropl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9397" y="5737677"/>
            <a:ext cx="247254" cy="24725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77072" y="5623560"/>
            <a:ext cx="28986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Moisture Control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two-part build: a working circuit prototype, and a real-time 3D visualization that brings it to life.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566928" cy="566928"/>
          </a:xfrm>
          <a:prstGeom prst="ellipse">
            <a:avLst/>
          </a:prstGeom>
          <a:solidFill>
            <a:srgbClr val="1F3D2E"/>
          </a:solidFill>
          <a:ln/>
        </p:spPr>
      </p:sp>
      <p:pic>
        <p:nvPicPr>
          <p:cNvPr id="5" name="Image 0" descr="C:\Users\sohan\AppData\Local\Temp\claude\D--CEPDT-3D-model\6251275b-f963-4380-baeb-f7faaa89ac3b\scratchpad\deck\icons\FiDro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863" y="1964863"/>
            <a:ext cx="294803" cy="2948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81328" y="1783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Soil Moisture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1481328" y="214884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soil-moisture probe and TMP36 temperature sensor continuously feed live readings to the Arduino Uno.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85800" y="2926080"/>
            <a:ext cx="566928" cy="566928"/>
          </a:xfrm>
          <a:prstGeom prst="ellipse">
            <a:avLst/>
          </a:prstGeom>
          <a:solidFill>
            <a:srgbClr val="1F3D2E"/>
          </a:solidFill>
          <a:ln/>
        </p:spPr>
      </p:sp>
      <p:pic>
        <p:nvPicPr>
          <p:cNvPr id="9" name="Image 1" descr="C:\Users\sohan\AppData\Local\Temp\claude\D--CEPDT-3D-model\6251275b-f963-4380-baeb-f7faaa89ac3b\scratchpad\deck\icons\FiSli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863" y="3062143"/>
            <a:ext cx="294803" cy="29480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81328" y="2880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Custom Threshold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1481328" y="32461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250 kΩ potentiometer lets the operator dial in exactly how dry the soil must get before watering starts.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85800" y="4023360"/>
            <a:ext cx="566928" cy="566928"/>
          </a:xfrm>
          <a:prstGeom prst="ellipse">
            <a:avLst/>
          </a:prstGeom>
          <a:solidFill>
            <a:srgbClr val="1F3D2E"/>
          </a:solidFill>
          <a:ln/>
        </p:spPr>
      </p:sp>
      <p:pic>
        <p:nvPicPr>
          <p:cNvPr id="13" name="Image 2" descr="C:\Users\sohan\AppData\Local\Temp\claude\D--CEPDT-3D-model\6251275b-f963-4380-baeb-f7faaa89ac3b\scratchpad\deck\icons\Fi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63" y="4159423"/>
            <a:ext cx="294803" cy="29480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81328" y="3977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Response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1481328" y="434340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soil crosses the threshold, the Arduino drives a DC pump motor, alert LEDs and a piezo buzzer automatically.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85800" y="5120640"/>
            <a:ext cx="566928" cy="566928"/>
          </a:xfrm>
          <a:prstGeom prst="ellipse">
            <a:avLst/>
          </a:prstGeom>
          <a:solidFill>
            <a:srgbClr val="1F3D2E"/>
          </a:solidFill>
          <a:ln/>
        </p:spPr>
      </p:sp>
      <p:pic>
        <p:nvPicPr>
          <p:cNvPr id="17" name="Image 3" descr="C:\Users\sohan\AppData\Local\Temp\claude\D--CEPDT-3D-model\6251275b-f963-4380-baeb-f7faaa89ac3b\scratchpad\deck\icons\FiMoni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63" y="5256703"/>
            <a:ext cx="294803" cy="29480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81328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&amp; Visualize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1481328" y="544068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Readings appear on a 16×2 I2C LCD in the physical build — and on a live HUD inside a full 3D farm digital twin.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Arduino Uno sits at the center, reading sensors and driving outputs in real time.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6" name="Image 0" descr="C:\Users\sohan\AppData\Local\Temp\claude\D--CEPDT-3D-model\6251275b-f963-4380-baeb-f7faaa89ac3b\scratchpad\deck\icons\FiDro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23763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2219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Sensor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371600" y="25420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probe in the bed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342900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10" name="Image 1" descr="C:\Users\sohan\AppData\Local\Temp\claude\D--CEPDT-3D-model\6251275b-f963-4380-baeb-f7faaa89ac3b\scratchpad\deck\icons\FiThermome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143" y="3565063"/>
            <a:ext cx="294803" cy="29480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341071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TMP36 Sensor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temperature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40080" y="46177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14" name="Image 2" descr="C:\Users\sohan\AppData\Local\Temp\claude\D--CEPDT-3D-model\6251275b-f963-4380-baeb-f7faaa89ac3b\scratchpad\deck\icons\Fi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4753783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71600" y="45994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Dial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371600" y="49194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kΩ potentiometer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504688" y="2788920"/>
            <a:ext cx="1097280" cy="1097280"/>
          </a:xfrm>
          <a:prstGeom prst="ellipse">
            <a:avLst/>
          </a:prstGeom>
          <a:solidFill>
            <a:srgbClr val="1F3D2E"/>
          </a:solidFill>
          <a:ln/>
        </p:spPr>
      </p:sp>
      <p:pic>
        <p:nvPicPr>
          <p:cNvPr id="18" name="Image 3" descr="C:\Users\sohan\AppData\Local\Temp\claude\D--CEPDT-3D-model\6251275b-f963-4380-baeb-f7faaa89ac3b\scratchpad\deck\icons\Fi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035" y="3052267"/>
            <a:ext cx="570586" cy="57058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590288" y="3950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4590288" y="42793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loop</a:t>
            </a:r>
            <a:endParaRPr lang="en-US" sz="1050" dirty="0"/>
          </a:p>
        </p:txBody>
      </p:sp>
      <p:sp>
        <p:nvSpPr>
          <p:cNvPr id="21" name="Text 15"/>
          <p:cNvSpPr txBox="1"/>
          <p:nvPr/>
        </p:nvSpPr>
        <p:spPr>
          <a:xfrm>
            <a:off x="3977640" y="288036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2" name="Text 16"/>
          <p:cNvSpPr txBox="1"/>
          <p:nvPr/>
        </p:nvSpPr>
        <p:spPr>
          <a:xfrm>
            <a:off x="7452360" y="2880360"/>
            <a:ext cx="777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23" name="Text 17"/>
          <p:cNvSpPr txBox="1"/>
          <p:nvPr/>
        </p:nvSpPr>
        <p:spPr>
          <a:xfrm>
            <a:off x="9052560" y="1783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9052560" y="224028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25" name="Image 4" descr="C:\Users\sohan\AppData\Local\Temp\claude\D--CEPDT-3D-model\6251275b-f963-4380-baeb-f7faaa89ac3b\scratchpad\deck\icons\FiZ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8623" y="2376343"/>
            <a:ext cx="294803" cy="29480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84080" y="222199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Pump Motor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9784080" y="2542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irrigation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9052560" y="342900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29" name="Image 5" descr="C:\Users\sohan\AppData\Local\Temp\claude\D--CEPDT-3D-model\6251275b-f963-4380-baeb-f7faaa89ac3b\scratchpad\deck\icons\FiMonito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8623" y="3565063"/>
            <a:ext cx="294803" cy="294803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784080" y="34107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I2C LCD</a:t>
            </a:r>
            <a:endParaRPr lang="en-US" sz="1300" dirty="0"/>
          </a:p>
        </p:txBody>
      </p:sp>
      <p:sp>
        <p:nvSpPr>
          <p:cNvPr id="31" name="Text 23"/>
          <p:cNvSpPr txBox="1"/>
          <p:nvPr/>
        </p:nvSpPr>
        <p:spPr>
          <a:xfrm>
            <a:off x="978408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readout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9052560" y="4617720"/>
            <a:ext cx="566928" cy="566928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33" name="Image 6" descr="C:\Users\sohan\AppData\Local\Temp\claude\D--CEPDT-3D-model\6251275b-f963-4380-baeb-f7faaa89ac3b\scratchpad\deck\icons\FiBell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8623" y="4753783"/>
            <a:ext cx="294803" cy="294803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9784080" y="4599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Buzzer + LEDs</a:t>
            </a:r>
            <a:endParaRPr lang="en-US" sz="1300" dirty="0"/>
          </a:p>
        </p:txBody>
      </p:sp>
      <p:sp>
        <p:nvSpPr>
          <p:cNvPr id="35" name="Text 26"/>
          <p:cNvSpPr txBox="1"/>
          <p:nvPr/>
        </p:nvSpPr>
        <p:spPr>
          <a:xfrm>
            <a:off x="9784080" y="4919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Dry-soil alerts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C:\Users\sohan\AppData\Local\Temp\claude\D--CEPDT-3D-model\6251275b-f963-4380-baeb-f7faaa89ac3b\scratchpad\deck\icons\dark\FiSett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271016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72491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Design in Tinkercad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6118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the sensing and control hardware before writing a line of code.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Circuit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50392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end-to-end in Tinkercad before any hardware was assembled.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7512" y="1828800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32688" y="1691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Uno R3  </a:t>
            </a:r>
            <a:pPr indent="0" marL="0">
              <a:buNone/>
            </a:pPr>
            <a:r>
              <a:rPr lang="en-US" sz="12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control unit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67512" y="234543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32688" y="220827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 Sensor  </a:t>
            </a:r>
            <a:pPr indent="0" marL="0">
              <a:buNone/>
            </a:pPr>
            <a:r>
              <a:rPr lang="en-US" sz="12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reads soil water content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67512" y="2862072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27249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TMP36 Sensor  </a:t>
            </a:r>
            <a:pPr indent="0" marL="0">
              <a:buNone/>
            </a:pPr>
            <a:r>
              <a:rPr lang="en-US" sz="12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ambient temperature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378708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32415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Pump Motor  </a:t>
            </a:r>
            <a:pPr indent="0" marL="0">
              <a:buNone/>
            </a:pPr>
            <a:r>
              <a:rPr lang="en-US" sz="12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irrigation actuator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67512" y="3895344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32688" y="37581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16×2 I2C LCD  </a:t>
            </a:r>
            <a:pPr indent="0" marL="0">
              <a:buNone/>
            </a:pPr>
            <a:r>
              <a:rPr lang="en-US" sz="12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on-device readout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" y="4411980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32688" y="42748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kΩ Potentiometer  </a:t>
            </a:r>
            <a:pPr indent="0" marL="0">
              <a:buNone/>
            </a:pPr>
            <a:r>
              <a:rPr lang="en-US" sz="12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threshold dial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4928616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32688" y="47914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Piezo Buzzer + LEDs  </a:t>
            </a:r>
            <a:pPr indent="0" marL="0">
              <a:buNone/>
            </a:pPr>
            <a:r>
              <a:rPr lang="en-US" sz="12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dry-soil alerts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67512" y="5445252"/>
            <a:ext cx="118872" cy="11887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2688" y="530809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Switch + Resistors  </a:t>
            </a:r>
            <a:pPr indent="0" marL="0">
              <a:buNone/>
            </a:pPr>
            <a:r>
              <a:rPr lang="en-US" sz="12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power &amp; current control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394960" y="1463040"/>
            <a:ext cx="6583680" cy="2886891"/>
          </a:xfrm>
          <a:prstGeom prst="roundRect">
            <a:avLst>
              <a:gd name="adj" fmla="val 38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B1710">
                <a:alpha val="18000"/>
              </a:srgbClr>
            </a:outerShdw>
          </a:effectLst>
        </p:spPr>
      </p:sp>
      <p:pic>
        <p:nvPicPr>
          <p:cNvPr id="21" name="Image 0" descr="D:/CEPDT 3D model/Smart Irrigation 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600200"/>
            <a:ext cx="6309360" cy="2612571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5532120" y="4441371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schematic — Tinkercad Circuits simulation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532120" y="5074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 dirty="0"/>
          </a:p>
        </p:txBody>
      </p:sp>
      <p:sp>
        <p:nvSpPr>
          <p:cNvPr id="24" name="Text 21"/>
          <p:cNvSpPr txBox="1"/>
          <p:nvPr/>
        </p:nvSpPr>
        <p:spPr>
          <a:xfrm>
            <a:off x="5532120" y="5577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7699248" y="5074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26" name="Text 23"/>
          <p:cNvSpPr txBox="1"/>
          <p:nvPr/>
        </p:nvSpPr>
        <p:spPr>
          <a:xfrm>
            <a:off x="7699248" y="5577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866376" y="507492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28" name="Text 25"/>
          <p:cNvSpPr txBox="1"/>
          <p:nvPr/>
        </p:nvSpPr>
        <p:spPr>
          <a:xfrm>
            <a:off x="9866376" y="55778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First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of Materials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used in the Tinkercad build.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90879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525512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D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Uno R3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 Motor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Moisture Sensor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Sensor (TMP36)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PIEZO1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Piezo Buzzer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Breadboard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16×2 I2C LCD (MCP23008, 0x20)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Rpot3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kΩ Potentiometer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 Switch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R3, R4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kΩ Resistor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 Ω Resistor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A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Circuit Works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sensor signal to automatic watering, in four steps.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542032" cy="3977640"/>
          </a:xfrm>
          <a:prstGeom prst="roundRect">
            <a:avLst>
              <a:gd name="adj" fmla="val 4317"/>
            </a:avLst>
          </a:prstGeom>
          <a:solidFill>
            <a:srgbClr val="E9F0E9"/>
          </a:solidFill>
          <a:ln/>
          <a:effectLst>
            <a:outerShdw sx="100000" sy="100000" kx="0" ky="0" algn="bl" rotWithShape="0" blurRad="101600" dist="38100" dir="5400000">
              <a:srgbClr val="0B171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476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81912" y="2651760"/>
            <a:ext cx="658368" cy="658368"/>
          </a:xfrm>
          <a:prstGeom prst="ellipse">
            <a:avLst/>
          </a:prstGeom>
          <a:solidFill>
            <a:srgbClr val="1F3D2E"/>
          </a:solidFill>
          <a:ln/>
        </p:spPr>
      </p:sp>
      <p:pic>
        <p:nvPicPr>
          <p:cNvPr id="8" name="Image 0" descr="C:\Users\sohan\AppData\Local\Temp\claude\D--CEPDT-3D-model\6251275b-f963-4380-baeb-f7faaa89ac3b\scratchpad\deck\icons\FiDro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9920" y="2809768"/>
            <a:ext cx="342351" cy="34235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77240" y="34747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3886200"/>
            <a:ext cx="21396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Soil-moisture and TMP36 sensors sample the bed and feed raw values to the Arduino every cycle.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83280" y="1691640"/>
            <a:ext cx="2542032" cy="3977640"/>
          </a:xfrm>
          <a:prstGeom prst="roundRect">
            <a:avLst>
              <a:gd name="adj" fmla="val 4317"/>
            </a:avLst>
          </a:prstGeom>
          <a:solidFill>
            <a:srgbClr val="E9F0E9"/>
          </a:solidFill>
          <a:ln/>
          <a:effectLst>
            <a:outerShdw sx="100000" sy="100000" kx="0" ky="0" algn="bl" rotWithShape="0" blurRad="101600" dist="38100" dir="5400000">
              <a:srgbClr val="0B171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19476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118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325112" y="2651760"/>
            <a:ext cx="658368" cy="658368"/>
          </a:xfrm>
          <a:prstGeom prst="ellipse">
            <a:avLst/>
          </a:prstGeom>
          <a:solidFill>
            <a:srgbClr val="1F3D2E"/>
          </a:solidFill>
          <a:ln/>
        </p:spPr>
      </p:sp>
      <p:pic>
        <p:nvPicPr>
          <p:cNvPr id="15" name="Image 1" descr="C:\Users\sohan\AppData\Local\Temp\claude\D--CEPDT-3D-model\6251275b-f963-4380-baeb-f7faaa89ac3b\scratchpad\deck\icons\FiSli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120" y="2809768"/>
            <a:ext cx="342351" cy="34235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20440" y="34747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584448" y="3886200"/>
            <a:ext cx="21396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Arduino compares the live reading against the threshold set on the potentiometer dial.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26480" y="1691640"/>
            <a:ext cx="2542032" cy="3977640"/>
          </a:xfrm>
          <a:prstGeom prst="roundRect">
            <a:avLst>
              <a:gd name="adj" fmla="val 4317"/>
            </a:avLst>
          </a:prstGeom>
          <a:solidFill>
            <a:srgbClr val="E9F0E9"/>
          </a:solidFill>
          <a:ln/>
          <a:effectLst>
            <a:outerShdw sx="100000" sy="100000" kx="0" ky="0" algn="bl" rotWithShape="0" blurRad="101600" dist="38100" dir="5400000">
              <a:srgbClr val="0B171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55080" y="19476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3550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7068312" y="2651760"/>
            <a:ext cx="658368" cy="658368"/>
          </a:xfrm>
          <a:prstGeom prst="ellipse">
            <a:avLst/>
          </a:prstGeom>
          <a:solidFill>
            <a:srgbClr val="1F3D2E"/>
          </a:solidFill>
          <a:ln/>
        </p:spPr>
      </p:sp>
      <p:pic>
        <p:nvPicPr>
          <p:cNvPr id="22" name="Image 2" descr="C:\Users\sohan\AppData\Local\Temp\claude\D--CEPDT-3D-model\6251275b-f963-4380-baeb-f7faaa89ac3b\scratchpad\deck\icons\Fi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320" y="2809768"/>
            <a:ext cx="342351" cy="342351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263640" y="34747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&amp; Act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6327648" y="3886200"/>
            <a:ext cx="21396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threshold: pump, red LED and buzzer switch on. Above it: the green LED stays lit and it idles.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869680" y="1691640"/>
            <a:ext cx="2542032" cy="3977640"/>
          </a:xfrm>
          <a:prstGeom prst="roundRect">
            <a:avLst>
              <a:gd name="adj" fmla="val 4317"/>
            </a:avLst>
          </a:prstGeom>
          <a:solidFill>
            <a:srgbClr val="E9F0E9"/>
          </a:solidFill>
          <a:ln/>
          <a:effectLst>
            <a:outerShdw sx="100000" sy="100000" kx="0" ky="0" algn="bl" rotWithShape="0" blurRad="101600" dist="38100" dir="5400000">
              <a:srgbClr val="0B1710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098280" y="19476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90982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9811512" y="2651760"/>
            <a:ext cx="658368" cy="658368"/>
          </a:xfrm>
          <a:prstGeom prst="ellipse">
            <a:avLst/>
          </a:prstGeom>
          <a:solidFill>
            <a:srgbClr val="1F3D2E"/>
          </a:solidFill>
          <a:ln/>
        </p:spPr>
      </p:sp>
      <p:pic>
        <p:nvPicPr>
          <p:cNvPr id="29" name="Image 3" descr="C:\Users\sohan\AppData\Local\Temp\claude\D--CEPDT-3D-model\6251275b-f963-4380-baeb-f7faaa89ac3b\scratchpad\deck\icons\FiMonit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520" y="2809768"/>
            <a:ext cx="342351" cy="342351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9006840" y="3474720"/>
            <a:ext cx="2267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9070848" y="3886200"/>
            <a:ext cx="213969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Moisture, temperature and system state are pushed to the 16×2 LCD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05156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C:\Users\sohan\AppData\Local\Temp\claude\D--CEPDT-3D-model\6251275b-f963-4380-baeb-f7faaa89ac3b\scratchpad\deck\icons\dark\Fi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2416" y="1271016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724912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3D Digital Twin, Built in Three.js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6118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irrigation logic, reimagined as an explorable, real-time farm scene in the browser.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Scene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procedurally-textured farm — sky, soil, crops and machinery — rendered live with WebGL, zero external image assets.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52774" cy="1920240"/>
          </a:xfrm>
          <a:prstGeom prst="roundRect">
            <a:avLst>
              <a:gd name="adj" fmla="val 5714"/>
            </a:avLst>
          </a:prstGeom>
          <a:solidFill>
            <a:srgbClr val="294B3D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C:\Users\sohan\AppData\Local\Temp\claude\D--CEPDT-3D-model\6251275b-f963-4380-baeb-f7faaa89ac3b\scratchpad\deck\icons\dark\FiCloud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0866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06040"/>
            <a:ext cx="299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 &amp; Weather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71800"/>
            <a:ext cx="2995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sky dome with drifting clouds and a toggleable rain system.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67174" y="1737360"/>
            <a:ext cx="3452774" cy="1920240"/>
          </a:xfrm>
          <a:prstGeom prst="roundRect">
            <a:avLst>
              <a:gd name="adj" fmla="val 5714"/>
            </a:avLst>
          </a:prstGeom>
          <a:solidFill>
            <a:srgbClr val="294B3D"/>
          </a:solidFill>
          <a:ln/>
        </p:spPr>
      </p:sp>
      <p:sp>
        <p:nvSpPr>
          <p:cNvPr id="10" name="Shape 7"/>
          <p:cNvSpPr/>
          <p:nvPr/>
        </p:nvSpPr>
        <p:spPr>
          <a:xfrm>
            <a:off x="4595774" y="1965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C:\Users\sohan\AppData\Local\Temp\claude\D--CEPDT-3D-model\6251275b-f963-4380-baeb-f7faaa89ac3b\scratchpad\deck\icons\dark\Fi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475" y="208666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5774" y="2606040"/>
            <a:ext cx="299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Tank &amp; Crops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95774" y="2971800"/>
            <a:ext cx="2995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modeled tank, windmill, shed and planted crop beds fill out the farmstead.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4269" y="1737360"/>
            <a:ext cx="3452774" cy="1920240"/>
          </a:xfrm>
          <a:prstGeom prst="roundRect">
            <a:avLst>
              <a:gd name="adj" fmla="val 5714"/>
            </a:avLst>
          </a:prstGeom>
          <a:solidFill>
            <a:srgbClr val="294B3D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2869" y="1965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C:\Users\sohan\AppData\Local\Temp\claude\D--CEPDT-3D-model\6251275b-f963-4380-baeb-f7faaa89ac3b\scratchpad\deck\icons\dark\FiSlid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570" y="208666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2869" y="2606040"/>
            <a:ext cx="299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Pad Dial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22869" y="2971800"/>
            <a:ext cx="2995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draggable in-scene dial sets the moisture threshold, mirroring the potentiometer.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886200"/>
            <a:ext cx="3452774" cy="1920240"/>
          </a:xfrm>
          <a:prstGeom prst="roundRect">
            <a:avLst>
              <a:gd name="adj" fmla="val 5714"/>
            </a:avLst>
          </a:prstGeom>
          <a:solidFill>
            <a:srgbClr val="294B3D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C:\Users\sohan\AppData\Local\Temp\claude\D--CEPDT-3D-model\6251275b-f963-4380-baeb-f7faaa89ac3b\scratchpad\deck\icons\dark\FiActivit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23550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4754880"/>
            <a:ext cx="299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HUD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120640"/>
            <a:ext cx="2995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Moisture, threshold, temperature, rain, tank and state, updated every frame.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67174" y="3886200"/>
            <a:ext cx="3452774" cy="1920240"/>
          </a:xfrm>
          <a:prstGeom prst="roundRect">
            <a:avLst>
              <a:gd name="adj" fmla="val 5714"/>
            </a:avLst>
          </a:prstGeom>
          <a:solidFill>
            <a:srgbClr val="294B3D"/>
          </a:solidFill>
          <a:ln/>
        </p:spPr>
      </p:sp>
      <p:sp>
        <p:nvSpPr>
          <p:cNvPr id="25" name="Shape 19"/>
          <p:cNvSpPr/>
          <p:nvPr/>
        </p:nvSpPr>
        <p:spPr>
          <a:xfrm>
            <a:off x="4595774" y="4114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6" name="Image 4" descr="C:\Users\sohan\AppData\Local\Temp\claude\D--CEPDT-3D-model\6251275b-f963-4380-baeb-f7faaa89ac3b\scratchpad\deck\icons\dark\FiMo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475" y="423550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95774" y="4754880"/>
            <a:ext cx="299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/ Night Cycle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95774" y="5120640"/>
            <a:ext cx="2995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Lighting, fog and sky tint shift smoothly between day and night.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4269" y="3886200"/>
            <a:ext cx="3452774" cy="1920240"/>
          </a:xfrm>
          <a:prstGeom prst="roundRect">
            <a:avLst>
              <a:gd name="adj" fmla="val 5714"/>
            </a:avLst>
          </a:prstGeom>
          <a:solidFill>
            <a:srgbClr val="294B3D"/>
          </a:solidFill>
          <a:ln/>
        </p:spPr>
      </p:sp>
      <p:sp>
        <p:nvSpPr>
          <p:cNvPr id="30" name="Shape 23"/>
          <p:cNvSpPr/>
          <p:nvPr/>
        </p:nvSpPr>
        <p:spPr>
          <a:xfrm>
            <a:off x="8322869" y="4114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1" name="Image 5" descr="C:\Users\sohan\AppData\Local\Temp\claude\D--CEPDT-3D-model\6251275b-f963-4380-baeb-f7faaa89ac3b\scratchpad\deck\icons\dark\Fi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3570" y="4235501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22869" y="4754880"/>
            <a:ext cx="299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Image Assets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22869" y="5120640"/>
            <a:ext cx="2995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B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Grass, soil, concrete and wood textures are all generated on canvas at runtime.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 With It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scene isn't just a render — it responds to input in real time.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52774" cy="1920240"/>
          </a:xfrm>
          <a:prstGeom prst="roundRect">
            <a:avLst>
              <a:gd name="adj" fmla="val 5714"/>
            </a:avLst>
          </a:prstGeom>
          <a:solidFill>
            <a:srgbClr val="E9F0E9"/>
          </a:solidFill>
          <a:ln/>
          <a:effectLst>
            <a:outerShdw sx="100000" sy="100000" kx="0" ky="0" algn="bl" rotWithShape="0" blurRad="101600" dist="38100" dir="5400000">
              <a:srgbClr val="0B171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C:\Users\sohan\AppData\Local\Temp\claude\D--CEPDT-3D-model\6251275b-f963-4380-baeb-f7faaa89ac3b\scratchpad\deck\icons\dark\Fi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20866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2606040"/>
            <a:ext cx="299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HUD Readout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71800"/>
            <a:ext cx="2995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Moisture, threshold, temp, rain, tank and state at a glance.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67174" y="1737360"/>
            <a:ext cx="3452774" cy="1920240"/>
          </a:xfrm>
          <a:prstGeom prst="roundRect">
            <a:avLst>
              <a:gd name="adj" fmla="val 5714"/>
            </a:avLst>
          </a:prstGeom>
          <a:solidFill>
            <a:srgbClr val="E9F0E9"/>
          </a:solidFill>
          <a:ln/>
          <a:effectLst>
            <a:outerShdw sx="100000" sy="100000" kx="0" ky="0" algn="bl" rotWithShape="0" blurRad="101600" dist="38100" dir="5400000">
              <a:srgbClr val="0B171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5774" y="1965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C:\Users\sohan\AppData\Local\Temp\claude\D--CEPDT-3D-model\6251275b-f963-4380-baeb-f7faaa89ac3b\scratchpad\deck\icons\dark\FiSlid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475" y="208666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95774" y="2606040"/>
            <a:ext cx="299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Draggable Threshold Dial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95774" y="2971800"/>
            <a:ext cx="2995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the control-pad dial to retune the watering threshold live.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94269" y="1737360"/>
            <a:ext cx="3452774" cy="1920240"/>
          </a:xfrm>
          <a:prstGeom prst="roundRect">
            <a:avLst>
              <a:gd name="adj" fmla="val 5714"/>
            </a:avLst>
          </a:prstGeom>
          <a:solidFill>
            <a:srgbClr val="E9F0E9"/>
          </a:solidFill>
          <a:ln/>
          <a:effectLst>
            <a:outerShdw sx="100000" sy="100000" kx="0" ky="0" algn="bl" rotWithShape="0" blurRad="101600" dist="38100" dir="5400000">
              <a:srgbClr val="0B171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2869" y="1965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C:\Users\sohan\AppData\Local\Temp\claude\D--CEPDT-3D-model\6251275b-f963-4380-baeb-f7faaa89ac3b\scratchpad\deck\icons\dark\FiSu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570" y="208666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2869" y="2606040"/>
            <a:ext cx="299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Dry Soil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8322869" y="2971800"/>
            <a:ext cx="2995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a dry-soil event instantly and watch the response cascade.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886200"/>
            <a:ext cx="3452774" cy="1920240"/>
          </a:xfrm>
          <a:prstGeom prst="roundRect">
            <a:avLst>
              <a:gd name="adj" fmla="val 5714"/>
            </a:avLst>
          </a:prstGeom>
          <a:solidFill>
            <a:srgbClr val="E9F0E9"/>
          </a:solidFill>
          <a:ln/>
          <a:effectLst>
            <a:outerShdw sx="100000" sy="100000" kx="0" ky="0" algn="bl" rotWithShape="0" blurRad="101600" dist="38100" dir="5400000">
              <a:srgbClr val="0B171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114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C:\Users\sohan\AppData\Local\Temp\claude\D--CEPDT-3D-model\6251275b-f963-4380-baeb-f7faaa89ac3b\scratchpad\deck\icons\dark\FiCloudR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381" y="423550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68680" y="4754880"/>
            <a:ext cx="299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Trigger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868680" y="5120640"/>
            <a:ext cx="2995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rainfall and watch the tank and HUD react.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67174" y="3886200"/>
            <a:ext cx="3452774" cy="1920240"/>
          </a:xfrm>
          <a:prstGeom prst="roundRect">
            <a:avLst>
              <a:gd name="adj" fmla="val 5714"/>
            </a:avLst>
          </a:prstGeom>
          <a:solidFill>
            <a:srgbClr val="E9F0E9"/>
          </a:solidFill>
          <a:ln/>
          <a:effectLst>
            <a:outerShdw sx="100000" sy="100000" kx="0" ky="0" algn="bl" rotWithShape="0" blurRad="101600" dist="38100" dir="5400000">
              <a:srgbClr val="0B171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5774" y="4114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6" name="Image 4" descr="C:\Users\sohan\AppData\Local\Temp\claude\D--CEPDT-3D-model\6251275b-f963-4380-baeb-f7faaa89ac3b\scratchpad\deck\icons\dark\FiMoo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475" y="423550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95774" y="4754880"/>
            <a:ext cx="299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/ Night Toggle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595774" y="5120640"/>
            <a:ext cx="2995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lighting and mood with a single click.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94269" y="3886200"/>
            <a:ext cx="3452774" cy="1920240"/>
          </a:xfrm>
          <a:prstGeom prst="roundRect">
            <a:avLst>
              <a:gd name="adj" fmla="val 5714"/>
            </a:avLst>
          </a:prstGeom>
          <a:solidFill>
            <a:srgbClr val="E9F0E9"/>
          </a:solidFill>
          <a:ln/>
          <a:effectLst>
            <a:outerShdw sx="100000" sy="100000" kx="0" ky="0" algn="bl" rotWithShape="0" blurRad="101600" dist="38100" dir="5400000">
              <a:srgbClr val="0B171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2869" y="4114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1" name="Image 5" descr="C:\Users\sohan\AppData\Local\Temp\claude\D--CEPDT-3D-model\6251275b-f963-4380-baeb-f7faaa89ac3b\scratchpad\deck\icons\dark\FiBo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3570" y="4235501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22869" y="4754880"/>
            <a:ext cx="2995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&amp; Zoom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8322869" y="5120640"/>
            <a:ext cx="299557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to orbit the camera, scroll to zoom through the farm.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Builds, One System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physical prototype and a digital twin, both modeling the same irrigation logic.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E9F0E9"/>
          </a:solidFill>
          <a:ln/>
          <a:effectLst>
            <a:outerShdw sx="100000" sy="100000" kx="0" ky="0" algn="bl" rotWithShape="0" blurRad="101600" dist="38100" dir="5400000">
              <a:srgbClr val="0B171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6" name="Image 0" descr="C:\Users\sohan\AppData\Local\Temp\claude\D--CEPDT-3D-model\6251275b-f963-4380-baeb-f7faaa89ac3b\scratchpad\deck\icons\Fi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108606"/>
            <a:ext cx="309067" cy="30906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Prototype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313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TINKERCAD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932688" y="2907792"/>
            <a:ext cx="100584" cy="100584"/>
          </a:xfrm>
          <a:prstGeom prst="ellipse">
            <a:avLst/>
          </a:prstGeom>
          <a:solidFill>
            <a:srgbClr val="6B908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70432" y="2779776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Arduino Uno C++ logic on breadboard-accurate wiring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32688" y="3657600"/>
            <a:ext cx="100584" cy="100584"/>
          </a:xfrm>
          <a:prstGeom prst="ellipse">
            <a:avLst/>
          </a:prstGeom>
          <a:solidFill>
            <a:srgbClr val="6B908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170432" y="352958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sensor thresholds and component behavior before buying hardware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32688" y="4407408"/>
            <a:ext cx="100584" cy="100584"/>
          </a:xfrm>
          <a:prstGeom prst="ellipse">
            <a:avLst/>
          </a:prstGeom>
          <a:solidFill>
            <a:srgbClr val="6B908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170432" y="427939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LCD, buzzer and LED feedback exactly as it runs on real hardware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32688" y="5157216"/>
            <a:ext cx="100584" cy="100584"/>
          </a:xfrm>
          <a:prstGeom prst="ellipse">
            <a:avLst/>
          </a:prstGeom>
          <a:solidFill>
            <a:srgbClr val="6B908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170432" y="50292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place to debug circuits, with zero risk of shorts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336792" y="169164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E9F0E9"/>
          </a:solidFill>
          <a:ln/>
          <a:effectLst>
            <a:outerShdw sx="100000" sy="100000" kx="0" ky="0" algn="bl" rotWithShape="0" blurRad="101600" dist="38100" dir="5400000">
              <a:srgbClr val="0B171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11112" y="196596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1" descr="C:\Users\sohan\AppData\Local\Temp\claude\D--CEPDT-3D-model\6251275b-f963-4380-baeb-f7faaa89ac3b\scratchpad\deck\icons\dark\Fi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758" y="2108606"/>
            <a:ext cx="309067" cy="309067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342632" y="19659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Twin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7342632" y="2313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/ WEBGL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629400" y="2907792"/>
            <a:ext cx="100584" cy="100584"/>
          </a:xfrm>
          <a:prstGeom prst="ellipse">
            <a:avLst/>
          </a:prstGeom>
          <a:solidFill>
            <a:srgbClr val="6B9080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6867144" y="2779776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3D farm environment rendered live in any modern browser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6629400" y="3657600"/>
            <a:ext cx="100584" cy="100584"/>
          </a:xfrm>
          <a:prstGeom prst="ellipse">
            <a:avLst/>
          </a:prstGeom>
          <a:solidFill>
            <a:srgbClr val="6B9080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867144" y="352958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HUD plus interactive threshold dial, rain and day/night triggers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629400" y="4407408"/>
            <a:ext cx="100584" cy="100584"/>
          </a:xfrm>
          <a:prstGeom prst="ellipse">
            <a:avLst/>
          </a:prstGeom>
          <a:solidFill>
            <a:srgbClr val="6B9080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6867144" y="427939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build step — static HTML/JS/CSS loaded straight from a CDN import map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629400" y="5157216"/>
            <a:ext cx="100584" cy="100584"/>
          </a:xfrm>
          <a:prstGeom prst="ellipse">
            <a:avLst/>
          </a:prstGeom>
          <a:solidFill>
            <a:srgbClr val="6B9080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867144" y="50292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demos, presentations and exploring “what if” scenarios instantly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3891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&amp; What's Next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601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8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demonstrates — and where it can go.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6B9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336792" y="17830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7" name="Image 0" descr="C:\Users\sohan\AppData\Local\Temp\claude\D--CEPDT-3D-model\6251275b-f963-4380-baeb-f7faaa89ac3b\scratchpad\deck\icons\FiCheck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3957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61872" y="226771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Bridges hardware prototyping and software visualization in one project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10" name="Image 1" descr="C:\Users\sohan\AppData\Local\Temp\claude\D--CEPDT-3D-model\6251275b-f963-4380-baeb-f7faaa89ac3b\scratchpad\deck\icons\FiCheck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335584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261872" y="32278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 full sense → decide → act embedded control loop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206240"/>
            <a:ext cx="457200" cy="457200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13" name="Image 2" descr="C:\Users\sohan\AppData\Local\Temp\claude\D--CEPDT-3D-model\6251275b-f963-4380-baeb-f7faaa89ac3b\scratchpad\deck\icons\FiCheck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31596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61872" y="418795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entirely from low-cost, widely available components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6B9080"/>
          </a:solidFill>
          <a:ln/>
        </p:spPr>
      </p:sp>
      <p:pic>
        <p:nvPicPr>
          <p:cNvPr id="16" name="Image 3" descr="C:\Users\sohan\AppData\Local\Temp\claude\D--CEPDT-3D-model\6251275b-f963-4380-baeb-f7faaa89ac3b\scratchpad\deck\icons\FiCheck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276088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61872" y="514807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twin makes the system explainable to a non-technical audience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336792" y="228600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9" name="Image 4" descr="C:\Users\sohan\AppData\Local\Temp\claude\D--CEPDT-3D-model\6251275b-f963-4380-baeb-f7faaa89ac3b\scratchpad\deck\icons\dark\FiTrendingU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395728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958584" y="226771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live sensor data from the real board into the 3D HUD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336792" y="324612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2" name="Image 5" descr="C:\Users\sohan\AppData\Local\Temp\claude\D--CEPDT-3D-model\6251275b-f963-4380-baeb-f7faaa89ac3b\scratchpad\deck\icons\dark\FiTrendingU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355848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6958584" y="322783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Solar-powered, field-deployable version of the circuit</a:t>
            </a:r>
            <a:endParaRPr lang="en-US" sz="1250" dirty="0"/>
          </a:p>
        </p:txBody>
      </p:sp>
      <p:sp>
        <p:nvSpPr>
          <p:cNvPr id="24" name="Shape 16"/>
          <p:cNvSpPr/>
          <p:nvPr/>
        </p:nvSpPr>
        <p:spPr>
          <a:xfrm>
            <a:off x="6336792" y="42062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Image 6" descr="C:\Users\sohan\AppData\Local\Temp\claude\D--CEPDT-3D-model\6251275b-f963-4380-baeb-f7faaa89ac3b\scratchpad\deck\icons\dark\FiTrendingU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4315968"/>
            <a:ext cx="237744" cy="237744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958584" y="418795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mobile app for remote threshold control</a:t>
            </a:r>
            <a:endParaRPr lang="en-US" sz="1250" dirty="0"/>
          </a:p>
        </p:txBody>
      </p:sp>
      <p:sp>
        <p:nvSpPr>
          <p:cNvPr id="27" name="Shape 18"/>
          <p:cNvSpPr/>
          <p:nvPr/>
        </p:nvSpPr>
        <p:spPr>
          <a:xfrm>
            <a:off x="6336792" y="516636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8" name="Image 7" descr="C:\Users\sohan\AppData\Local\Temp\claude\D--CEPDT-3D-model\6251275b-f963-4380-baeb-f7faaa89ac3b\scratchpad\deck\icons\dark\FiTrendingUp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5276088"/>
            <a:ext cx="237744" cy="237744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6958584" y="5148072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Multi-zone irrigation with per-bed moisture mapping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05856" y="1097280"/>
            <a:ext cx="777240" cy="7772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" name="Image 0" descr="C:\Users\sohan\AppData\Local\Temp\claude\D--CEPDT-3D-model\6251275b-f963-4380-baeb-f7faaa89ac3b\scratchpad\deck\icons\FiDropl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394" y="1283818"/>
            <a:ext cx="404165" cy="4041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5146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9D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System — Tinkercad Circuit &amp; Three.js Digital Twin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sohannarewadi12345@gmail.com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 System</dc:title>
  <dc:subject>PptxGenJS Presentation</dc:subject>
  <dc:creator>CEPDT Project</dc:creator>
  <cp:lastModifiedBy>CEPDT Project</cp:lastModifiedBy>
  <cp:revision>1</cp:revision>
  <dcterms:created xsi:type="dcterms:W3CDTF">2026-09-22T09:14:54Z</dcterms:created>
  <dcterms:modified xsi:type="dcterms:W3CDTF">2026-09-22T09:14:54Z</dcterms:modified>
</cp:coreProperties>
</file>