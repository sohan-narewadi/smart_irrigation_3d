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1" r:id="rId12"/>
    <p:sldId id="266" r:id="rId13"/>
    <p:sldId id="267" r:id="rId14"/>
    <p:sldId id="269" r:id="rId15"/>
    <p:sldId id="270" r:id="rId16"/>
    <p:sldId id="268"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419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live screenshots from our Three.js digital twin. On the left, the farm in its idle state - moisture is above the threshold, so the green LED is on and the pump is off. On the right, the live dashboard during a rainy night: moisture 76 percent, threshold 40 percent, tank 94 percent, and the state reads Rain Hold because rain alone is rehydrating the soil.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we built one irrigation system in two ways. The Tinkercad circuit proves the sense-decide-act loop works - the Arduino reads soil moisture, compares it with the threshold on the potentiometer, and switches on the pump, red LED and buzzer when the soil is too dry. We validated all of that safely in simulation before touching hardware. The Three.js digital twin then mirrors the same logic in a browser - with a draggable dial, rain and day/night controls - and uses zero image files, since every texture is generated in code. Together they show how hardware prototyping and software visualization fit into one workflow.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sources behind the project: Tinkercad Circuits for the simulation, Three.js and WebGL for the 3D digital twin, the Arduino, TMP36 and MCP23008 documentation for the hardware, and our own project files - the schematic, bill of materials and source code.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E"/>
        </a:solidFill>
        <a:effectLst/>
      </p:bgPr>
    </p:bg>
    <p:spTree>
      <p:nvGrpSpPr>
        <p:cNvPr id="1" name=""/>
        <p:cNvGrpSpPr/>
        <p:nvPr/>
      </p:nvGrpSpPr>
      <p:grpSpPr>
        <a:xfrm>
          <a:off x="0" y="0"/>
          <a:ext cx="0" cy="0"/>
          <a:chOff x="0" y="0"/>
          <a:chExt cx="0" cy="0"/>
        </a:xfrm>
      </p:grpSpPr>
      <p:sp>
        <p:nvSpPr>
          <p:cNvPr id="2" name="Shape 0"/>
          <p:cNvSpPr/>
          <p:nvPr/>
        </p:nvSpPr>
        <p:spPr>
          <a:xfrm>
            <a:off x="10835640" y="548640"/>
            <a:ext cx="777240" cy="777240"/>
          </a:xfrm>
          <a:prstGeom prst="ellipse">
            <a:avLst/>
          </a:prstGeom>
          <a:solidFill>
            <a:srgbClr val="E8A33D"/>
          </a:solidFill>
          <a:ln/>
        </p:spPr>
      </p:sp>
      <p:pic>
        <p:nvPicPr>
          <p:cNvPr id="3" name="Image 0" descr="C:\Users\sohan\AppData\Local\Temp\claude\D--CEPDT-3D-model\6251275b-f963-4380-baeb-f7faaa89ac3b\scratchpad\deck\icons\FiDroplet.png"/>
          <p:cNvPicPr>
            <a:picLocks noChangeAspect="1"/>
          </p:cNvPicPr>
          <p:nvPr/>
        </p:nvPicPr>
        <p:blipFill>
          <a:blip r:embed="rId3"/>
          <a:stretch>
            <a:fillRect/>
          </a:stretch>
        </p:blipFill>
        <p:spPr>
          <a:xfrm>
            <a:off x="11022178" y="735178"/>
            <a:ext cx="404165" cy="404165"/>
          </a:xfrm>
          <a:prstGeom prst="rect">
            <a:avLst/>
          </a:prstGeom>
        </p:spPr>
      </p:pic>
      <p:sp>
        <p:nvSpPr>
          <p:cNvPr id="4" name="Text 1"/>
          <p:cNvSpPr txBox="1"/>
          <p:nvPr/>
        </p:nvSpPr>
        <p:spPr>
          <a:xfrm>
            <a:off x="640080" y="685800"/>
            <a:ext cx="7315200" cy="36576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CEPDT  PROJECT  ·  SMART AGRICULTURE</a:t>
            </a:r>
            <a:endParaRPr lang="en-US" sz="1200" dirty="0"/>
          </a:p>
        </p:txBody>
      </p:sp>
      <p:sp>
        <p:nvSpPr>
          <p:cNvPr id="5" name="Text 2"/>
          <p:cNvSpPr txBox="1"/>
          <p:nvPr/>
        </p:nvSpPr>
        <p:spPr>
          <a:xfrm>
            <a:off x="594360" y="2148840"/>
            <a:ext cx="10515600" cy="12344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Smart Irrigation System</a:t>
            </a:r>
            <a:endParaRPr lang="en-US" sz="4600" dirty="0"/>
          </a:p>
        </p:txBody>
      </p:sp>
      <p:sp>
        <p:nvSpPr>
          <p:cNvPr id="6" name="Text 3"/>
          <p:cNvSpPr txBox="1"/>
          <p:nvPr/>
        </p:nvSpPr>
        <p:spPr>
          <a:xfrm>
            <a:off x="640080" y="3337560"/>
            <a:ext cx="9875520" cy="548640"/>
          </a:xfrm>
          <a:prstGeom prst="rect">
            <a:avLst/>
          </a:prstGeom>
          <a:noFill/>
          <a:ln/>
        </p:spPr>
        <p:txBody>
          <a:bodyPr wrap="square" lIns="0" tIns="0" rIns="0" bIns="0" rtlCol="0" anchor="ctr"/>
          <a:lstStyle/>
          <a:p>
            <a:pPr marL="0" indent="0">
              <a:buNone/>
            </a:pPr>
            <a:r>
              <a:rPr lang="en-US" sz="1800" i="1" dirty="0">
                <a:solidFill>
                  <a:srgbClr val="B9D0C4"/>
                </a:solidFill>
                <a:latin typeface="Calibri" pitchFamily="34" charset="0"/>
                <a:ea typeface="Calibri" pitchFamily="34" charset="-122"/>
                <a:cs typeface="Calibri" pitchFamily="34" charset="-120"/>
              </a:rPr>
              <a:t>From a Tinkercad Circuit Simulation to an Interactive 3D Digital Twin</a:t>
            </a:r>
            <a:endParaRPr lang="en-US" sz="1800" dirty="0"/>
          </a:p>
        </p:txBody>
      </p:sp>
      <p:sp>
        <p:nvSpPr>
          <p:cNvPr id="7" name="Shape 4"/>
          <p:cNvSpPr/>
          <p:nvPr/>
        </p:nvSpPr>
        <p:spPr>
          <a:xfrm>
            <a:off x="640080" y="5623560"/>
            <a:ext cx="475488" cy="475488"/>
          </a:xfrm>
          <a:prstGeom prst="ellipse">
            <a:avLst/>
          </a:prstGeom>
          <a:solidFill>
            <a:srgbClr val="6B9080"/>
          </a:solidFill>
          <a:ln/>
        </p:spPr>
      </p:sp>
      <p:pic>
        <p:nvPicPr>
          <p:cNvPr id="8" name="Image 1" descr="C:\Users\sohan\AppData\Local\Temp\claude\D--CEPDT-3D-model\6251275b-f963-4380-baeb-f7faaa89ac3b\scratchpad\deck\icons\FiCpu.png"/>
          <p:cNvPicPr>
            <a:picLocks noChangeAspect="1"/>
          </p:cNvPicPr>
          <p:nvPr/>
        </p:nvPicPr>
        <p:blipFill>
          <a:blip r:embed="rId4"/>
          <a:stretch>
            <a:fillRect/>
          </a:stretch>
        </p:blipFill>
        <p:spPr>
          <a:xfrm>
            <a:off x="754197" y="5737677"/>
            <a:ext cx="247254" cy="247254"/>
          </a:xfrm>
          <a:prstGeom prst="rect">
            <a:avLst/>
          </a:prstGeom>
        </p:spPr>
      </p:pic>
      <p:sp>
        <p:nvSpPr>
          <p:cNvPr id="9" name="Text 5"/>
          <p:cNvSpPr txBox="1"/>
          <p:nvPr/>
        </p:nvSpPr>
        <p:spPr>
          <a:xfrm>
            <a:off x="1261872" y="5623560"/>
            <a:ext cx="2898648" cy="47548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Tinkercad · Arduino Uno</a:t>
            </a:r>
            <a:endParaRPr lang="en-US" sz="1250" dirty="0"/>
          </a:p>
        </p:txBody>
      </p:sp>
      <p:sp>
        <p:nvSpPr>
          <p:cNvPr id="10" name="Shape 6"/>
          <p:cNvSpPr/>
          <p:nvPr/>
        </p:nvSpPr>
        <p:spPr>
          <a:xfrm>
            <a:off x="4297680" y="5623560"/>
            <a:ext cx="475488" cy="475488"/>
          </a:xfrm>
          <a:prstGeom prst="ellipse">
            <a:avLst/>
          </a:prstGeom>
          <a:solidFill>
            <a:srgbClr val="E8A33D"/>
          </a:solidFill>
          <a:ln/>
        </p:spPr>
      </p:sp>
      <p:pic>
        <p:nvPicPr>
          <p:cNvPr id="11" name="Image 2" descr="C:\Users\sohan\AppData\Local\Temp\claude\D--CEPDT-3D-model\6251275b-f963-4380-baeb-f7faaa89ac3b\scratchpad\deck\icons\FiBox.png"/>
          <p:cNvPicPr>
            <a:picLocks noChangeAspect="1"/>
          </p:cNvPicPr>
          <p:nvPr/>
        </p:nvPicPr>
        <p:blipFill>
          <a:blip r:embed="rId5"/>
          <a:stretch>
            <a:fillRect/>
          </a:stretch>
        </p:blipFill>
        <p:spPr>
          <a:xfrm>
            <a:off x="4411797" y="5737677"/>
            <a:ext cx="247254" cy="247254"/>
          </a:xfrm>
          <a:prstGeom prst="rect">
            <a:avLst/>
          </a:prstGeom>
        </p:spPr>
      </p:pic>
      <p:sp>
        <p:nvSpPr>
          <p:cNvPr id="12" name="Text 7"/>
          <p:cNvSpPr txBox="1"/>
          <p:nvPr/>
        </p:nvSpPr>
        <p:spPr>
          <a:xfrm>
            <a:off x="4919472" y="5623560"/>
            <a:ext cx="2898648" cy="47548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Three.js · WebGL Scene</a:t>
            </a:r>
            <a:endParaRPr lang="en-US" sz="1250" dirty="0"/>
          </a:p>
        </p:txBody>
      </p:sp>
      <p:sp>
        <p:nvSpPr>
          <p:cNvPr id="13" name="Shape 8"/>
          <p:cNvSpPr/>
          <p:nvPr/>
        </p:nvSpPr>
        <p:spPr>
          <a:xfrm>
            <a:off x="7955280" y="5623560"/>
            <a:ext cx="475488" cy="475488"/>
          </a:xfrm>
          <a:prstGeom prst="ellipse">
            <a:avLst/>
          </a:prstGeom>
          <a:solidFill>
            <a:srgbClr val="6B9080"/>
          </a:solidFill>
          <a:ln/>
        </p:spPr>
      </p:sp>
      <p:pic>
        <p:nvPicPr>
          <p:cNvPr id="14" name="Image 3" descr="C:\Users\sohan\AppData\Local\Temp\claude\D--CEPDT-3D-model\6251275b-f963-4380-baeb-f7faaa89ac3b\scratchpad\deck\icons\FiDroplet.png"/>
          <p:cNvPicPr>
            <a:picLocks noChangeAspect="1"/>
          </p:cNvPicPr>
          <p:nvPr/>
        </p:nvPicPr>
        <p:blipFill>
          <a:blip r:embed="rId3"/>
          <a:stretch>
            <a:fillRect/>
          </a:stretch>
        </p:blipFill>
        <p:spPr>
          <a:xfrm>
            <a:off x="8069397" y="5737677"/>
            <a:ext cx="247254" cy="247254"/>
          </a:xfrm>
          <a:prstGeom prst="rect">
            <a:avLst/>
          </a:prstGeom>
        </p:spPr>
      </p:pic>
      <p:sp>
        <p:nvSpPr>
          <p:cNvPr id="15" name="Text 9"/>
          <p:cNvSpPr txBox="1"/>
          <p:nvPr/>
        </p:nvSpPr>
        <p:spPr>
          <a:xfrm>
            <a:off x="8577072" y="5623560"/>
            <a:ext cx="2898648" cy="47548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Automated Moisture Control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5"/>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marL="0" indent="0">
              <a:buNone/>
            </a:pPr>
            <a:r>
              <a:rPr lang="en-US" sz="3200" b="1" dirty="0">
                <a:solidFill>
                  <a:srgbClr val="1F3D2E"/>
                </a:solidFill>
                <a:latin typeface="Cambria" pitchFamily="34" charset="0"/>
                <a:ea typeface="Cambria" pitchFamily="34" charset="-122"/>
                <a:cs typeface="Cambria" pitchFamily="34" charset="-120"/>
              </a:rPr>
              <a:t>Project Overview</a:t>
            </a:r>
            <a:endParaRPr lang="en-US" sz="3200" dirty="0"/>
          </a:p>
        </p:txBody>
      </p:sp>
      <p:sp>
        <p:nvSpPr>
          <p:cNvPr id="3" name="Text 1"/>
          <p:cNvSpPr txBox="1"/>
          <p:nvPr/>
        </p:nvSpPr>
        <p:spPr>
          <a:xfrm>
            <a:off x="640080" y="932688"/>
            <a:ext cx="9875520" cy="457200"/>
          </a:xfrm>
          <a:prstGeom prst="rect">
            <a:avLst/>
          </a:prstGeom>
          <a:noFill/>
          <a:ln/>
        </p:spPr>
        <p:txBody>
          <a:bodyPr wrap="square" lIns="0" tIns="0" rIns="0" bIns="0" rtlCol="0" anchor="ctr"/>
          <a:lstStyle/>
          <a:p>
            <a:pPr marL="0" indent="0">
              <a:buNone/>
            </a:pPr>
            <a:r>
              <a:rPr lang="en-US" sz="1350" dirty="0">
                <a:solidFill>
                  <a:srgbClr val="58655C"/>
                </a:solidFill>
                <a:latin typeface="Calibri" pitchFamily="34" charset="0"/>
                <a:ea typeface="Calibri" pitchFamily="34" charset="-122"/>
                <a:cs typeface="Calibri" pitchFamily="34" charset="-120"/>
              </a:rPr>
              <a:t>A two-part build: a working circuit prototype, and a real-time 3D visualization that brings it to life.</a:t>
            </a:r>
            <a:endParaRPr lang="en-US" sz="1350" dirty="0"/>
          </a:p>
        </p:txBody>
      </p:sp>
      <p:sp>
        <p:nvSpPr>
          <p:cNvPr id="4" name="Shape 2"/>
          <p:cNvSpPr/>
          <p:nvPr/>
        </p:nvSpPr>
        <p:spPr>
          <a:xfrm>
            <a:off x="685800" y="1828800"/>
            <a:ext cx="566928" cy="566928"/>
          </a:xfrm>
          <a:prstGeom prst="ellipse">
            <a:avLst/>
          </a:prstGeom>
          <a:solidFill>
            <a:srgbClr val="1F3D2E"/>
          </a:solidFill>
          <a:ln/>
        </p:spPr>
      </p:sp>
      <p:pic>
        <p:nvPicPr>
          <p:cNvPr id="5" name="Image 0" descr="C:\Users\sohan\AppData\Local\Temp\claude\D--CEPDT-3D-model\6251275b-f963-4380-baeb-f7faaa89ac3b\scratchpad\deck\icons\FiDroplet.png"/>
          <p:cNvPicPr>
            <a:picLocks noChangeAspect="1"/>
          </p:cNvPicPr>
          <p:nvPr/>
        </p:nvPicPr>
        <p:blipFill>
          <a:blip r:embed="rId3"/>
          <a:stretch>
            <a:fillRect/>
          </a:stretch>
        </p:blipFill>
        <p:spPr>
          <a:xfrm>
            <a:off x="821863" y="1964863"/>
            <a:ext cx="294803" cy="294803"/>
          </a:xfrm>
          <a:prstGeom prst="rect">
            <a:avLst/>
          </a:prstGeom>
        </p:spPr>
      </p:pic>
      <p:sp>
        <p:nvSpPr>
          <p:cNvPr id="6" name="Text 3"/>
          <p:cNvSpPr txBox="1"/>
          <p:nvPr/>
        </p:nvSpPr>
        <p:spPr>
          <a:xfrm>
            <a:off x="1481328" y="1783080"/>
            <a:ext cx="9144000" cy="365760"/>
          </a:xfrm>
          <a:prstGeom prst="rect">
            <a:avLst/>
          </a:prstGeom>
          <a:noFill/>
          <a:ln/>
        </p:spPr>
        <p:txBody>
          <a:bodyPr wrap="square" lIns="0" tIns="0" rIns="0" bIns="0" rtlCol="0" anchor="ctr"/>
          <a:lstStyle/>
          <a:p>
            <a:pPr marL="0" indent="0">
              <a:buNone/>
            </a:pPr>
            <a:r>
              <a:rPr lang="en-US" sz="1550" b="1" dirty="0">
                <a:solidFill>
                  <a:srgbClr val="1F3D2E"/>
                </a:solidFill>
                <a:latin typeface="Calibri" pitchFamily="34" charset="0"/>
                <a:ea typeface="Calibri" pitchFamily="34" charset="-122"/>
                <a:cs typeface="Calibri" pitchFamily="34" charset="-120"/>
              </a:rPr>
              <a:t>Sense Soil Moisture</a:t>
            </a:r>
            <a:endParaRPr lang="en-US" sz="1550" dirty="0"/>
          </a:p>
        </p:txBody>
      </p:sp>
      <p:sp>
        <p:nvSpPr>
          <p:cNvPr id="7" name="Text 4"/>
          <p:cNvSpPr txBox="1"/>
          <p:nvPr/>
        </p:nvSpPr>
        <p:spPr>
          <a:xfrm>
            <a:off x="1481328" y="2148840"/>
            <a:ext cx="9144000" cy="594360"/>
          </a:xfrm>
          <a:prstGeom prst="rect">
            <a:avLst/>
          </a:prstGeom>
          <a:noFill/>
          <a:ln/>
        </p:spPr>
        <p:txBody>
          <a:bodyPr wrap="square" lIns="0" tIns="0" rIns="0" bIns="0" rtlCol="0" anchor="t"/>
          <a:lstStyle/>
          <a:p>
            <a:pPr marL="0" indent="0">
              <a:buNone/>
            </a:pPr>
            <a:r>
              <a:rPr lang="en-US" sz="1250" dirty="0">
                <a:solidFill>
                  <a:srgbClr val="58655C"/>
                </a:solidFill>
                <a:latin typeface="Calibri" pitchFamily="34" charset="0"/>
                <a:ea typeface="Calibri" pitchFamily="34" charset="-122"/>
                <a:cs typeface="Calibri" pitchFamily="34" charset="-120"/>
              </a:rPr>
              <a:t>A soil-moisture probe and TMP36 temperature sensor continuously feed live readings to the Arduino Uno.</a:t>
            </a:r>
            <a:endParaRPr lang="en-US" sz="1250" dirty="0"/>
          </a:p>
        </p:txBody>
      </p:sp>
      <p:sp>
        <p:nvSpPr>
          <p:cNvPr id="8" name="Shape 5"/>
          <p:cNvSpPr/>
          <p:nvPr/>
        </p:nvSpPr>
        <p:spPr>
          <a:xfrm>
            <a:off x="685800" y="2926080"/>
            <a:ext cx="566928" cy="566928"/>
          </a:xfrm>
          <a:prstGeom prst="ellipse">
            <a:avLst/>
          </a:prstGeom>
          <a:solidFill>
            <a:srgbClr val="1F3D2E"/>
          </a:solidFill>
          <a:ln/>
        </p:spPr>
      </p:sp>
      <p:pic>
        <p:nvPicPr>
          <p:cNvPr id="9" name="Image 1" descr="C:\Users\sohan\AppData\Local\Temp\claude\D--CEPDT-3D-model\6251275b-f963-4380-baeb-f7faaa89ac3b\scratchpad\deck\icons\FiSliders.png"/>
          <p:cNvPicPr>
            <a:picLocks noChangeAspect="1"/>
          </p:cNvPicPr>
          <p:nvPr/>
        </p:nvPicPr>
        <p:blipFill>
          <a:blip r:embed="rId4"/>
          <a:stretch>
            <a:fillRect/>
          </a:stretch>
        </p:blipFill>
        <p:spPr>
          <a:xfrm>
            <a:off x="821863" y="3062143"/>
            <a:ext cx="294803" cy="294803"/>
          </a:xfrm>
          <a:prstGeom prst="rect">
            <a:avLst/>
          </a:prstGeom>
        </p:spPr>
      </p:pic>
      <p:sp>
        <p:nvSpPr>
          <p:cNvPr id="10" name="Text 6"/>
          <p:cNvSpPr txBox="1"/>
          <p:nvPr/>
        </p:nvSpPr>
        <p:spPr>
          <a:xfrm>
            <a:off x="1481328" y="2880360"/>
            <a:ext cx="9144000" cy="365760"/>
          </a:xfrm>
          <a:prstGeom prst="rect">
            <a:avLst/>
          </a:prstGeom>
          <a:noFill/>
          <a:ln/>
        </p:spPr>
        <p:txBody>
          <a:bodyPr wrap="square" lIns="0" tIns="0" rIns="0" bIns="0" rtlCol="0" anchor="ctr"/>
          <a:lstStyle/>
          <a:p>
            <a:pPr marL="0" indent="0">
              <a:buNone/>
            </a:pPr>
            <a:r>
              <a:rPr lang="en-US" sz="1550" b="1" dirty="0">
                <a:solidFill>
                  <a:srgbClr val="1F3D2E"/>
                </a:solidFill>
                <a:latin typeface="Calibri" pitchFamily="34" charset="0"/>
                <a:ea typeface="Calibri" pitchFamily="34" charset="-122"/>
                <a:cs typeface="Calibri" pitchFamily="34" charset="-120"/>
              </a:rPr>
              <a:t>Set a Custom Threshold</a:t>
            </a:r>
            <a:endParaRPr lang="en-US" sz="1550" dirty="0"/>
          </a:p>
        </p:txBody>
      </p:sp>
      <p:sp>
        <p:nvSpPr>
          <p:cNvPr id="11" name="Text 7"/>
          <p:cNvSpPr txBox="1"/>
          <p:nvPr/>
        </p:nvSpPr>
        <p:spPr>
          <a:xfrm>
            <a:off x="1481328" y="3246120"/>
            <a:ext cx="9144000" cy="594360"/>
          </a:xfrm>
          <a:prstGeom prst="rect">
            <a:avLst/>
          </a:prstGeom>
          <a:noFill/>
          <a:ln/>
        </p:spPr>
        <p:txBody>
          <a:bodyPr wrap="square" lIns="0" tIns="0" rIns="0" bIns="0" rtlCol="0" anchor="t"/>
          <a:lstStyle/>
          <a:p>
            <a:pPr marL="0" indent="0">
              <a:buNone/>
            </a:pPr>
            <a:r>
              <a:rPr lang="en-US" sz="1250" dirty="0">
                <a:solidFill>
                  <a:srgbClr val="58655C"/>
                </a:solidFill>
                <a:latin typeface="Calibri" pitchFamily="34" charset="0"/>
                <a:ea typeface="Calibri" pitchFamily="34" charset="-122"/>
                <a:cs typeface="Calibri" pitchFamily="34" charset="-120"/>
              </a:rPr>
              <a:t>A 250 kΩ potentiometer lets the operator dial in exactly how dry the soil must get before watering starts.</a:t>
            </a:r>
            <a:endParaRPr lang="en-US" sz="1250" dirty="0"/>
          </a:p>
        </p:txBody>
      </p:sp>
      <p:sp>
        <p:nvSpPr>
          <p:cNvPr id="12" name="Shape 8"/>
          <p:cNvSpPr/>
          <p:nvPr/>
        </p:nvSpPr>
        <p:spPr>
          <a:xfrm>
            <a:off x="685800" y="4023360"/>
            <a:ext cx="566928" cy="566928"/>
          </a:xfrm>
          <a:prstGeom prst="ellipse">
            <a:avLst/>
          </a:prstGeom>
          <a:solidFill>
            <a:srgbClr val="1F3D2E"/>
          </a:solidFill>
          <a:ln/>
        </p:spPr>
      </p:sp>
      <p:pic>
        <p:nvPicPr>
          <p:cNvPr id="13" name="Image 2" descr="C:\Users\sohan\AppData\Local\Temp\claude\D--CEPDT-3D-model\6251275b-f963-4380-baeb-f7faaa89ac3b\scratchpad\deck\icons\FiZap.png"/>
          <p:cNvPicPr>
            <a:picLocks noChangeAspect="1"/>
          </p:cNvPicPr>
          <p:nvPr/>
        </p:nvPicPr>
        <p:blipFill>
          <a:blip r:embed="rId5"/>
          <a:stretch>
            <a:fillRect/>
          </a:stretch>
        </p:blipFill>
        <p:spPr>
          <a:xfrm>
            <a:off x="821863" y="4159423"/>
            <a:ext cx="294803" cy="294803"/>
          </a:xfrm>
          <a:prstGeom prst="rect">
            <a:avLst/>
          </a:prstGeom>
        </p:spPr>
      </p:pic>
      <p:sp>
        <p:nvSpPr>
          <p:cNvPr id="14" name="Text 9"/>
          <p:cNvSpPr txBox="1"/>
          <p:nvPr/>
        </p:nvSpPr>
        <p:spPr>
          <a:xfrm>
            <a:off x="1481328" y="3977640"/>
            <a:ext cx="9144000" cy="365760"/>
          </a:xfrm>
          <a:prstGeom prst="rect">
            <a:avLst/>
          </a:prstGeom>
          <a:noFill/>
          <a:ln/>
        </p:spPr>
        <p:txBody>
          <a:bodyPr wrap="square" lIns="0" tIns="0" rIns="0" bIns="0" rtlCol="0" anchor="ctr"/>
          <a:lstStyle/>
          <a:p>
            <a:pPr marL="0" indent="0">
              <a:buNone/>
            </a:pPr>
            <a:r>
              <a:rPr lang="en-US" sz="1550" b="1" dirty="0">
                <a:solidFill>
                  <a:srgbClr val="1F3D2E"/>
                </a:solidFill>
                <a:latin typeface="Calibri" pitchFamily="34" charset="0"/>
                <a:ea typeface="Calibri" pitchFamily="34" charset="-122"/>
                <a:cs typeface="Calibri" pitchFamily="34" charset="-120"/>
              </a:rPr>
              <a:t>Automate the Response</a:t>
            </a:r>
            <a:endParaRPr lang="en-US" sz="1550" dirty="0"/>
          </a:p>
        </p:txBody>
      </p:sp>
      <p:sp>
        <p:nvSpPr>
          <p:cNvPr id="15" name="Text 10"/>
          <p:cNvSpPr txBox="1"/>
          <p:nvPr/>
        </p:nvSpPr>
        <p:spPr>
          <a:xfrm>
            <a:off x="1481328" y="4343400"/>
            <a:ext cx="9144000" cy="594360"/>
          </a:xfrm>
          <a:prstGeom prst="rect">
            <a:avLst/>
          </a:prstGeom>
          <a:noFill/>
          <a:ln/>
        </p:spPr>
        <p:txBody>
          <a:bodyPr wrap="square" lIns="0" tIns="0" rIns="0" bIns="0" rtlCol="0" anchor="t"/>
          <a:lstStyle/>
          <a:p>
            <a:pPr marL="0" indent="0">
              <a:buNone/>
            </a:pPr>
            <a:r>
              <a:rPr lang="en-US" sz="1250" dirty="0">
                <a:solidFill>
                  <a:srgbClr val="58655C"/>
                </a:solidFill>
                <a:latin typeface="Calibri" pitchFamily="34" charset="0"/>
                <a:ea typeface="Calibri" pitchFamily="34" charset="-122"/>
                <a:cs typeface="Calibri" pitchFamily="34" charset="-120"/>
              </a:rPr>
              <a:t>When soil crosses the threshold, the Arduino drives a DC pump motor, alert LEDs and a piezo buzzer automatically.</a:t>
            </a:r>
            <a:endParaRPr lang="en-US" sz="1250" dirty="0"/>
          </a:p>
        </p:txBody>
      </p:sp>
      <p:sp>
        <p:nvSpPr>
          <p:cNvPr id="16" name="Shape 11"/>
          <p:cNvSpPr/>
          <p:nvPr/>
        </p:nvSpPr>
        <p:spPr>
          <a:xfrm>
            <a:off x="685800" y="5120640"/>
            <a:ext cx="566928" cy="566928"/>
          </a:xfrm>
          <a:prstGeom prst="ellipse">
            <a:avLst/>
          </a:prstGeom>
          <a:solidFill>
            <a:srgbClr val="1F3D2E"/>
          </a:solidFill>
          <a:ln/>
        </p:spPr>
      </p:sp>
      <p:pic>
        <p:nvPicPr>
          <p:cNvPr id="17" name="Image 3" descr="C:\Users\sohan\AppData\Local\Temp\claude\D--CEPDT-3D-model\6251275b-f963-4380-baeb-f7faaa89ac3b\scratchpad\deck\icons\FiMonitor.png"/>
          <p:cNvPicPr>
            <a:picLocks noChangeAspect="1"/>
          </p:cNvPicPr>
          <p:nvPr/>
        </p:nvPicPr>
        <p:blipFill>
          <a:blip r:embed="rId6"/>
          <a:stretch>
            <a:fillRect/>
          </a:stretch>
        </p:blipFill>
        <p:spPr>
          <a:xfrm>
            <a:off x="821863" y="5256703"/>
            <a:ext cx="294803" cy="294803"/>
          </a:xfrm>
          <a:prstGeom prst="rect">
            <a:avLst/>
          </a:prstGeom>
        </p:spPr>
      </p:pic>
      <p:sp>
        <p:nvSpPr>
          <p:cNvPr id="18" name="Text 12"/>
          <p:cNvSpPr txBox="1"/>
          <p:nvPr/>
        </p:nvSpPr>
        <p:spPr>
          <a:xfrm>
            <a:off x="1481328" y="5074920"/>
            <a:ext cx="9144000" cy="365760"/>
          </a:xfrm>
          <a:prstGeom prst="rect">
            <a:avLst/>
          </a:prstGeom>
          <a:noFill/>
          <a:ln/>
        </p:spPr>
        <p:txBody>
          <a:bodyPr wrap="square" lIns="0" tIns="0" rIns="0" bIns="0" rtlCol="0" anchor="ctr"/>
          <a:lstStyle/>
          <a:p>
            <a:pPr marL="0" indent="0">
              <a:buNone/>
            </a:pPr>
            <a:r>
              <a:rPr lang="en-US" sz="1550" b="1" dirty="0">
                <a:solidFill>
                  <a:srgbClr val="1F3D2E"/>
                </a:solidFill>
                <a:latin typeface="Calibri" pitchFamily="34" charset="0"/>
                <a:ea typeface="Calibri" pitchFamily="34" charset="-122"/>
                <a:cs typeface="Calibri" pitchFamily="34" charset="-120"/>
              </a:rPr>
              <a:t>Display &amp; Visualize</a:t>
            </a:r>
            <a:endParaRPr lang="en-US" sz="1550" dirty="0"/>
          </a:p>
        </p:txBody>
      </p:sp>
      <p:sp>
        <p:nvSpPr>
          <p:cNvPr id="19" name="Text 13"/>
          <p:cNvSpPr txBox="1"/>
          <p:nvPr/>
        </p:nvSpPr>
        <p:spPr>
          <a:xfrm>
            <a:off x="1481328" y="5440680"/>
            <a:ext cx="9144000" cy="594360"/>
          </a:xfrm>
          <a:prstGeom prst="rect">
            <a:avLst/>
          </a:prstGeom>
          <a:noFill/>
          <a:ln/>
        </p:spPr>
        <p:txBody>
          <a:bodyPr wrap="square" lIns="0" tIns="0" rIns="0" bIns="0" rtlCol="0" anchor="t"/>
          <a:lstStyle/>
          <a:p>
            <a:pPr marL="0" indent="0">
              <a:buNone/>
            </a:pPr>
            <a:r>
              <a:rPr lang="en-US" sz="1250" dirty="0">
                <a:solidFill>
                  <a:srgbClr val="58655C"/>
                </a:solidFill>
                <a:latin typeface="Calibri" pitchFamily="34" charset="0"/>
                <a:ea typeface="Calibri" pitchFamily="34" charset="-122"/>
                <a:cs typeface="Calibri" pitchFamily="34" charset="-120"/>
              </a:rPr>
              <a:t>Readings appear on a 16×2 I2C LCD in the physical build — and on a live HUD inside a full 3D farm digital twin.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5"/>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marL="0" indent="0">
              <a:buNone/>
            </a:pPr>
            <a:r>
              <a:rPr lang="en-US" sz="3200" b="1" dirty="0">
                <a:solidFill>
                  <a:srgbClr val="1F3D2E"/>
                </a:solidFill>
                <a:latin typeface="Cambria" pitchFamily="34" charset="0"/>
                <a:ea typeface="Cambria" pitchFamily="34" charset="-122"/>
                <a:cs typeface="Cambria" pitchFamily="34" charset="-120"/>
              </a:rPr>
              <a:t>System Architecture</a:t>
            </a:r>
            <a:endParaRPr lang="en-US" sz="3200" dirty="0"/>
          </a:p>
        </p:txBody>
      </p:sp>
      <p:sp>
        <p:nvSpPr>
          <p:cNvPr id="3" name="Text 1"/>
          <p:cNvSpPr txBox="1"/>
          <p:nvPr/>
        </p:nvSpPr>
        <p:spPr>
          <a:xfrm>
            <a:off x="640080" y="932688"/>
            <a:ext cx="9875520" cy="457200"/>
          </a:xfrm>
          <a:prstGeom prst="rect">
            <a:avLst/>
          </a:prstGeom>
          <a:noFill/>
          <a:ln/>
        </p:spPr>
        <p:txBody>
          <a:bodyPr wrap="square" lIns="0" tIns="0" rIns="0" bIns="0" rtlCol="0" anchor="ctr"/>
          <a:lstStyle/>
          <a:p>
            <a:pPr marL="0" indent="0">
              <a:buNone/>
            </a:pPr>
            <a:r>
              <a:rPr lang="en-US" sz="1350" dirty="0">
                <a:solidFill>
                  <a:srgbClr val="58655C"/>
                </a:solidFill>
                <a:latin typeface="Calibri" pitchFamily="34" charset="0"/>
                <a:ea typeface="Calibri" pitchFamily="34" charset="-122"/>
                <a:cs typeface="Calibri" pitchFamily="34" charset="-120"/>
              </a:rPr>
              <a:t>The Arduino Uno sits at the center, reading sensors and driving outputs in real time.</a:t>
            </a:r>
            <a:endParaRPr lang="en-US" sz="1350" dirty="0"/>
          </a:p>
        </p:txBody>
      </p:sp>
      <p:sp>
        <p:nvSpPr>
          <p:cNvPr id="4" name="Text 2"/>
          <p:cNvSpPr txBox="1"/>
          <p:nvPr/>
        </p:nvSpPr>
        <p:spPr>
          <a:xfrm>
            <a:off x="640080" y="1783080"/>
            <a:ext cx="3108960" cy="320040"/>
          </a:xfrm>
          <a:prstGeom prst="rect">
            <a:avLst/>
          </a:prstGeom>
          <a:noFill/>
          <a:ln/>
        </p:spPr>
        <p:txBody>
          <a:bodyPr wrap="square" lIns="0" tIns="0" rIns="0" bIns="0"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INPUTS</a:t>
            </a:r>
            <a:endParaRPr lang="en-US" sz="1200" dirty="0"/>
          </a:p>
        </p:txBody>
      </p:sp>
      <p:sp>
        <p:nvSpPr>
          <p:cNvPr id="5" name="Shape 3"/>
          <p:cNvSpPr/>
          <p:nvPr/>
        </p:nvSpPr>
        <p:spPr>
          <a:xfrm>
            <a:off x="640080" y="2240280"/>
            <a:ext cx="566928" cy="566928"/>
          </a:xfrm>
          <a:prstGeom prst="ellipse">
            <a:avLst/>
          </a:prstGeom>
          <a:solidFill>
            <a:srgbClr val="6B9080"/>
          </a:solidFill>
          <a:ln/>
        </p:spPr>
      </p:sp>
      <p:pic>
        <p:nvPicPr>
          <p:cNvPr id="6" name="Image 0" descr="C:\Users\sohan\AppData\Local\Temp\claude\D--CEPDT-3D-model\6251275b-f963-4380-baeb-f7faaa89ac3b\scratchpad\deck\icons\FiDroplet.png"/>
          <p:cNvPicPr>
            <a:picLocks noChangeAspect="1"/>
          </p:cNvPicPr>
          <p:nvPr/>
        </p:nvPicPr>
        <p:blipFill>
          <a:blip r:embed="rId3"/>
          <a:stretch>
            <a:fillRect/>
          </a:stretch>
        </p:blipFill>
        <p:spPr>
          <a:xfrm>
            <a:off x="776143" y="2376343"/>
            <a:ext cx="294803" cy="294803"/>
          </a:xfrm>
          <a:prstGeom prst="rect">
            <a:avLst/>
          </a:prstGeom>
        </p:spPr>
      </p:pic>
      <p:sp>
        <p:nvSpPr>
          <p:cNvPr id="7" name="Text 4"/>
          <p:cNvSpPr txBox="1"/>
          <p:nvPr/>
        </p:nvSpPr>
        <p:spPr>
          <a:xfrm>
            <a:off x="1371600" y="2221992"/>
            <a:ext cx="2468880" cy="320040"/>
          </a:xfrm>
          <a:prstGeom prst="rect">
            <a:avLst/>
          </a:prstGeom>
          <a:noFill/>
          <a:ln/>
        </p:spPr>
        <p:txBody>
          <a:bodyPr wrap="square" lIns="0" tIns="0" rIns="0" bIns="0" rtlCol="0" anchor="ctr"/>
          <a:lstStyle/>
          <a:p>
            <a:pPr marL="0" indent="0">
              <a:buNone/>
            </a:pPr>
            <a:r>
              <a:rPr lang="en-US" sz="1300" b="1" dirty="0">
                <a:solidFill>
                  <a:srgbClr val="1F3D2E"/>
                </a:solidFill>
                <a:latin typeface="Calibri" pitchFamily="34" charset="0"/>
                <a:ea typeface="Calibri" pitchFamily="34" charset="-122"/>
                <a:cs typeface="Calibri" pitchFamily="34" charset="-120"/>
              </a:rPr>
              <a:t>Soil Moisture Sensor</a:t>
            </a:r>
            <a:endParaRPr lang="en-US" sz="1300" dirty="0"/>
          </a:p>
        </p:txBody>
      </p:sp>
      <p:sp>
        <p:nvSpPr>
          <p:cNvPr id="8" name="Text 5"/>
          <p:cNvSpPr txBox="1"/>
          <p:nvPr/>
        </p:nvSpPr>
        <p:spPr>
          <a:xfrm>
            <a:off x="1371600" y="2542032"/>
            <a:ext cx="2468880" cy="274320"/>
          </a:xfrm>
          <a:prstGeom prst="rect">
            <a:avLst/>
          </a:prstGeom>
          <a:noFill/>
          <a:ln/>
        </p:spPr>
        <p:txBody>
          <a:bodyPr wrap="square" lIns="0" tIns="0" rIns="0" bIns="0" rtlCol="0" anchor="ctr"/>
          <a:lstStyle/>
          <a:p>
            <a:pPr marL="0" indent="0">
              <a:buNone/>
            </a:pPr>
            <a:r>
              <a:rPr lang="en-US" sz="1050" dirty="0">
                <a:solidFill>
                  <a:srgbClr val="58655C"/>
                </a:solidFill>
                <a:latin typeface="Calibri" pitchFamily="34" charset="0"/>
                <a:ea typeface="Calibri" pitchFamily="34" charset="-122"/>
                <a:cs typeface="Calibri" pitchFamily="34" charset="-120"/>
              </a:rPr>
              <a:t>Analog probe in the bed</a:t>
            </a:r>
            <a:endParaRPr lang="en-US" sz="1050" dirty="0"/>
          </a:p>
        </p:txBody>
      </p:sp>
      <p:sp>
        <p:nvSpPr>
          <p:cNvPr id="9" name="Shape 6"/>
          <p:cNvSpPr/>
          <p:nvPr/>
        </p:nvSpPr>
        <p:spPr>
          <a:xfrm>
            <a:off x="640080" y="3429000"/>
            <a:ext cx="566928" cy="566928"/>
          </a:xfrm>
          <a:prstGeom prst="ellipse">
            <a:avLst/>
          </a:prstGeom>
          <a:solidFill>
            <a:srgbClr val="6B9080"/>
          </a:solidFill>
          <a:ln/>
        </p:spPr>
      </p:sp>
      <p:pic>
        <p:nvPicPr>
          <p:cNvPr id="10" name="Image 1" descr="C:\Users\sohan\AppData\Local\Temp\claude\D--CEPDT-3D-model\6251275b-f963-4380-baeb-f7faaa89ac3b\scratchpad\deck\icons\FiThermometer.png"/>
          <p:cNvPicPr>
            <a:picLocks noChangeAspect="1"/>
          </p:cNvPicPr>
          <p:nvPr/>
        </p:nvPicPr>
        <p:blipFill>
          <a:blip r:embed="rId4"/>
          <a:stretch>
            <a:fillRect/>
          </a:stretch>
        </p:blipFill>
        <p:spPr>
          <a:xfrm>
            <a:off x="776143" y="3565063"/>
            <a:ext cx="294803" cy="294803"/>
          </a:xfrm>
          <a:prstGeom prst="rect">
            <a:avLst/>
          </a:prstGeom>
        </p:spPr>
      </p:pic>
      <p:sp>
        <p:nvSpPr>
          <p:cNvPr id="11" name="Text 7"/>
          <p:cNvSpPr txBox="1"/>
          <p:nvPr/>
        </p:nvSpPr>
        <p:spPr>
          <a:xfrm>
            <a:off x="1371600" y="3410712"/>
            <a:ext cx="2468880" cy="320040"/>
          </a:xfrm>
          <a:prstGeom prst="rect">
            <a:avLst/>
          </a:prstGeom>
          <a:noFill/>
          <a:ln/>
        </p:spPr>
        <p:txBody>
          <a:bodyPr wrap="square" lIns="0" tIns="0" rIns="0" bIns="0" rtlCol="0" anchor="ctr"/>
          <a:lstStyle/>
          <a:p>
            <a:pPr marL="0" indent="0">
              <a:buNone/>
            </a:pPr>
            <a:r>
              <a:rPr lang="en-US" sz="1300" b="1" dirty="0">
                <a:solidFill>
                  <a:srgbClr val="1F3D2E"/>
                </a:solidFill>
                <a:latin typeface="Calibri" pitchFamily="34" charset="0"/>
                <a:ea typeface="Calibri" pitchFamily="34" charset="-122"/>
                <a:cs typeface="Calibri" pitchFamily="34" charset="-120"/>
              </a:rPr>
              <a:t>TMP36 Sensor</a:t>
            </a:r>
            <a:endParaRPr lang="en-US" sz="1300" dirty="0"/>
          </a:p>
        </p:txBody>
      </p:sp>
      <p:sp>
        <p:nvSpPr>
          <p:cNvPr id="12" name="Text 8"/>
          <p:cNvSpPr txBox="1"/>
          <p:nvPr/>
        </p:nvSpPr>
        <p:spPr>
          <a:xfrm>
            <a:off x="1371600" y="3730752"/>
            <a:ext cx="2468880" cy="274320"/>
          </a:xfrm>
          <a:prstGeom prst="rect">
            <a:avLst/>
          </a:prstGeom>
          <a:noFill/>
          <a:ln/>
        </p:spPr>
        <p:txBody>
          <a:bodyPr wrap="square" lIns="0" tIns="0" rIns="0" bIns="0" rtlCol="0" anchor="ctr"/>
          <a:lstStyle/>
          <a:p>
            <a:pPr marL="0" indent="0">
              <a:buNone/>
            </a:pPr>
            <a:r>
              <a:rPr lang="en-US" sz="1050" dirty="0">
                <a:solidFill>
                  <a:srgbClr val="58655C"/>
                </a:solidFill>
                <a:latin typeface="Calibri" pitchFamily="34" charset="0"/>
                <a:ea typeface="Calibri" pitchFamily="34" charset="-122"/>
                <a:cs typeface="Calibri" pitchFamily="34" charset="-120"/>
              </a:rPr>
              <a:t>Ambient temperature</a:t>
            </a:r>
            <a:endParaRPr lang="en-US" sz="1050" dirty="0"/>
          </a:p>
        </p:txBody>
      </p:sp>
      <p:sp>
        <p:nvSpPr>
          <p:cNvPr id="13" name="Shape 9"/>
          <p:cNvSpPr/>
          <p:nvPr/>
        </p:nvSpPr>
        <p:spPr>
          <a:xfrm>
            <a:off x="640080" y="4617720"/>
            <a:ext cx="566928" cy="566928"/>
          </a:xfrm>
          <a:prstGeom prst="ellipse">
            <a:avLst/>
          </a:prstGeom>
          <a:solidFill>
            <a:srgbClr val="6B9080"/>
          </a:solidFill>
          <a:ln/>
        </p:spPr>
      </p:sp>
      <p:pic>
        <p:nvPicPr>
          <p:cNvPr id="14" name="Image 2" descr="C:\Users\sohan\AppData\Local\Temp\claude\D--CEPDT-3D-model\6251275b-f963-4380-baeb-f7faaa89ac3b\scratchpad\deck\icons\FiSliders.png"/>
          <p:cNvPicPr>
            <a:picLocks noChangeAspect="1"/>
          </p:cNvPicPr>
          <p:nvPr/>
        </p:nvPicPr>
        <p:blipFill>
          <a:blip r:embed="rId5"/>
          <a:stretch>
            <a:fillRect/>
          </a:stretch>
        </p:blipFill>
        <p:spPr>
          <a:xfrm>
            <a:off x="776143" y="4753783"/>
            <a:ext cx="294803" cy="294803"/>
          </a:xfrm>
          <a:prstGeom prst="rect">
            <a:avLst/>
          </a:prstGeom>
        </p:spPr>
      </p:pic>
      <p:sp>
        <p:nvSpPr>
          <p:cNvPr id="15" name="Text 10"/>
          <p:cNvSpPr txBox="1"/>
          <p:nvPr/>
        </p:nvSpPr>
        <p:spPr>
          <a:xfrm>
            <a:off x="1371600" y="4599432"/>
            <a:ext cx="2468880" cy="320040"/>
          </a:xfrm>
          <a:prstGeom prst="rect">
            <a:avLst/>
          </a:prstGeom>
          <a:noFill/>
          <a:ln/>
        </p:spPr>
        <p:txBody>
          <a:bodyPr wrap="square" lIns="0" tIns="0" rIns="0" bIns="0" rtlCol="0" anchor="ctr"/>
          <a:lstStyle/>
          <a:p>
            <a:pPr marL="0" indent="0">
              <a:buNone/>
            </a:pPr>
            <a:r>
              <a:rPr lang="en-US" sz="1300" b="1" dirty="0">
                <a:solidFill>
                  <a:srgbClr val="1F3D2E"/>
                </a:solidFill>
                <a:latin typeface="Calibri" pitchFamily="34" charset="0"/>
                <a:ea typeface="Calibri" pitchFamily="34" charset="-122"/>
                <a:cs typeface="Calibri" pitchFamily="34" charset="-120"/>
              </a:rPr>
              <a:t>Threshold Dial</a:t>
            </a:r>
            <a:endParaRPr lang="en-US" sz="1300" dirty="0"/>
          </a:p>
        </p:txBody>
      </p:sp>
      <p:sp>
        <p:nvSpPr>
          <p:cNvPr id="16" name="Text 11"/>
          <p:cNvSpPr txBox="1"/>
          <p:nvPr/>
        </p:nvSpPr>
        <p:spPr>
          <a:xfrm>
            <a:off x="1371600" y="4919472"/>
            <a:ext cx="2468880" cy="274320"/>
          </a:xfrm>
          <a:prstGeom prst="rect">
            <a:avLst/>
          </a:prstGeom>
          <a:noFill/>
          <a:ln/>
        </p:spPr>
        <p:txBody>
          <a:bodyPr wrap="square" lIns="0" tIns="0" rIns="0" bIns="0" rtlCol="0" anchor="ctr"/>
          <a:lstStyle/>
          <a:p>
            <a:pPr marL="0" indent="0">
              <a:buNone/>
            </a:pPr>
            <a:r>
              <a:rPr lang="en-US" sz="1050" dirty="0">
                <a:solidFill>
                  <a:srgbClr val="58655C"/>
                </a:solidFill>
                <a:latin typeface="Calibri" pitchFamily="34" charset="0"/>
                <a:ea typeface="Calibri" pitchFamily="34" charset="-122"/>
                <a:cs typeface="Calibri" pitchFamily="34" charset="-120"/>
              </a:rPr>
              <a:t>250 kΩ potentiometer</a:t>
            </a:r>
            <a:endParaRPr lang="en-US" sz="1050" dirty="0"/>
          </a:p>
        </p:txBody>
      </p:sp>
      <p:sp>
        <p:nvSpPr>
          <p:cNvPr id="17" name="Shape 12"/>
          <p:cNvSpPr/>
          <p:nvPr/>
        </p:nvSpPr>
        <p:spPr>
          <a:xfrm>
            <a:off x="5504688" y="2788920"/>
            <a:ext cx="1097280" cy="1097280"/>
          </a:xfrm>
          <a:prstGeom prst="ellipse">
            <a:avLst/>
          </a:prstGeom>
          <a:solidFill>
            <a:srgbClr val="1F3D2E"/>
          </a:solidFill>
          <a:ln/>
        </p:spPr>
      </p:sp>
      <p:pic>
        <p:nvPicPr>
          <p:cNvPr id="18" name="Image 3" descr="C:\Users\sohan\AppData\Local\Temp\claude\D--CEPDT-3D-model\6251275b-f963-4380-baeb-f7faaa89ac3b\scratchpad\deck\icons\FiCpu.png"/>
          <p:cNvPicPr>
            <a:picLocks noChangeAspect="1"/>
          </p:cNvPicPr>
          <p:nvPr/>
        </p:nvPicPr>
        <p:blipFill>
          <a:blip r:embed="rId6"/>
          <a:stretch>
            <a:fillRect/>
          </a:stretch>
        </p:blipFill>
        <p:spPr>
          <a:xfrm>
            <a:off x="5768035" y="3052267"/>
            <a:ext cx="570586" cy="570586"/>
          </a:xfrm>
          <a:prstGeom prst="rect">
            <a:avLst/>
          </a:prstGeom>
        </p:spPr>
      </p:pic>
      <p:sp>
        <p:nvSpPr>
          <p:cNvPr id="19" name="Text 13"/>
          <p:cNvSpPr txBox="1"/>
          <p:nvPr/>
        </p:nvSpPr>
        <p:spPr>
          <a:xfrm>
            <a:off x="4590288" y="3950208"/>
            <a:ext cx="3017520" cy="365760"/>
          </a:xfrm>
          <a:prstGeom prst="rect">
            <a:avLst/>
          </a:prstGeom>
          <a:noFill/>
          <a:ln/>
        </p:spPr>
        <p:txBody>
          <a:bodyPr wrap="square" lIns="0" tIns="0" rIns="0" bIns="0" rtlCol="0" anchor="ctr"/>
          <a:lstStyle/>
          <a:p>
            <a:pPr marL="0" indent="0" algn="ctr">
              <a:buNone/>
            </a:pPr>
            <a:r>
              <a:rPr lang="en-US" sz="1400" b="1" dirty="0">
                <a:solidFill>
                  <a:srgbClr val="1F3D2E"/>
                </a:solidFill>
                <a:latin typeface="Calibri" pitchFamily="34" charset="0"/>
                <a:ea typeface="Calibri" pitchFamily="34" charset="-122"/>
                <a:cs typeface="Calibri" pitchFamily="34" charset="-120"/>
              </a:rPr>
              <a:t>Arduino Uno R3</a:t>
            </a:r>
            <a:endParaRPr lang="en-US" sz="1400" dirty="0"/>
          </a:p>
        </p:txBody>
      </p:sp>
      <p:sp>
        <p:nvSpPr>
          <p:cNvPr id="20" name="Text 14"/>
          <p:cNvSpPr txBox="1"/>
          <p:nvPr/>
        </p:nvSpPr>
        <p:spPr>
          <a:xfrm>
            <a:off x="4590288" y="4279392"/>
            <a:ext cx="3017520" cy="274320"/>
          </a:xfrm>
          <a:prstGeom prst="rect">
            <a:avLst/>
          </a:prstGeom>
          <a:noFill/>
          <a:ln/>
        </p:spPr>
        <p:txBody>
          <a:bodyPr wrap="square" lIns="0" tIns="0" rIns="0" bIns="0" rtlCol="0" anchor="ctr"/>
          <a:lstStyle/>
          <a:p>
            <a:pPr marL="0" indent="0" algn="ctr">
              <a:buNone/>
            </a:pPr>
            <a:r>
              <a:rPr lang="en-US" sz="1050" i="1" dirty="0">
                <a:solidFill>
                  <a:srgbClr val="58655C"/>
                </a:solidFill>
                <a:latin typeface="Calibri" pitchFamily="34" charset="0"/>
                <a:ea typeface="Calibri" pitchFamily="34" charset="-122"/>
                <a:cs typeface="Calibri" pitchFamily="34" charset="-120"/>
              </a:rPr>
              <a:t>the control loop</a:t>
            </a:r>
            <a:endParaRPr lang="en-US" sz="1050" dirty="0"/>
          </a:p>
        </p:txBody>
      </p:sp>
      <p:sp>
        <p:nvSpPr>
          <p:cNvPr id="21" name="Text 15"/>
          <p:cNvSpPr txBox="1"/>
          <p:nvPr/>
        </p:nvSpPr>
        <p:spPr>
          <a:xfrm>
            <a:off x="3977640" y="2880360"/>
            <a:ext cx="777240" cy="914400"/>
          </a:xfrm>
          <a:prstGeom prst="rect">
            <a:avLst/>
          </a:prstGeom>
          <a:noFill/>
          <a:ln/>
        </p:spPr>
        <p:txBody>
          <a:bodyPr wrap="square" lIns="0" tIns="0" rIns="0" bIns="0" rtlCol="0" anchor="ctr"/>
          <a:lstStyle/>
          <a:p>
            <a:pPr marL="0" indent="0" algn="ctr">
              <a:buNone/>
            </a:pPr>
            <a:r>
              <a:rPr lang="en-US" sz="3000" b="1" dirty="0">
                <a:solidFill>
                  <a:srgbClr val="E8A33D"/>
                </a:solidFill>
                <a:latin typeface="Calibri" pitchFamily="34" charset="0"/>
                <a:ea typeface="Calibri" pitchFamily="34" charset="-122"/>
                <a:cs typeface="Calibri" pitchFamily="34" charset="-120"/>
              </a:rPr>
              <a:t>→</a:t>
            </a:r>
            <a:endParaRPr lang="en-US" sz="3000" dirty="0"/>
          </a:p>
        </p:txBody>
      </p:sp>
      <p:sp>
        <p:nvSpPr>
          <p:cNvPr id="22" name="Text 16"/>
          <p:cNvSpPr txBox="1"/>
          <p:nvPr/>
        </p:nvSpPr>
        <p:spPr>
          <a:xfrm>
            <a:off x="7452360" y="2880360"/>
            <a:ext cx="777240" cy="914400"/>
          </a:xfrm>
          <a:prstGeom prst="rect">
            <a:avLst/>
          </a:prstGeom>
          <a:noFill/>
          <a:ln/>
        </p:spPr>
        <p:txBody>
          <a:bodyPr wrap="square" lIns="0" tIns="0" rIns="0" bIns="0" rtlCol="0" anchor="ctr"/>
          <a:lstStyle/>
          <a:p>
            <a:pPr marL="0" indent="0" algn="ctr">
              <a:buNone/>
            </a:pPr>
            <a:r>
              <a:rPr lang="en-US" sz="3000" b="1" dirty="0">
                <a:solidFill>
                  <a:srgbClr val="E8A33D"/>
                </a:solidFill>
                <a:latin typeface="Calibri" pitchFamily="34" charset="0"/>
                <a:ea typeface="Calibri" pitchFamily="34" charset="-122"/>
                <a:cs typeface="Calibri" pitchFamily="34" charset="-120"/>
              </a:rPr>
              <a:t>→</a:t>
            </a:r>
            <a:endParaRPr lang="en-US" sz="3000" dirty="0"/>
          </a:p>
        </p:txBody>
      </p:sp>
      <p:sp>
        <p:nvSpPr>
          <p:cNvPr id="23" name="Text 17"/>
          <p:cNvSpPr txBox="1"/>
          <p:nvPr/>
        </p:nvSpPr>
        <p:spPr>
          <a:xfrm>
            <a:off x="9052560" y="1783080"/>
            <a:ext cx="2468880" cy="320040"/>
          </a:xfrm>
          <a:prstGeom prst="rect">
            <a:avLst/>
          </a:prstGeom>
          <a:noFill/>
          <a:ln/>
        </p:spPr>
        <p:txBody>
          <a:bodyPr wrap="square" lIns="0" tIns="0" rIns="0" bIns="0"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OUTPUTS</a:t>
            </a:r>
            <a:endParaRPr lang="en-US" sz="1200" dirty="0"/>
          </a:p>
        </p:txBody>
      </p:sp>
      <p:sp>
        <p:nvSpPr>
          <p:cNvPr id="24" name="Shape 18"/>
          <p:cNvSpPr/>
          <p:nvPr/>
        </p:nvSpPr>
        <p:spPr>
          <a:xfrm>
            <a:off x="9052560" y="2240280"/>
            <a:ext cx="566928" cy="566928"/>
          </a:xfrm>
          <a:prstGeom prst="ellipse">
            <a:avLst/>
          </a:prstGeom>
          <a:solidFill>
            <a:srgbClr val="6B9080"/>
          </a:solidFill>
          <a:ln/>
        </p:spPr>
      </p:sp>
      <p:pic>
        <p:nvPicPr>
          <p:cNvPr id="25" name="Image 4" descr="C:\Users\sohan\AppData\Local\Temp\claude\D--CEPDT-3D-model\6251275b-f963-4380-baeb-f7faaa89ac3b\scratchpad\deck\icons\FiZap.png"/>
          <p:cNvPicPr>
            <a:picLocks noChangeAspect="1"/>
          </p:cNvPicPr>
          <p:nvPr/>
        </p:nvPicPr>
        <p:blipFill>
          <a:blip r:embed="rId7"/>
          <a:stretch>
            <a:fillRect/>
          </a:stretch>
        </p:blipFill>
        <p:spPr>
          <a:xfrm>
            <a:off x="9188623" y="2376343"/>
            <a:ext cx="294803" cy="294803"/>
          </a:xfrm>
          <a:prstGeom prst="rect">
            <a:avLst/>
          </a:prstGeom>
        </p:spPr>
      </p:pic>
      <p:sp>
        <p:nvSpPr>
          <p:cNvPr id="26" name="Text 19"/>
          <p:cNvSpPr txBox="1"/>
          <p:nvPr/>
        </p:nvSpPr>
        <p:spPr>
          <a:xfrm>
            <a:off x="9784080" y="2221992"/>
            <a:ext cx="1828800" cy="320040"/>
          </a:xfrm>
          <a:prstGeom prst="rect">
            <a:avLst/>
          </a:prstGeom>
          <a:noFill/>
          <a:ln/>
        </p:spPr>
        <p:txBody>
          <a:bodyPr wrap="square" lIns="0" tIns="0" rIns="0" bIns="0" rtlCol="0" anchor="ctr"/>
          <a:lstStyle/>
          <a:p>
            <a:pPr marL="0" indent="0">
              <a:buNone/>
            </a:pPr>
            <a:r>
              <a:rPr lang="en-US" sz="1300" b="1" dirty="0">
                <a:solidFill>
                  <a:srgbClr val="1F3D2E"/>
                </a:solidFill>
                <a:latin typeface="Calibri" pitchFamily="34" charset="0"/>
                <a:ea typeface="Calibri" pitchFamily="34" charset="-122"/>
                <a:cs typeface="Calibri" pitchFamily="34" charset="-120"/>
              </a:rPr>
              <a:t>DC Pump Motor</a:t>
            </a:r>
            <a:endParaRPr lang="en-US" sz="1300" dirty="0"/>
          </a:p>
        </p:txBody>
      </p:sp>
      <p:sp>
        <p:nvSpPr>
          <p:cNvPr id="27" name="Text 20"/>
          <p:cNvSpPr txBox="1"/>
          <p:nvPr/>
        </p:nvSpPr>
        <p:spPr>
          <a:xfrm>
            <a:off x="9784080" y="2542032"/>
            <a:ext cx="1828800" cy="274320"/>
          </a:xfrm>
          <a:prstGeom prst="rect">
            <a:avLst/>
          </a:prstGeom>
          <a:noFill/>
          <a:ln/>
        </p:spPr>
        <p:txBody>
          <a:bodyPr wrap="square" lIns="0" tIns="0" rIns="0" bIns="0" rtlCol="0" anchor="ctr"/>
          <a:lstStyle/>
          <a:p>
            <a:pPr marL="0" indent="0">
              <a:buNone/>
            </a:pPr>
            <a:r>
              <a:rPr lang="en-US" sz="1050" dirty="0">
                <a:solidFill>
                  <a:srgbClr val="58655C"/>
                </a:solidFill>
                <a:latin typeface="Calibri" pitchFamily="34" charset="0"/>
                <a:ea typeface="Calibri" pitchFamily="34" charset="-122"/>
                <a:cs typeface="Calibri" pitchFamily="34" charset="-120"/>
              </a:rPr>
              <a:t>Drives irrigation</a:t>
            </a:r>
            <a:endParaRPr lang="en-US" sz="1050" dirty="0"/>
          </a:p>
        </p:txBody>
      </p:sp>
      <p:sp>
        <p:nvSpPr>
          <p:cNvPr id="28" name="Shape 21"/>
          <p:cNvSpPr/>
          <p:nvPr/>
        </p:nvSpPr>
        <p:spPr>
          <a:xfrm>
            <a:off x="9052560" y="3429000"/>
            <a:ext cx="566928" cy="566928"/>
          </a:xfrm>
          <a:prstGeom prst="ellipse">
            <a:avLst/>
          </a:prstGeom>
          <a:solidFill>
            <a:srgbClr val="6B9080"/>
          </a:solidFill>
          <a:ln/>
        </p:spPr>
      </p:sp>
      <p:pic>
        <p:nvPicPr>
          <p:cNvPr id="29" name="Image 5" descr="C:\Users\sohan\AppData\Local\Temp\claude\D--CEPDT-3D-model\6251275b-f963-4380-baeb-f7faaa89ac3b\scratchpad\deck\icons\FiMonitor.png"/>
          <p:cNvPicPr>
            <a:picLocks noChangeAspect="1"/>
          </p:cNvPicPr>
          <p:nvPr/>
        </p:nvPicPr>
        <p:blipFill>
          <a:blip r:embed="rId8"/>
          <a:stretch>
            <a:fillRect/>
          </a:stretch>
        </p:blipFill>
        <p:spPr>
          <a:xfrm>
            <a:off x="9188623" y="3565063"/>
            <a:ext cx="294803" cy="294803"/>
          </a:xfrm>
          <a:prstGeom prst="rect">
            <a:avLst/>
          </a:prstGeom>
        </p:spPr>
      </p:pic>
      <p:sp>
        <p:nvSpPr>
          <p:cNvPr id="30" name="Text 22"/>
          <p:cNvSpPr txBox="1"/>
          <p:nvPr/>
        </p:nvSpPr>
        <p:spPr>
          <a:xfrm>
            <a:off x="9784080" y="3410712"/>
            <a:ext cx="1828800" cy="320040"/>
          </a:xfrm>
          <a:prstGeom prst="rect">
            <a:avLst/>
          </a:prstGeom>
          <a:noFill/>
          <a:ln/>
        </p:spPr>
        <p:txBody>
          <a:bodyPr wrap="square" lIns="0" tIns="0" rIns="0" bIns="0" rtlCol="0" anchor="ctr"/>
          <a:lstStyle/>
          <a:p>
            <a:pPr marL="0" indent="0">
              <a:buNone/>
            </a:pPr>
            <a:r>
              <a:rPr lang="en-US" sz="1300" b="1" dirty="0">
                <a:solidFill>
                  <a:srgbClr val="1F3D2E"/>
                </a:solidFill>
                <a:latin typeface="Calibri" pitchFamily="34" charset="0"/>
                <a:ea typeface="Calibri" pitchFamily="34" charset="-122"/>
                <a:cs typeface="Calibri" pitchFamily="34" charset="-120"/>
              </a:rPr>
              <a:t>16×2 I2C LCD</a:t>
            </a:r>
            <a:endParaRPr lang="en-US" sz="1300" dirty="0"/>
          </a:p>
        </p:txBody>
      </p:sp>
      <p:sp>
        <p:nvSpPr>
          <p:cNvPr id="31" name="Text 23"/>
          <p:cNvSpPr txBox="1"/>
          <p:nvPr/>
        </p:nvSpPr>
        <p:spPr>
          <a:xfrm>
            <a:off x="9784080" y="3730752"/>
            <a:ext cx="1828800" cy="274320"/>
          </a:xfrm>
          <a:prstGeom prst="rect">
            <a:avLst/>
          </a:prstGeom>
          <a:noFill/>
          <a:ln/>
        </p:spPr>
        <p:txBody>
          <a:bodyPr wrap="square" lIns="0" tIns="0" rIns="0" bIns="0" rtlCol="0" anchor="ctr"/>
          <a:lstStyle/>
          <a:p>
            <a:pPr marL="0" indent="0">
              <a:buNone/>
            </a:pPr>
            <a:r>
              <a:rPr lang="en-US" sz="1050" dirty="0">
                <a:solidFill>
                  <a:srgbClr val="58655C"/>
                </a:solidFill>
                <a:latin typeface="Calibri" pitchFamily="34" charset="0"/>
                <a:ea typeface="Calibri" pitchFamily="34" charset="-122"/>
                <a:cs typeface="Calibri" pitchFamily="34" charset="-120"/>
              </a:rPr>
              <a:t>On-device readout</a:t>
            </a:r>
            <a:endParaRPr lang="en-US" sz="1050" dirty="0"/>
          </a:p>
        </p:txBody>
      </p:sp>
      <p:sp>
        <p:nvSpPr>
          <p:cNvPr id="32" name="Shape 24"/>
          <p:cNvSpPr/>
          <p:nvPr/>
        </p:nvSpPr>
        <p:spPr>
          <a:xfrm>
            <a:off x="9052560" y="4617720"/>
            <a:ext cx="566928" cy="566928"/>
          </a:xfrm>
          <a:prstGeom prst="ellipse">
            <a:avLst/>
          </a:prstGeom>
          <a:solidFill>
            <a:srgbClr val="6B9080"/>
          </a:solidFill>
          <a:ln/>
        </p:spPr>
      </p:sp>
      <p:pic>
        <p:nvPicPr>
          <p:cNvPr id="33" name="Image 6" descr="C:\Users\sohan\AppData\Local\Temp\claude\D--CEPDT-3D-model\6251275b-f963-4380-baeb-f7faaa89ac3b\scratchpad\deck\icons\FiBell.png"/>
          <p:cNvPicPr>
            <a:picLocks noChangeAspect="1"/>
          </p:cNvPicPr>
          <p:nvPr/>
        </p:nvPicPr>
        <p:blipFill>
          <a:blip r:embed="rId9"/>
          <a:stretch>
            <a:fillRect/>
          </a:stretch>
        </p:blipFill>
        <p:spPr>
          <a:xfrm>
            <a:off x="9188623" y="4753783"/>
            <a:ext cx="294803" cy="294803"/>
          </a:xfrm>
          <a:prstGeom prst="rect">
            <a:avLst/>
          </a:prstGeom>
        </p:spPr>
      </p:pic>
      <p:sp>
        <p:nvSpPr>
          <p:cNvPr id="34" name="Text 25"/>
          <p:cNvSpPr txBox="1"/>
          <p:nvPr/>
        </p:nvSpPr>
        <p:spPr>
          <a:xfrm>
            <a:off x="9784080" y="4599432"/>
            <a:ext cx="1828800" cy="320040"/>
          </a:xfrm>
          <a:prstGeom prst="rect">
            <a:avLst/>
          </a:prstGeom>
          <a:noFill/>
          <a:ln/>
        </p:spPr>
        <p:txBody>
          <a:bodyPr wrap="square" lIns="0" tIns="0" rIns="0" bIns="0" rtlCol="0" anchor="ctr"/>
          <a:lstStyle/>
          <a:p>
            <a:pPr marL="0" indent="0">
              <a:buNone/>
            </a:pPr>
            <a:r>
              <a:rPr lang="en-US" sz="1300" b="1" dirty="0">
                <a:solidFill>
                  <a:srgbClr val="1F3D2E"/>
                </a:solidFill>
                <a:latin typeface="Calibri" pitchFamily="34" charset="0"/>
                <a:ea typeface="Calibri" pitchFamily="34" charset="-122"/>
                <a:cs typeface="Calibri" pitchFamily="34" charset="-120"/>
              </a:rPr>
              <a:t>Buzzer + LEDs</a:t>
            </a:r>
            <a:endParaRPr lang="en-US" sz="1300" dirty="0"/>
          </a:p>
        </p:txBody>
      </p:sp>
      <p:sp>
        <p:nvSpPr>
          <p:cNvPr id="35" name="Text 26"/>
          <p:cNvSpPr txBox="1"/>
          <p:nvPr/>
        </p:nvSpPr>
        <p:spPr>
          <a:xfrm>
            <a:off x="9784080" y="4919472"/>
            <a:ext cx="1828800" cy="274320"/>
          </a:xfrm>
          <a:prstGeom prst="rect">
            <a:avLst/>
          </a:prstGeom>
          <a:noFill/>
          <a:ln/>
        </p:spPr>
        <p:txBody>
          <a:bodyPr wrap="square" lIns="0" tIns="0" rIns="0" bIns="0" rtlCol="0" anchor="ctr"/>
          <a:lstStyle/>
          <a:p>
            <a:pPr marL="0" indent="0">
              <a:buNone/>
            </a:pPr>
            <a:r>
              <a:rPr lang="en-US" sz="1050" dirty="0">
                <a:solidFill>
                  <a:srgbClr val="58655C"/>
                </a:solidFill>
                <a:latin typeface="Calibri" pitchFamily="34" charset="0"/>
                <a:ea typeface="Calibri" pitchFamily="34" charset="-122"/>
                <a:cs typeface="Calibri" pitchFamily="34" charset="-120"/>
              </a:rPr>
              <a:t>Dry-soil alerts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D2E"/>
        </a:solidFill>
        <a:effectLst/>
      </p:bgPr>
    </p:bg>
    <p:spTree>
      <p:nvGrpSpPr>
        <p:cNvPr id="1" name=""/>
        <p:cNvGrpSpPr/>
        <p:nvPr/>
      </p:nvGrpSpPr>
      <p:grpSpPr>
        <a:xfrm>
          <a:off x="0" y="0"/>
          <a:ext cx="0" cy="0"/>
          <a:chOff x="0" y="0"/>
          <a:chExt cx="0" cy="0"/>
        </a:xfrm>
      </p:grpSpPr>
      <p:sp>
        <p:nvSpPr>
          <p:cNvPr id="2" name="Shape 0"/>
          <p:cNvSpPr/>
          <p:nvPr/>
        </p:nvSpPr>
        <p:spPr>
          <a:xfrm>
            <a:off x="822960" y="1051560"/>
            <a:ext cx="914400" cy="914400"/>
          </a:xfrm>
          <a:prstGeom prst="ellipse">
            <a:avLst/>
          </a:prstGeom>
          <a:solidFill>
            <a:srgbClr val="E8A33D"/>
          </a:solidFill>
          <a:ln/>
        </p:spPr>
      </p:sp>
      <p:pic>
        <p:nvPicPr>
          <p:cNvPr id="3" name="Image 0" descr="C:\Users\sohan\AppData\Local\Temp\claude\D--CEPDT-3D-model\6251275b-f963-4380-baeb-f7faaa89ac3b\scratchpad\deck\icons\dark\FiSettings.png"/>
          <p:cNvPicPr>
            <a:picLocks noChangeAspect="1"/>
          </p:cNvPicPr>
          <p:nvPr/>
        </p:nvPicPr>
        <p:blipFill>
          <a:blip r:embed="rId3"/>
          <a:stretch>
            <a:fillRect/>
          </a:stretch>
        </p:blipFill>
        <p:spPr>
          <a:xfrm>
            <a:off x="1042416" y="1271016"/>
            <a:ext cx="475488" cy="475488"/>
          </a:xfrm>
          <a:prstGeom prst="rect">
            <a:avLst/>
          </a:prstGeom>
        </p:spPr>
      </p:pic>
      <p:sp>
        <p:nvSpPr>
          <p:cNvPr id="4" name="Text 1"/>
          <p:cNvSpPr txBox="1"/>
          <p:nvPr/>
        </p:nvSpPr>
        <p:spPr>
          <a:xfrm>
            <a:off x="822960" y="2331720"/>
            <a:ext cx="5486400" cy="365760"/>
          </a:xfrm>
          <a:prstGeom prst="rect">
            <a:avLst/>
          </a:prstGeom>
          <a:noFill/>
          <a:ln/>
        </p:spPr>
        <p:txBody>
          <a:bodyPr wrap="square" lIns="0" tIns="0" rIns="0" bIns="0" rtlCol="0" anchor="ctr"/>
          <a:lstStyle/>
          <a:p>
            <a:pPr marL="0" indent="0">
              <a:buNone/>
            </a:pPr>
            <a:r>
              <a:rPr lang="en-US" sz="1300" b="1" kern="0" spc="250" dirty="0">
                <a:solidFill>
                  <a:srgbClr val="E8A33D"/>
                </a:solidFill>
                <a:latin typeface="Calibri" pitchFamily="34" charset="0"/>
                <a:ea typeface="Calibri" pitchFamily="34" charset="-122"/>
                <a:cs typeface="Calibri" pitchFamily="34" charset="-120"/>
              </a:rPr>
              <a:t>PART ONE</a:t>
            </a:r>
            <a:endParaRPr lang="en-US" sz="1300" dirty="0"/>
          </a:p>
        </p:txBody>
      </p:sp>
      <p:sp>
        <p:nvSpPr>
          <p:cNvPr id="5" name="Text 2"/>
          <p:cNvSpPr txBox="1"/>
          <p:nvPr/>
        </p:nvSpPr>
        <p:spPr>
          <a:xfrm>
            <a:off x="777240" y="2724912"/>
            <a:ext cx="100584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Circuit Design in Tinkercad</a:t>
            </a:r>
            <a:endParaRPr lang="en-US" sz="3800" dirty="0"/>
          </a:p>
        </p:txBody>
      </p:sp>
      <p:sp>
        <p:nvSpPr>
          <p:cNvPr id="6" name="Text 3"/>
          <p:cNvSpPr txBox="1"/>
          <p:nvPr/>
        </p:nvSpPr>
        <p:spPr>
          <a:xfrm>
            <a:off x="822960" y="3611880"/>
            <a:ext cx="8686800" cy="548640"/>
          </a:xfrm>
          <a:prstGeom prst="rect">
            <a:avLst/>
          </a:prstGeom>
          <a:noFill/>
          <a:ln/>
        </p:spPr>
        <p:txBody>
          <a:bodyPr wrap="square" lIns="0" tIns="0" rIns="0" bIns="0" rtlCol="0" anchor="ctr"/>
          <a:lstStyle/>
          <a:p>
            <a:pPr marL="0" indent="0">
              <a:buNone/>
            </a:pPr>
            <a:r>
              <a:rPr lang="en-US" sz="1600" i="1" dirty="0">
                <a:solidFill>
                  <a:srgbClr val="B9D0C4"/>
                </a:solidFill>
                <a:latin typeface="Calibri" pitchFamily="34" charset="0"/>
                <a:ea typeface="Calibri" pitchFamily="34" charset="-122"/>
                <a:cs typeface="Calibri" pitchFamily="34" charset="-120"/>
              </a:rPr>
              <a:t>Prototyping the sensing and control hardware before writing a line of code.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5"/>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5486400" cy="502920"/>
          </a:xfrm>
          <a:prstGeom prst="rect">
            <a:avLst/>
          </a:prstGeom>
          <a:noFill/>
          <a:ln/>
        </p:spPr>
        <p:txBody>
          <a:bodyPr wrap="square" lIns="0" tIns="0" rIns="0" bIns="0" rtlCol="0" anchor="ctr"/>
          <a:lstStyle/>
          <a:p>
            <a:pPr marL="0" indent="0">
              <a:buNone/>
            </a:pPr>
            <a:r>
              <a:rPr lang="en-US" sz="3000" b="1" dirty="0">
                <a:solidFill>
                  <a:srgbClr val="1F3D2E"/>
                </a:solidFill>
                <a:latin typeface="Cambria" pitchFamily="34" charset="0"/>
                <a:ea typeface="Cambria" pitchFamily="34" charset="-122"/>
                <a:cs typeface="Cambria" pitchFamily="34" charset="-120"/>
              </a:rPr>
              <a:t>The Circuit</a:t>
            </a:r>
            <a:endParaRPr lang="en-US" sz="3000" dirty="0"/>
          </a:p>
        </p:txBody>
      </p:sp>
      <p:sp>
        <p:nvSpPr>
          <p:cNvPr id="3" name="Text 1"/>
          <p:cNvSpPr txBox="1"/>
          <p:nvPr/>
        </p:nvSpPr>
        <p:spPr>
          <a:xfrm>
            <a:off x="640080" y="850392"/>
            <a:ext cx="4846320" cy="640080"/>
          </a:xfrm>
          <a:prstGeom prst="rect">
            <a:avLst/>
          </a:prstGeom>
          <a:noFill/>
          <a:ln/>
        </p:spPr>
        <p:txBody>
          <a:bodyPr wrap="square" lIns="0" tIns="0" rIns="0" bIns="0" rtlCol="0" anchor="ctr"/>
          <a:lstStyle/>
          <a:p>
            <a:pPr marL="0" indent="0">
              <a:buNone/>
            </a:pPr>
            <a:r>
              <a:rPr lang="en-US" sz="1250" dirty="0">
                <a:solidFill>
                  <a:srgbClr val="58655C"/>
                </a:solidFill>
                <a:latin typeface="Calibri" pitchFamily="34" charset="0"/>
                <a:ea typeface="Calibri" pitchFamily="34" charset="-122"/>
                <a:cs typeface="Calibri" pitchFamily="34" charset="-120"/>
              </a:rPr>
              <a:t>Simulated end-to-end in Tinkercad before any hardware was assembled.</a:t>
            </a:r>
            <a:endParaRPr lang="en-US" sz="1250" dirty="0"/>
          </a:p>
        </p:txBody>
      </p:sp>
      <p:sp>
        <p:nvSpPr>
          <p:cNvPr id="4" name="Shape 2"/>
          <p:cNvSpPr/>
          <p:nvPr/>
        </p:nvSpPr>
        <p:spPr>
          <a:xfrm>
            <a:off x="667512" y="1828800"/>
            <a:ext cx="118872" cy="118872"/>
          </a:xfrm>
          <a:prstGeom prst="ellipse">
            <a:avLst/>
          </a:prstGeom>
          <a:solidFill>
            <a:srgbClr val="E8A33D"/>
          </a:solidFill>
          <a:ln/>
        </p:spPr>
      </p:sp>
      <p:sp>
        <p:nvSpPr>
          <p:cNvPr id="5" name="Text 3"/>
          <p:cNvSpPr txBox="1"/>
          <p:nvPr/>
        </p:nvSpPr>
        <p:spPr>
          <a:xfrm>
            <a:off x="932688" y="1691640"/>
            <a:ext cx="4480560" cy="457200"/>
          </a:xfrm>
          <a:prstGeom prst="rect">
            <a:avLst/>
          </a:prstGeom>
          <a:noFill/>
          <a:ln/>
        </p:spPr>
        <p:txBody>
          <a:bodyPr wrap="square" lIns="0" tIns="0" rIns="0" bIns="0" rtlCol="0" anchor="ctr"/>
          <a:lstStyle/>
          <a:p>
            <a:pPr marL="0" indent="0">
              <a:buNone/>
            </a:pPr>
            <a:r>
              <a:rPr lang="en-US" sz="1250" b="1" dirty="0">
                <a:solidFill>
                  <a:srgbClr val="1F3D2E"/>
                </a:solidFill>
                <a:latin typeface="Calibri" pitchFamily="34" charset="0"/>
                <a:ea typeface="Calibri" pitchFamily="34" charset="-122"/>
                <a:cs typeface="Calibri" pitchFamily="34" charset="-120"/>
              </a:rPr>
              <a:t>Arduino Uno R3  </a:t>
            </a:r>
            <a:r>
              <a:rPr lang="en-US" sz="1250" dirty="0">
                <a:solidFill>
                  <a:srgbClr val="58655C"/>
                </a:solidFill>
                <a:latin typeface="Calibri" pitchFamily="34" charset="0"/>
                <a:ea typeface="Calibri" pitchFamily="34" charset="-122"/>
                <a:cs typeface="Calibri" pitchFamily="34" charset="-120"/>
              </a:rPr>
              <a:t>— control unit</a:t>
            </a:r>
            <a:endParaRPr lang="en-US" sz="1250" dirty="0"/>
          </a:p>
        </p:txBody>
      </p:sp>
      <p:sp>
        <p:nvSpPr>
          <p:cNvPr id="6" name="Shape 4"/>
          <p:cNvSpPr/>
          <p:nvPr/>
        </p:nvSpPr>
        <p:spPr>
          <a:xfrm>
            <a:off x="667512" y="2345436"/>
            <a:ext cx="118872" cy="118872"/>
          </a:xfrm>
          <a:prstGeom prst="ellipse">
            <a:avLst/>
          </a:prstGeom>
          <a:solidFill>
            <a:srgbClr val="E8A33D"/>
          </a:solidFill>
          <a:ln/>
        </p:spPr>
      </p:sp>
      <p:sp>
        <p:nvSpPr>
          <p:cNvPr id="7" name="Text 5"/>
          <p:cNvSpPr txBox="1"/>
          <p:nvPr/>
        </p:nvSpPr>
        <p:spPr>
          <a:xfrm>
            <a:off x="932688" y="2208276"/>
            <a:ext cx="4480560" cy="457200"/>
          </a:xfrm>
          <a:prstGeom prst="rect">
            <a:avLst/>
          </a:prstGeom>
          <a:noFill/>
          <a:ln/>
        </p:spPr>
        <p:txBody>
          <a:bodyPr wrap="square" lIns="0" tIns="0" rIns="0" bIns="0" rtlCol="0" anchor="ctr"/>
          <a:lstStyle/>
          <a:p>
            <a:pPr marL="0" indent="0">
              <a:buNone/>
            </a:pPr>
            <a:r>
              <a:rPr lang="en-US" sz="1250" b="1" dirty="0">
                <a:solidFill>
                  <a:srgbClr val="1F3D2E"/>
                </a:solidFill>
                <a:latin typeface="Calibri" pitchFamily="34" charset="0"/>
                <a:ea typeface="Calibri" pitchFamily="34" charset="-122"/>
                <a:cs typeface="Calibri" pitchFamily="34" charset="-120"/>
              </a:rPr>
              <a:t>Soil Moisture Sensor  </a:t>
            </a:r>
            <a:r>
              <a:rPr lang="en-US" sz="1250" dirty="0">
                <a:solidFill>
                  <a:srgbClr val="58655C"/>
                </a:solidFill>
                <a:latin typeface="Calibri" pitchFamily="34" charset="0"/>
                <a:ea typeface="Calibri" pitchFamily="34" charset="-122"/>
                <a:cs typeface="Calibri" pitchFamily="34" charset="-120"/>
              </a:rPr>
              <a:t>— reads soil water content</a:t>
            </a:r>
            <a:endParaRPr lang="en-US" sz="1250" dirty="0"/>
          </a:p>
        </p:txBody>
      </p:sp>
      <p:sp>
        <p:nvSpPr>
          <p:cNvPr id="8" name="Shape 6"/>
          <p:cNvSpPr/>
          <p:nvPr/>
        </p:nvSpPr>
        <p:spPr>
          <a:xfrm>
            <a:off x="667512" y="2862072"/>
            <a:ext cx="118872" cy="118872"/>
          </a:xfrm>
          <a:prstGeom prst="ellipse">
            <a:avLst/>
          </a:prstGeom>
          <a:solidFill>
            <a:srgbClr val="E8A33D"/>
          </a:solidFill>
          <a:ln/>
        </p:spPr>
      </p:sp>
      <p:sp>
        <p:nvSpPr>
          <p:cNvPr id="9" name="Text 7"/>
          <p:cNvSpPr txBox="1"/>
          <p:nvPr/>
        </p:nvSpPr>
        <p:spPr>
          <a:xfrm>
            <a:off x="932688" y="2724912"/>
            <a:ext cx="4480560" cy="457200"/>
          </a:xfrm>
          <a:prstGeom prst="rect">
            <a:avLst/>
          </a:prstGeom>
          <a:noFill/>
          <a:ln/>
        </p:spPr>
        <p:txBody>
          <a:bodyPr wrap="square" lIns="0" tIns="0" rIns="0" bIns="0" rtlCol="0" anchor="ctr"/>
          <a:lstStyle/>
          <a:p>
            <a:pPr marL="0" indent="0">
              <a:buNone/>
            </a:pPr>
            <a:r>
              <a:rPr lang="en-US" sz="1250" b="1" dirty="0">
                <a:solidFill>
                  <a:srgbClr val="1F3D2E"/>
                </a:solidFill>
                <a:latin typeface="Calibri" pitchFamily="34" charset="0"/>
                <a:ea typeface="Calibri" pitchFamily="34" charset="-122"/>
                <a:cs typeface="Calibri" pitchFamily="34" charset="-120"/>
              </a:rPr>
              <a:t>TMP36 Sensor  </a:t>
            </a:r>
            <a:r>
              <a:rPr lang="en-US" sz="1250" dirty="0">
                <a:solidFill>
                  <a:srgbClr val="58655C"/>
                </a:solidFill>
                <a:latin typeface="Calibri" pitchFamily="34" charset="0"/>
                <a:ea typeface="Calibri" pitchFamily="34" charset="-122"/>
                <a:cs typeface="Calibri" pitchFamily="34" charset="-120"/>
              </a:rPr>
              <a:t>— ambient temperature</a:t>
            </a:r>
            <a:endParaRPr lang="en-US" sz="1250" dirty="0"/>
          </a:p>
        </p:txBody>
      </p:sp>
      <p:sp>
        <p:nvSpPr>
          <p:cNvPr id="10" name="Shape 8"/>
          <p:cNvSpPr/>
          <p:nvPr/>
        </p:nvSpPr>
        <p:spPr>
          <a:xfrm>
            <a:off x="667512" y="3378708"/>
            <a:ext cx="118872" cy="118872"/>
          </a:xfrm>
          <a:prstGeom prst="ellipse">
            <a:avLst/>
          </a:prstGeom>
          <a:solidFill>
            <a:srgbClr val="E8A33D"/>
          </a:solidFill>
          <a:ln/>
        </p:spPr>
      </p:sp>
      <p:sp>
        <p:nvSpPr>
          <p:cNvPr id="11" name="Text 9"/>
          <p:cNvSpPr txBox="1"/>
          <p:nvPr/>
        </p:nvSpPr>
        <p:spPr>
          <a:xfrm>
            <a:off x="932688" y="3241548"/>
            <a:ext cx="4480560" cy="457200"/>
          </a:xfrm>
          <a:prstGeom prst="rect">
            <a:avLst/>
          </a:prstGeom>
          <a:noFill/>
          <a:ln/>
        </p:spPr>
        <p:txBody>
          <a:bodyPr wrap="square" lIns="0" tIns="0" rIns="0" bIns="0" rtlCol="0" anchor="ctr"/>
          <a:lstStyle/>
          <a:p>
            <a:pPr marL="0" indent="0">
              <a:buNone/>
            </a:pPr>
            <a:r>
              <a:rPr lang="en-US" sz="1250" b="1" dirty="0">
                <a:solidFill>
                  <a:srgbClr val="1F3D2E"/>
                </a:solidFill>
                <a:latin typeface="Calibri" pitchFamily="34" charset="0"/>
                <a:ea typeface="Calibri" pitchFamily="34" charset="-122"/>
                <a:cs typeface="Calibri" pitchFamily="34" charset="-120"/>
              </a:rPr>
              <a:t>DC Pump Motor  </a:t>
            </a:r>
            <a:r>
              <a:rPr lang="en-US" sz="1250" dirty="0">
                <a:solidFill>
                  <a:srgbClr val="58655C"/>
                </a:solidFill>
                <a:latin typeface="Calibri" pitchFamily="34" charset="0"/>
                <a:ea typeface="Calibri" pitchFamily="34" charset="-122"/>
                <a:cs typeface="Calibri" pitchFamily="34" charset="-120"/>
              </a:rPr>
              <a:t>— irrigation actuator</a:t>
            </a:r>
            <a:endParaRPr lang="en-US" sz="1250" dirty="0"/>
          </a:p>
        </p:txBody>
      </p:sp>
      <p:sp>
        <p:nvSpPr>
          <p:cNvPr id="12" name="Shape 10"/>
          <p:cNvSpPr/>
          <p:nvPr/>
        </p:nvSpPr>
        <p:spPr>
          <a:xfrm>
            <a:off x="667512" y="3895344"/>
            <a:ext cx="118872" cy="118872"/>
          </a:xfrm>
          <a:prstGeom prst="ellipse">
            <a:avLst/>
          </a:prstGeom>
          <a:solidFill>
            <a:srgbClr val="E8A33D"/>
          </a:solidFill>
          <a:ln/>
        </p:spPr>
      </p:sp>
      <p:sp>
        <p:nvSpPr>
          <p:cNvPr id="13" name="Text 11"/>
          <p:cNvSpPr txBox="1"/>
          <p:nvPr/>
        </p:nvSpPr>
        <p:spPr>
          <a:xfrm>
            <a:off x="932688" y="3758184"/>
            <a:ext cx="4480560" cy="457200"/>
          </a:xfrm>
          <a:prstGeom prst="rect">
            <a:avLst/>
          </a:prstGeom>
          <a:noFill/>
          <a:ln/>
        </p:spPr>
        <p:txBody>
          <a:bodyPr wrap="square" lIns="0" tIns="0" rIns="0" bIns="0" rtlCol="0" anchor="ctr"/>
          <a:lstStyle/>
          <a:p>
            <a:pPr marL="0" indent="0">
              <a:buNone/>
            </a:pPr>
            <a:r>
              <a:rPr lang="en-US" sz="1250" b="1" dirty="0">
                <a:solidFill>
                  <a:srgbClr val="1F3D2E"/>
                </a:solidFill>
                <a:latin typeface="Calibri" pitchFamily="34" charset="0"/>
                <a:ea typeface="Calibri" pitchFamily="34" charset="-122"/>
                <a:cs typeface="Calibri" pitchFamily="34" charset="-120"/>
              </a:rPr>
              <a:t>16×2 I2C LCD  </a:t>
            </a:r>
            <a:r>
              <a:rPr lang="en-US" sz="1250" dirty="0">
                <a:solidFill>
                  <a:srgbClr val="58655C"/>
                </a:solidFill>
                <a:latin typeface="Calibri" pitchFamily="34" charset="0"/>
                <a:ea typeface="Calibri" pitchFamily="34" charset="-122"/>
                <a:cs typeface="Calibri" pitchFamily="34" charset="-120"/>
              </a:rPr>
              <a:t>— on-device readout</a:t>
            </a:r>
            <a:endParaRPr lang="en-US" sz="1250" dirty="0"/>
          </a:p>
        </p:txBody>
      </p:sp>
      <p:sp>
        <p:nvSpPr>
          <p:cNvPr id="14" name="Shape 12"/>
          <p:cNvSpPr/>
          <p:nvPr/>
        </p:nvSpPr>
        <p:spPr>
          <a:xfrm>
            <a:off x="667512" y="4411980"/>
            <a:ext cx="118872" cy="118872"/>
          </a:xfrm>
          <a:prstGeom prst="ellipse">
            <a:avLst/>
          </a:prstGeom>
          <a:solidFill>
            <a:srgbClr val="E8A33D"/>
          </a:solidFill>
          <a:ln/>
        </p:spPr>
      </p:sp>
      <p:sp>
        <p:nvSpPr>
          <p:cNvPr id="15" name="Text 13"/>
          <p:cNvSpPr txBox="1"/>
          <p:nvPr/>
        </p:nvSpPr>
        <p:spPr>
          <a:xfrm>
            <a:off x="932688" y="4274820"/>
            <a:ext cx="4480560" cy="457200"/>
          </a:xfrm>
          <a:prstGeom prst="rect">
            <a:avLst/>
          </a:prstGeom>
          <a:noFill/>
          <a:ln/>
        </p:spPr>
        <p:txBody>
          <a:bodyPr wrap="square" lIns="0" tIns="0" rIns="0" bIns="0" rtlCol="0" anchor="ctr"/>
          <a:lstStyle/>
          <a:p>
            <a:pPr marL="0" indent="0">
              <a:buNone/>
            </a:pPr>
            <a:r>
              <a:rPr lang="en-US" sz="1250" b="1" dirty="0">
                <a:solidFill>
                  <a:srgbClr val="1F3D2E"/>
                </a:solidFill>
                <a:latin typeface="Calibri" pitchFamily="34" charset="0"/>
                <a:ea typeface="Calibri" pitchFamily="34" charset="-122"/>
                <a:cs typeface="Calibri" pitchFamily="34" charset="-120"/>
              </a:rPr>
              <a:t>250 kΩ Potentiometer  </a:t>
            </a:r>
            <a:r>
              <a:rPr lang="en-US" sz="1250" dirty="0">
                <a:solidFill>
                  <a:srgbClr val="58655C"/>
                </a:solidFill>
                <a:latin typeface="Calibri" pitchFamily="34" charset="0"/>
                <a:ea typeface="Calibri" pitchFamily="34" charset="-122"/>
                <a:cs typeface="Calibri" pitchFamily="34" charset="-120"/>
              </a:rPr>
              <a:t>— threshold dial</a:t>
            </a:r>
            <a:endParaRPr lang="en-US" sz="1250" dirty="0"/>
          </a:p>
        </p:txBody>
      </p:sp>
      <p:sp>
        <p:nvSpPr>
          <p:cNvPr id="16" name="Shape 14"/>
          <p:cNvSpPr/>
          <p:nvPr/>
        </p:nvSpPr>
        <p:spPr>
          <a:xfrm>
            <a:off x="667512" y="4928616"/>
            <a:ext cx="118872" cy="118872"/>
          </a:xfrm>
          <a:prstGeom prst="ellipse">
            <a:avLst/>
          </a:prstGeom>
          <a:solidFill>
            <a:srgbClr val="E8A33D"/>
          </a:solidFill>
          <a:ln/>
        </p:spPr>
      </p:sp>
      <p:sp>
        <p:nvSpPr>
          <p:cNvPr id="17" name="Text 15"/>
          <p:cNvSpPr txBox="1"/>
          <p:nvPr/>
        </p:nvSpPr>
        <p:spPr>
          <a:xfrm>
            <a:off x="932688" y="4791456"/>
            <a:ext cx="4480560" cy="457200"/>
          </a:xfrm>
          <a:prstGeom prst="rect">
            <a:avLst/>
          </a:prstGeom>
          <a:noFill/>
          <a:ln/>
        </p:spPr>
        <p:txBody>
          <a:bodyPr wrap="square" lIns="0" tIns="0" rIns="0" bIns="0" rtlCol="0" anchor="ctr"/>
          <a:lstStyle/>
          <a:p>
            <a:pPr marL="0" indent="0">
              <a:buNone/>
            </a:pPr>
            <a:r>
              <a:rPr lang="en-US" sz="1250" b="1" dirty="0">
                <a:solidFill>
                  <a:srgbClr val="1F3D2E"/>
                </a:solidFill>
                <a:latin typeface="Calibri" pitchFamily="34" charset="0"/>
                <a:ea typeface="Calibri" pitchFamily="34" charset="-122"/>
                <a:cs typeface="Calibri" pitchFamily="34" charset="-120"/>
              </a:rPr>
              <a:t>Piezo Buzzer + LEDs  </a:t>
            </a:r>
            <a:r>
              <a:rPr lang="en-US" sz="1250" dirty="0">
                <a:solidFill>
                  <a:srgbClr val="58655C"/>
                </a:solidFill>
                <a:latin typeface="Calibri" pitchFamily="34" charset="0"/>
                <a:ea typeface="Calibri" pitchFamily="34" charset="-122"/>
                <a:cs typeface="Calibri" pitchFamily="34" charset="-120"/>
              </a:rPr>
              <a:t>— dry-soil alerts</a:t>
            </a:r>
            <a:endParaRPr lang="en-US" sz="1250" dirty="0"/>
          </a:p>
        </p:txBody>
      </p:sp>
      <p:sp>
        <p:nvSpPr>
          <p:cNvPr id="18" name="Shape 16"/>
          <p:cNvSpPr/>
          <p:nvPr/>
        </p:nvSpPr>
        <p:spPr>
          <a:xfrm>
            <a:off x="667512" y="5445252"/>
            <a:ext cx="118872" cy="118872"/>
          </a:xfrm>
          <a:prstGeom prst="ellipse">
            <a:avLst/>
          </a:prstGeom>
          <a:solidFill>
            <a:srgbClr val="E8A33D"/>
          </a:solidFill>
          <a:ln/>
        </p:spPr>
      </p:sp>
      <p:sp>
        <p:nvSpPr>
          <p:cNvPr id="19" name="Text 17"/>
          <p:cNvSpPr txBox="1"/>
          <p:nvPr/>
        </p:nvSpPr>
        <p:spPr>
          <a:xfrm>
            <a:off x="932688" y="5308092"/>
            <a:ext cx="4480560" cy="457200"/>
          </a:xfrm>
          <a:prstGeom prst="rect">
            <a:avLst/>
          </a:prstGeom>
          <a:noFill/>
          <a:ln/>
        </p:spPr>
        <p:txBody>
          <a:bodyPr wrap="square" lIns="0" tIns="0" rIns="0" bIns="0" rtlCol="0" anchor="ctr"/>
          <a:lstStyle/>
          <a:p>
            <a:pPr marL="0" indent="0">
              <a:buNone/>
            </a:pPr>
            <a:r>
              <a:rPr lang="en-US" sz="1250" b="1" dirty="0">
                <a:solidFill>
                  <a:srgbClr val="1F3D2E"/>
                </a:solidFill>
                <a:latin typeface="Calibri" pitchFamily="34" charset="0"/>
                <a:ea typeface="Calibri" pitchFamily="34" charset="-122"/>
                <a:cs typeface="Calibri" pitchFamily="34" charset="-120"/>
              </a:rPr>
              <a:t>Slide Switch + Resistors  </a:t>
            </a:r>
            <a:r>
              <a:rPr lang="en-US" sz="1250" dirty="0">
                <a:solidFill>
                  <a:srgbClr val="58655C"/>
                </a:solidFill>
                <a:latin typeface="Calibri" pitchFamily="34" charset="0"/>
                <a:ea typeface="Calibri" pitchFamily="34" charset="-122"/>
                <a:cs typeface="Calibri" pitchFamily="34" charset="-120"/>
              </a:rPr>
              <a:t>— power &amp; current control</a:t>
            </a:r>
            <a:endParaRPr lang="en-US" sz="1250" dirty="0"/>
          </a:p>
        </p:txBody>
      </p:sp>
      <p:sp>
        <p:nvSpPr>
          <p:cNvPr id="20" name="Shape 18"/>
          <p:cNvSpPr/>
          <p:nvPr/>
        </p:nvSpPr>
        <p:spPr>
          <a:xfrm>
            <a:off x="5394960" y="1463040"/>
            <a:ext cx="6583680" cy="2886891"/>
          </a:xfrm>
          <a:prstGeom prst="roundRect">
            <a:avLst>
              <a:gd name="adj" fmla="val 3801"/>
            </a:avLst>
          </a:prstGeom>
          <a:solidFill>
            <a:srgbClr val="FFFFFF"/>
          </a:solidFill>
          <a:ln/>
          <a:effectLst>
            <a:outerShdw blurRad="101600" dist="38100" dir="5400000" algn="bl" rotWithShape="0">
              <a:srgbClr val="0B1710">
                <a:alpha val="18000"/>
              </a:srgbClr>
            </a:outerShdw>
          </a:effectLst>
        </p:spPr>
      </p:sp>
      <p:pic>
        <p:nvPicPr>
          <p:cNvPr id="21" name="Image 0" descr="D:/CEPDT 3D model/Smart Irrigation System.png"/>
          <p:cNvPicPr>
            <a:picLocks noChangeAspect="1"/>
          </p:cNvPicPr>
          <p:nvPr/>
        </p:nvPicPr>
        <p:blipFill>
          <a:blip r:embed="rId3"/>
          <a:stretch>
            <a:fillRect/>
          </a:stretch>
        </p:blipFill>
        <p:spPr>
          <a:xfrm>
            <a:off x="5532120" y="1600200"/>
            <a:ext cx="6309360" cy="2612571"/>
          </a:xfrm>
          <a:prstGeom prst="rect">
            <a:avLst/>
          </a:prstGeom>
        </p:spPr>
      </p:pic>
      <p:sp>
        <p:nvSpPr>
          <p:cNvPr id="22" name="Text 19"/>
          <p:cNvSpPr txBox="1"/>
          <p:nvPr/>
        </p:nvSpPr>
        <p:spPr>
          <a:xfrm>
            <a:off x="5532120" y="4441371"/>
            <a:ext cx="6309360" cy="320040"/>
          </a:xfrm>
          <a:prstGeom prst="rect">
            <a:avLst/>
          </a:prstGeom>
          <a:noFill/>
          <a:ln/>
        </p:spPr>
        <p:txBody>
          <a:bodyPr wrap="square" lIns="0" tIns="0" rIns="0" bIns="0" rtlCol="0" anchor="ctr"/>
          <a:lstStyle/>
          <a:p>
            <a:pPr marL="0" indent="0">
              <a:buNone/>
            </a:pPr>
            <a:r>
              <a:rPr lang="en-US" sz="1050" i="1" dirty="0">
                <a:solidFill>
                  <a:srgbClr val="58655C"/>
                </a:solidFill>
                <a:latin typeface="Calibri" pitchFamily="34" charset="0"/>
                <a:ea typeface="Calibri" pitchFamily="34" charset="-122"/>
                <a:cs typeface="Calibri" pitchFamily="34" charset="-120"/>
              </a:rPr>
              <a:t>Full schematic — Tinkercad Circuits simulation</a:t>
            </a:r>
            <a:endParaRPr lang="en-US" sz="1050" dirty="0"/>
          </a:p>
        </p:txBody>
      </p:sp>
      <p:sp>
        <p:nvSpPr>
          <p:cNvPr id="23" name="Text 20"/>
          <p:cNvSpPr txBox="1"/>
          <p:nvPr/>
        </p:nvSpPr>
        <p:spPr>
          <a:xfrm>
            <a:off x="5532120" y="5074920"/>
            <a:ext cx="1965960" cy="502920"/>
          </a:xfrm>
          <a:prstGeom prst="rect">
            <a:avLst/>
          </a:prstGeom>
          <a:noFill/>
          <a:ln/>
        </p:spPr>
        <p:txBody>
          <a:bodyPr wrap="square" lIns="0" tIns="0" rIns="0" bIns="0" rtlCol="0" anchor="ctr"/>
          <a:lstStyle/>
          <a:p>
            <a:pPr marL="0" indent="0" algn="l">
              <a:buNone/>
            </a:pPr>
            <a:r>
              <a:rPr lang="en-US" sz="2600" b="1" dirty="0">
                <a:solidFill>
                  <a:srgbClr val="E8A33D"/>
                </a:solidFill>
                <a:latin typeface="Cambria" pitchFamily="34" charset="0"/>
                <a:ea typeface="Cambria" pitchFamily="34" charset="-122"/>
                <a:cs typeface="Cambria" pitchFamily="34" charset="-120"/>
              </a:rPr>
              <a:t>12</a:t>
            </a:r>
            <a:endParaRPr lang="en-US" sz="2600" dirty="0"/>
          </a:p>
        </p:txBody>
      </p:sp>
      <p:sp>
        <p:nvSpPr>
          <p:cNvPr id="24" name="Text 21"/>
          <p:cNvSpPr txBox="1"/>
          <p:nvPr/>
        </p:nvSpPr>
        <p:spPr>
          <a:xfrm>
            <a:off x="5532120" y="5577840"/>
            <a:ext cx="1965960" cy="320040"/>
          </a:xfrm>
          <a:prstGeom prst="rect">
            <a:avLst/>
          </a:prstGeom>
          <a:noFill/>
          <a:ln/>
        </p:spPr>
        <p:txBody>
          <a:bodyPr wrap="square" lIns="0" tIns="0" rIns="0" bIns="0" rtlCol="0" anchor="ctr"/>
          <a:lstStyle/>
          <a:p>
            <a:pPr marL="0" indent="0" algn="l">
              <a:buNone/>
            </a:pPr>
            <a:r>
              <a:rPr lang="en-US" sz="1100" dirty="0">
                <a:solidFill>
                  <a:srgbClr val="58655C"/>
                </a:solidFill>
                <a:latin typeface="Calibri" pitchFamily="34" charset="0"/>
                <a:ea typeface="Calibri" pitchFamily="34" charset="-122"/>
                <a:cs typeface="Calibri" pitchFamily="34" charset="-120"/>
              </a:rPr>
              <a:t>Components</a:t>
            </a:r>
            <a:endParaRPr lang="en-US" sz="1100" dirty="0"/>
          </a:p>
        </p:txBody>
      </p:sp>
      <p:sp>
        <p:nvSpPr>
          <p:cNvPr id="25" name="Text 22"/>
          <p:cNvSpPr txBox="1"/>
          <p:nvPr/>
        </p:nvSpPr>
        <p:spPr>
          <a:xfrm>
            <a:off x="7699248" y="5074920"/>
            <a:ext cx="1965960" cy="502920"/>
          </a:xfrm>
          <a:prstGeom prst="rect">
            <a:avLst/>
          </a:prstGeom>
          <a:noFill/>
          <a:ln/>
        </p:spPr>
        <p:txBody>
          <a:bodyPr wrap="square" lIns="0" tIns="0" rIns="0" bIns="0" rtlCol="0" anchor="ctr"/>
          <a:lstStyle/>
          <a:p>
            <a:pPr marL="0" indent="0" algn="l">
              <a:buNone/>
            </a:pPr>
            <a:r>
              <a:rPr lang="en-US" sz="2600" b="1" dirty="0">
                <a:solidFill>
                  <a:srgbClr val="E8A33D"/>
                </a:solidFill>
                <a:latin typeface="Cambria" pitchFamily="34" charset="0"/>
                <a:ea typeface="Cambria" pitchFamily="34" charset="-122"/>
                <a:cs typeface="Cambria" pitchFamily="34" charset="-120"/>
              </a:rPr>
              <a:t>1</a:t>
            </a:r>
            <a:endParaRPr lang="en-US" sz="2600" dirty="0"/>
          </a:p>
        </p:txBody>
      </p:sp>
      <p:sp>
        <p:nvSpPr>
          <p:cNvPr id="26" name="Text 23"/>
          <p:cNvSpPr txBox="1"/>
          <p:nvPr/>
        </p:nvSpPr>
        <p:spPr>
          <a:xfrm>
            <a:off x="7699248" y="5577840"/>
            <a:ext cx="1965960" cy="320040"/>
          </a:xfrm>
          <a:prstGeom prst="rect">
            <a:avLst/>
          </a:prstGeom>
          <a:noFill/>
          <a:ln/>
        </p:spPr>
        <p:txBody>
          <a:bodyPr wrap="square" lIns="0" tIns="0" rIns="0" bIns="0" rtlCol="0" anchor="ctr"/>
          <a:lstStyle/>
          <a:p>
            <a:pPr marL="0" indent="0" algn="l">
              <a:buNone/>
            </a:pPr>
            <a:r>
              <a:rPr lang="en-US" sz="1100" dirty="0">
                <a:solidFill>
                  <a:srgbClr val="58655C"/>
                </a:solidFill>
                <a:latin typeface="Calibri" pitchFamily="34" charset="0"/>
                <a:ea typeface="Calibri" pitchFamily="34" charset="-122"/>
                <a:cs typeface="Calibri" pitchFamily="34" charset="-120"/>
              </a:rPr>
              <a:t>Microcontroller</a:t>
            </a:r>
            <a:endParaRPr lang="en-US" sz="1100" dirty="0"/>
          </a:p>
        </p:txBody>
      </p:sp>
      <p:sp>
        <p:nvSpPr>
          <p:cNvPr id="27" name="Text 24"/>
          <p:cNvSpPr txBox="1"/>
          <p:nvPr/>
        </p:nvSpPr>
        <p:spPr>
          <a:xfrm>
            <a:off x="9866376" y="5074920"/>
            <a:ext cx="1965960" cy="502920"/>
          </a:xfrm>
          <a:prstGeom prst="rect">
            <a:avLst/>
          </a:prstGeom>
          <a:noFill/>
          <a:ln/>
        </p:spPr>
        <p:txBody>
          <a:bodyPr wrap="square" lIns="0" tIns="0" rIns="0" bIns="0" rtlCol="0" anchor="ctr"/>
          <a:lstStyle/>
          <a:p>
            <a:pPr marL="0" indent="0" algn="l">
              <a:buNone/>
            </a:pPr>
            <a:r>
              <a:rPr lang="en-US" sz="2600" b="1" dirty="0">
                <a:solidFill>
                  <a:srgbClr val="E8A33D"/>
                </a:solidFill>
                <a:latin typeface="Cambria" pitchFamily="34" charset="0"/>
                <a:ea typeface="Cambria" pitchFamily="34" charset="-122"/>
                <a:cs typeface="Cambria" pitchFamily="34" charset="-120"/>
              </a:rPr>
              <a:t>100%</a:t>
            </a:r>
            <a:endParaRPr lang="en-US" sz="2600" dirty="0"/>
          </a:p>
        </p:txBody>
      </p:sp>
      <p:sp>
        <p:nvSpPr>
          <p:cNvPr id="28" name="Text 25"/>
          <p:cNvSpPr txBox="1"/>
          <p:nvPr/>
        </p:nvSpPr>
        <p:spPr>
          <a:xfrm>
            <a:off x="9866376" y="5577840"/>
            <a:ext cx="1965960" cy="320040"/>
          </a:xfrm>
          <a:prstGeom prst="rect">
            <a:avLst/>
          </a:prstGeom>
          <a:noFill/>
          <a:ln/>
        </p:spPr>
        <p:txBody>
          <a:bodyPr wrap="square" lIns="0" tIns="0" rIns="0" bIns="0" rtlCol="0" anchor="ctr"/>
          <a:lstStyle/>
          <a:p>
            <a:pPr marL="0" indent="0" algn="l">
              <a:buNone/>
            </a:pPr>
            <a:r>
              <a:rPr lang="en-US" sz="1100" dirty="0">
                <a:solidFill>
                  <a:srgbClr val="58655C"/>
                </a:solidFill>
                <a:latin typeface="Calibri" pitchFamily="34" charset="0"/>
                <a:ea typeface="Calibri" pitchFamily="34" charset="-122"/>
                <a:cs typeface="Calibri" pitchFamily="34" charset="-120"/>
              </a:rPr>
              <a:t>Simulated First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5"/>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229600" cy="502920"/>
          </a:xfrm>
          <a:prstGeom prst="rect">
            <a:avLst/>
          </a:prstGeom>
          <a:noFill/>
          <a:ln/>
        </p:spPr>
        <p:txBody>
          <a:bodyPr wrap="square" lIns="0" tIns="0" rIns="0" bIns="0" rtlCol="0" anchor="ctr"/>
          <a:lstStyle/>
          <a:p>
            <a:pPr marL="0" indent="0">
              <a:buNone/>
            </a:pPr>
            <a:r>
              <a:rPr lang="en-US" sz="3000" b="1" dirty="0">
                <a:solidFill>
                  <a:srgbClr val="1F3D2E"/>
                </a:solidFill>
                <a:latin typeface="Cambria" pitchFamily="34" charset="0"/>
                <a:ea typeface="Cambria" pitchFamily="34" charset="-122"/>
                <a:cs typeface="Cambria" pitchFamily="34" charset="-120"/>
              </a:rPr>
              <a:t>Bill of Materials</a:t>
            </a:r>
            <a:endParaRPr lang="en-US" sz="3000" dirty="0"/>
          </a:p>
        </p:txBody>
      </p:sp>
      <p:sp>
        <p:nvSpPr>
          <p:cNvPr id="3" name="Text 1"/>
          <p:cNvSpPr txBox="1"/>
          <p:nvPr/>
        </p:nvSpPr>
        <p:spPr>
          <a:xfrm>
            <a:off x="640080" y="868680"/>
            <a:ext cx="8229600" cy="365760"/>
          </a:xfrm>
          <a:prstGeom prst="rect">
            <a:avLst/>
          </a:prstGeom>
          <a:noFill/>
          <a:ln/>
        </p:spPr>
        <p:txBody>
          <a:bodyPr wrap="square" lIns="0" tIns="0" rIns="0" bIns="0" rtlCol="0" anchor="ctr"/>
          <a:lstStyle/>
          <a:p>
            <a:pPr marL="0" indent="0">
              <a:buNone/>
            </a:pPr>
            <a:r>
              <a:rPr lang="en-US" sz="1300" dirty="0">
                <a:solidFill>
                  <a:srgbClr val="58655C"/>
                </a:solidFill>
                <a:latin typeface="Calibri" pitchFamily="34" charset="0"/>
                <a:ea typeface="Calibri" pitchFamily="34" charset="-122"/>
                <a:cs typeface="Calibri" pitchFamily="34" charset="-120"/>
              </a:rPr>
              <a:t>Every component used in the Tinkercad build.</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5120640"/>
        </p:xfrm>
        <a:graphic>
          <a:graphicData uri="http://schemas.openxmlformats.org/drawingml/2006/table">
            <a:tbl>
              <a:tblPr/>
              <a:tblGrid>
                <a:gridCol w="2011680">
                  <a:extLst>
                    <a:ext uri="{9D8B030D-6E8A-4147-A177-3AD203B41FA5}">
                      <a16:colId xmlns:a16="http://schemas.microsoft.com/office/drawing/2014/main" val="20000"/>
                    </a:ext>
                  </a:extLst>
                </a:gridCol>
                <a:gridCol w="7525512">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1F3D2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1F3D2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Qty</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1F3D2E"/>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Red LED</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D2</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Green LED</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U1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Arduino Uno R3</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M1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DC Motor</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extLst>
                  <a:ext uri="{0D108BD9-81ED-4DB2-BD59-A6C34878D82A}">
                    <a16:rowId xmlns:a16="http://schemas.microsoft.com/office/drawing/2014/main" val="10004"/>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SEN1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Soil Moisture Sensor</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U2</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Temperature Sensor (TMP36)</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extLst>
                  <a:ext uri="{0D108BD9-81ED-4DB2-BD59-A6C34878D82A}">
                    <a16:rowId xmlns:a16="http://schemas.microsoft.com/office/drawing/2014/main" val="10006"/>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PIEZO1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Piezo Buzzer</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Breadboard</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extLst>
                  <a:ext uri="{0D108BD9-81ED-4DB2-BD59-A6C34878D82A}">
                    <a16:rowId xmlns:a16="http://schemas.microsoft.com/office/drawing/2014/main" val="10008"/>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U7</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16×2 I2C LCD (MCP23008, 0x20)</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Rpot3</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250 kΩ Potentiometer</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extLst>
                  <a:ext uri="{0D108BD9-81ED-4DB2-BD59-A6C34878D82A}">
                    <a16:rowId xmlns:a16="http://schemas.microsoft.com/office/drawing/2014/main" val="10010"/>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Slide Switch</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R3, R4</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1 kΩ Resistor</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extLst>
                  <a:ext uri="{0D108BD9-81ED-4DB2-BD59-A6C34878D82A}">
                    <a16:rowId xmlns:a16="http://schemas.microsoft.com/office/drawing/2014/main" val="10012"/>
                  </a:ext>
                </a:extLst>
              </a:tr>
              <a:tr h="365760">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R2</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22"/>
                          </a:solidFill>
                          <a:latin typeface="Calibri" pitchFamily="34" charset="0"/>
                          <a:ea typeface="Calibri" pitchFamily="34" charset="-122"/>
                          <a:cs typeface="Calibri" pitchFamily="34" charset="-120"/>
                        </a:rPr>
                        <a:t>139 Ω Resistor</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5"/>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229600" cy="502920"/>
          </a:xfrm>
          <a:prstGeom prst="rect">
            <a:avLst/>
          </a:prstGeom>
          <a:noFill/>
          <a:ln/>
        </p:spPr>
        <p:txBody>
          <a:bodyPr wrap="square" lIns="0" tIns="0" rIns="0" bIns="0" rtlCol="0" anchor="ctr"/>
          <a:lstStyle/>
          <a:p>
            <a:pPr marL="0" indent="0">
              <a:buNone/>
            </a:pPr>
            <a:r>
              <a:rPr lang="en-US" sz="3000" b="1" dirty="0">
                <a:solidFill>
                  <a:srgbClr val="1F3D2E"/>
                </a:solidFill>
                <a:latin typeface="Cambria" pitchFamily="34" charset="0"/>
                <a:ea typeface="Cambria" pitchFamily="34" charset="-122"/>
                <a:cs typeface="Cambria" pitchFamily="34" charset="-120"/>
              </a:rPr>
              <a:t>How the Circuit Works</a:t>
            </a:r>
            <a:endParaRPr lang="en-US" sz="3000" dirty="0"/>
          </a:p>
        </p:txBody>
      </p:sp>
      <p:sp>
        <p:nvSpPr>
          <p:cNvPr id="3" name="Text 1"/>
          <p:cNvSpPr txBox="1"/>
          <p:nvPr/>
        </p:nvSpPr>
        <p:spPr>
          <a:xfrm>
            <a:off x="640080" y="868680"/>
            <a:ext cx="8229600" cy="365760"/>
          </a:xfrm>
          <a:prstGeom prst="rect">
            <a:avLst/>
          </a:prstGeom>
          <a:noFill/>
          <a:ln/>
        </p:spPr>
        <p:txBody>
          <a:bodyPr wrap="square" lIns="0" tIns="0" rIns="0" bIns="0" rtlCol="0" anchor="ctr"/>
          <a:lstStyle/>
          <a:p>
            <a:pPr marL="0" indent="0">
              <a:buNone/>
            </a:pPr>
            <a:r>
              <a:rPr lang="en-US" sz="1300" dirty="0">
                <a:solidFill>
                  <a:srgbClr val="58655C"/>
                </a:solidFill>
                <a:latin typeface="Calibri" pitchFamily="34" charset="0"/>
                <a:ea typeface="Calibri" pitchFamily="34" charset="-122"/>
                <a:cs typeface="Calibri" pitchFamily="34" charset="-120"/>
              </a:rPr>
              <a:t>From raw sensor signal to automatic watering, in four steps.</a:t>
            </a:r>
            <a:endParaRPr lang="en-US" sz="1300" dirty="0"/>
          </a:p>
        </p:txBody>
      </p:sp>
      <p:sp>
        <p:nvSpPr>
          <p:cNvPr id="4" name="Shape 2"/>
          <p:cNvSpPr/>
          <p:nvPr/>
        </p:nvSpPr>
        <p:spPr>
          <a:xfrm>
            <a:off x="640080" y="1691640"/>
            <a:ext cx="2542032" cy="3977640"/>
          </a:xfrm>
          <a:prstGeom prst="roundRect">
            <a:avLst>
              <a:gd name="adj" fmla="val 4317"/>
            </a:avLst>
          </a:prstGeom>
          <a:solidFill>
            <a:srgbClr val="E9F0E9"/>
          </a:solidFill>
          <a:ln/>
          <a:effectLst>
            <a:outerShdw blurRad="101600" dist="38100" dir="5400000" algn="bl" rotWithShape="0">
              <a:srgbClr val="0B1710">
                <a:alpha val="18000"/>
              </a:srgbClr>
            </a:outerShdw>
          </a:effectLst>
        </p:spPr>
      </p:sp>
      <p:sp>
        <p:nvSpPr>
          <p:cNvPr id="5" name="Shape 3"/>
          <p:cNvSpPr/>
          <p:nvPr/>
        </p:nvSpPr>
        <p:spPr>
          <a:xfrm>
            <a:off x="868680" y="1947672"/>
            <a:ext cx="457200" cy="457200"/>
          </a:xfrm>
          <a:prstGeom prst="ellipse">
            <a:avLst/>
          </a:prstGeom>
          <a:solidFill>
            <a:srgbClr val="E8A33D"/>
          </a:solidFill>
          <a:ln/>
        </p:spPr>
      </p:sp>
      <p:sp>
        <p:nvSpPr>
          <p:cNvPr id="6" name="Text 4"/>
          <p:cNvSpPr txBox="1"/>
          <p:nvPr/>
        </p:nvSpPr>
        <p:spPr>
          <a:xfrm>
            <a:off x="868680"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Shape 5"/>
          <p:cNvSpPr/>
          <p:nvPr/>
        </p:nvSpPr>
        <p:spPr>
          <a:xfrm>
            <a:off x="1581912" y="2651760"/>
            <a:ext cx="658368" cy="658368"/>
          </a:xfrm>
          <a:prstGeom prst="ellipse">
            <a:avLst/>
          </a:prstGeom>
          <a:solidFill>
            <a:srgbClr val="1F3D2E"/>
          </a:solidFill>
          <a:ln/>
        </p:spPr>
      </p:sp>
      <p:pic>
        <p:nvPicPr>
          <p:cNvPr id="8" name="Image 0" descr="C:\Users\sohan\AppData\Local\Temp\claude\D--CEPDT-3D-model\6251275b-f963-4380-baeb-f7faaa89ac3b\scratchpad\deck\icons\FiDroplet.png"/>
          <p:cNvPicPr>
            <a:picLocks noChangeAspect="1"/>
          </p:cNvPicPr>
          <p:nvPr/>
        </p:nvPicPr>
        <p:blipFill>
          <a:blip r:embed="rId3"/>
          <a:stretch>
            <a:fillRect/>
          </a:stretch>
        </p:blipFill>
        <p:spPr>
          <a:xfrm>
            <a:off x="1739920" y="2809768"/>
            <a:ext cx="342351" cy="342351"/>
          </a:xfrm>
          <a:prstGeom prst="rect">
            <a:avLst/>
          </a:prstGeom>
        </p:spPr>
      </p:pic>
      <p:sp>
        <p:nvSpPr>
          <p:cNvPr id="9" name="Text 6"/>
          <p:cNvSpPr txBox="1"/>
          <p:nvPr/>
        </p:nvSpPr>
        <p:spPr>
          <a:xfrm>
            <a:off x="777240" y="3474720"/>
            <a:ext cx="2267712" cy="365760"/>
          </a:xfrm>
          <a:prstGeom prst="rect">
            <a:avLst/>
          </a:prstGeom>
          <a:noFill/>
          <a:ln/>
        </p:spPr>
        <p:txBody>
          <a:bodyPr wrap="square" lIns="0" tIns="0" rIns="0" bIns="0" rtlCol="0" anchor="ctr"/>
          <a:lstStyle/>
          <a:p>
            <a:pPr marL="0" indent="0" algn="ctr">
              <a:buNone/>
            </a:pPr>
            <a:r>
              <a:rPr lang="en-US" sz="1500" b="1" dirty="0">
                <a:solidFill>
                  <a:srgbClr val="1F3D2E"/>
                </a:solidFill>
                <a:latin typeface="Calibri" pitchFamily="34" charset="0"/>
                <a:ea typeface="Calibri" pitchFamily="34" charset="-122"/>
                <a:cs typeface="Calibri" pitchFamily="34" charset="-120"/>
              </a:rPr>
              <a:t>Sense</a:t>
            </a:r>
            <a:endParaRPr lang="en-US" sz="1500" dirty="0"/>
          </a:p>
        </p:txBody>
      </p:sp>
      <p:sp>
        <p:nvSpPr>
          <p:cNvPr id="10" name="Text 7"/>
          <p:cNvSpPr txBox="1"/>
          <p:nvPr/>
        </p:nvSpPr>
        <p:spPr>
          <a:xfrm>
            <a:off x="841248" y="3886200"/>
            <a:ext cx="2139696" cy="1600200"/>
          </a:xfrm>
          <a:prstGeom prst="rect">
            <a:avLst/>
          </a:prstGeom>
          <a:noFill/>
          <a:ln/>
        </p:spPr>
        <p:txBody>
          <a:bodyPr wrap="square" lIns="0" tIns="0" rIns="0" bIns="0" rtlCol="0" anchor="t"/>
          <a:lstStyle/>
          <a:p>
            <a:pPr marL="0" indent="0">
              <a:buNone/>
            </a:pPr>
            <a:r>
              <a:rPr lang="en-US" sz="1100" dirty="0">
                <a:solidFill>
                  <a:srgbClr val="58655C"/>
                </a:solidFill>
                <a:latin typeface="Calibri" pitchFamily="34" charset="0"/>
                <a:ea typeface="Calibri" pitchFamily="34" charset="-122"/>
                <a:cs typeface="Calibri" pitchFamily="34" charset="-120"/>
              </a:rPr>
              <a:t>Soil-moisture and TMP36 sensors sample the bed and feed raw values to the Arduino every cycle.</a:t>
            </a:r>
            <a:endParaRPr lang="en-US" sz="1100" dirty="0"/>
          </a:p>
        </p:txBody>
      </p:sp>
      <p:sp>
        <p:nvSpPr>
          <p:cNvPr id="11" name="Shape 8"/>
          <p:cNvSpPr/>
          <p:nvPr/>
        </p:nvSpPr>
        <p:spPr>
          <a:xfrm>
            <a:off x="3383280" y="1691640"/>
            <a:ext cx="2542032" cy="3977640"/>
          </a:xfrm>
          <a:prstGeom prst="roundRect">
            <a:avLst>
              <a:gd name="adj" fmla="val 4317"/>
            </a:avLst>
          </a:prstGeom>
          <a:solidFill>
            <a:srgbClr val="E9F0E9"/>
          </a:solidFill>
          <a:ln/>
          <a:effectLst>
            <a:outerShdw blurRad="101600" dist="38100" dir="5400000" algn="bl" rotWithShape="0">
              <a:srgbClr val="0B1710">
                <a:alpha val="18000"/>
              </a:srgbClr>
            </a:outerShdw>
          </a:effectLst>
        </p:spPr>
      </p:sp>
      <p:sp>
        <p:nvSpPr>
          <p:cNvPr id="12" name="Shape 9"/>
          <p:cNvSpPr/>
          <p:nvPr/>
        </p:nvSpPr>
        <p:spPr>
          <a:xfrm>
            <a:off x="3611880" y="1947672"/>
            <a:ext cx="457200" cy="457200"/>
          </a:xfrm>
          <a:prstGeom prst="ellipse">
            <a:avLst/>
          </a:prstGeom>
          <a:solidFill>
            <a:srgbClr val="E8A33D"/>
          </a:solidFill>
          <a:ln/>
        </p:spPr>
      </p:sp>
      <p:sp>
        <p:nvSpPr>
          <p:cNvPr id="13" name="Text 10"/>
          <p:cNvSpPr txBox="1"/>
          <p:nvPr/>
        </p:nvSpPr>
        <p:spPr>
          <a:xfrm>
            <a:off x="3611880"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Shape 11"/>
          <p:cNvSpPr/>
          <p:nvPr/>
        </p:nvSpPr>
        <p:spPr>
          <a:xfrm>
            <a:off x="4325112" y="2651760"/>
            <a:ext cx="658368" cy="658368"/>
          </a:xfrm>
          <a:prstGeom prst="ellipse">
            <a:avLst/>
          </a:prstGeom>
          <a:solidFill>
            <a:srgbClr val="1F3D2E"/>
          </a:solidFill>
          <a:ln/>
        </p:spPr>
      </p:sp>
      <p:pic>
        <p:nvPicPr>
          <p:cNvPr id="15" name="Image 1" descr="C:\Users\sohan\AppData\Local\Temp\claude\D--CEPDT-3D-model\6251275b-f963-4380-baeb-f7faaa89ac3b\scratchpad\deck\icons\FiSliders.png"/>
          <p:cNvPicPr>
            <a:picLocks noChangeAspect="1"/>
          </p:cNvPicPr>
          <p:nvPr/>
        </p:nvPicPr>
        <p:blipFill>
          <a:blip r:embed="rId4"/>
          <a:stretch>
            <a:fillRect/>
          </a:stretch>
        </p:blipFill>
        <p:spPr>
          <a:xfrm>
            <a:off x="4483120" y="2809768"/>
            <a:ext cx="342351" cy="342351"/>
          </a:xfrm>
          <a:prstGeom prst="rect">
            <a:avLst/>
          </a:prstGeom>
        </p:spPr>
      </p:pic>
      <p:sp>
        <p:nvSpPr>
          <p:cNvPr id="16" name="Text 12"/>
          <p:cNvSpPr txBox="1"/>
          <p:nvPr/>
        </p:nvSpPr>
        <p:spPr>
          <a:xfrm>
            <a:off x="3520440" y="3474720"/>
            <a:ext cx="2267712" cy="365760"/>
          </a:xfrm>
          <a:prstGeom prst="rect">
            <a:avLst/>
          </a:prstGeom>
          <a:noFill/>
          <a:ln/>
        </p:spPr>
        <p:txBody>
          <a:bodyPr wrap="square" lIns="0" tIns="0" rIns="0" bIns="0" rtlCol="0" anchor="ctr"/>
          <a:lstStyle/>
          <a:p>
            <a:pPr marL="0" indent="0" algn="ctr">
              <a:buNone/>
            </a:pPr>
            <a:r>
              <a:rPr lang="en-US" sz="1500" b="1" dirty="0">
                <a:solidFill>
                  <a:srgbClr val="1F3D2E"/>
                </a:solidFill>
                <a:latin typeface="Calibri" pitchFamily="34" charset="0"/>
                <a:ea typeface="Calibri" pitchFamily="34" charset="-122"/>
                <a:cs typeface="Calibri" pitchFamily="34" charset="-120"/>
              </a:rPr>
              <a:t>Compare</a:t>
            </a:r>
            <a:endParaRPr lang="en-US" sz="1500" dirty="0"/>
          </a:p>
        </p:txBody>
      </p:sp>
      <p:sp>
        <p:nvSpPr>
          <p:cNvPr id="17" name="Text 13"/>
          <p:cNvSpPr txBox="1"/>
          <p:nvPr/>
        </p:nvSpPr>
        <p:spPr>
          <a:xfrm>
            <a:off x="3584448" y="3886200"/>
            <a:ext cx="2139696" cy="1600200"/>
          </a:xfrm>
          <a:prstGeom prst="rect">
            <a:avLst/>
          </a:prstGeom>
          <a:noFill/>
          <a:ln/>
        </p:spPr>
        <p:txBody>
          <a:bodyPr wrap="square" lIns="0" tIns="0" rIns="0" bIns="0" rtlCol="0" anchor="t"/>
          <a:lstStyle/>
          <a:p>
            <a:pPr marL="0" indent="0">
              <a:buNone/>
            </a:pPr>
            <a:r>
              <a:rPr lang="en-US" sz="1100" dirty="0">
                <a:solidFill>
                  <a:srgbClr val="58655C"/>
                </a:solidFill>
                <a:latin typeface="Calibri" pitchFamily="34" charset="0"/>
                <a:ea typeface="Calibri" pitchFamily="34" charset="-122"/>
                <a:cs typeface="Calibri" pitchFamily="34" charset="-120"/>
              </a:rPr>
              <a:t>The Arduino compares the live reading against the threshold set on the potentiometer dial.</a:t>
            </a:r>
            <a:endParaRPr lang="en-US" sz="1100" dirty="0"/>
          </a:p>
        </p:txBody>
      </p:sp>
      <p:sp>
        <p:nvSpPr>
          <p:cNvPr id="18" name="Shape 14"/>
          <p:cNvSpPr/>
          <p:nvPr/>
        </p:nvSpPr>
        <p:spPr>
          <a:xfrm>
            <a:off x="6126480" y="1691640"/>
            <a:ext cx="2542032" cy="3977640"/>
          </a:xfrm>
          <a:prstGeom prst="roundRect">
            <a:avLst>
              <a:gd name="adj" fmla="val 4317"/>
            </a:avLst>
          </a:prstGeom>
          <a:solidFill>
            <a:srgbClr val="E9F0E9"/>
          </a:solidFill>
          <a:ln/>
          <a:effectLst>
            <a:outerShdw blurRad="101600" dist="38100" dir="5400000" algn="bl" rotWithShape="0">
              <a:srgbClr val="0B1710">
                <a:alpha val="18000"/>
              </a:srgbClr>
            </a:outerShdw>
          </a:effectLst>
        </p:spPr>
      </p:sp>
      <p:sp>
        <p:nvSpPr>
          <p:cNvPr id="19" name="Shape 15"/>
          <p:cNvSpPr/>
          <p:nvPr/>
        </p:nvSpPr>
        <p:spPr>
          <a:xfrm>
            <a:off x="6355080" y="1947672"/>
            <a:ext cx="457200" cy="457200"/>
          </a:xfrm>
          <a:prstGeom prst="ellipse">
            <a:avLst/>
          </a:prstGeom>
          <a:solidFill>
            <a:srgbClr val="E8A33D"/>
          </a:solidFill>
          <a:ln/>
        </p:spPr>
      </p:sp>
      <p:sp>
        <p:nvSpPr>
          <p:cNvPr id="20" name="Text 16"/>
          <p:cNvSpPr txBox="1"/>
          <p:nvPr/>
        </p:nvSpPr>
        <p:spPr>
          <a:xfrm>
            <a:off x="6355080"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Shape 17"/>
          <p:cNvSpPr/>
          <p:nvPr/>
        </p:nvSpPr>
        <p:spPr>
          <a:xfrm>
            <a:off x="7068312" y="2651760"/>
            <a:ext cx="658368" cy="658368"/>
          </a:xfrm>
          <a:prstGeom prst="ellipse">
            <a:avLst/>
          </a:prstGeom>
          <a:solidFill>
            <a:srgbClr val="1F3D2E"/>
          </a:solidFill>
          <a:ln/>
        </p:spPr>
      </p:sp>
      <p:pic>
        <p:nvPicPr>
          <p:cNvPr id="22" name="Image 2" descr="C:\Users\sohan\AppData\Local\Temp\claude\D--CEPDT-3D-model\6251275b-f963-4380-baeb-f7faaa89ac3b\scratchpad\deck\icons\FiZap.png"/>
          <p:cNvPicPr>
            <a:picLocks noChangeAspect="1"/>
          </p:cNvPicPr>
          <p:nvPr/>
        </p:nvPicPr>
        <p:blipFill>
          <a:blip r:embed="rId5"/>
          <a:stretch>
            <a:fillRect/>
          </a:stretch>
        </p:blipFill>
        <p:spPr>
          <a:xfrm>
            <a:off x="7226320" y="2809768"/>
            <a:ext cx="342351" cy="342351"/>
          </a:xfrm>
          <a:prstGeom prst="rect">
            <a:avLst/>
          </a:prstGeom>
        </p:spPr>
      </p:pic>
      <p:sp>
        <p:nvSpPr>
          <p:cNvPr id="23" name="Text 18"/>
          <p:cNvSpPr txBox="1"/>
          <p:nvPr/>
        </p:nvSpPr>
        <p:spPr>
          <a:xfrm>
            <a:off x="6263640" y="3474720"/>
            <a:ext cx="2267712" cy="365760"/>
          </a:xfrm>
          <a:prstGeom prst="rect">
            <a:avLst/>
          </a:prstGeom>
          <a:noFill/>
          <a:ln/>
        </p:spPr>
        <p:txBody>
          <a:bodyPr wrap="square" lIns="0" tIns="0" rIns="0" bIns="0" rtlCol="0" anchor="ctr"/>
          <a:lstStyle/>
          <a:p>
            <a:pPr marL="0" indent="0" algn="ctr">
              <a:buNone/>
            </a:pPr>
            <a:r>
              <a:rPr lang="en-US" sz="1500" b="1" dirty="0">
                <a:solidFill>
                  <a:srgbClr val="1F3D2E"/>
                </a:solidFill>
                <a:latin typeface="Calibri" pitchFamily="34" charset="0"/>
                <a:ea typeface="Calibri" pitchFamily="34" charset="-122"/>
                <a:cs typeface="Calibri" pitchFamily="34" charset="-120"/>
              </a:rPr>
              <a:t>Decide &amp; Act</a:t>
            </a:r>
            <a:endParaRPr lang="en-US" sz="1500" dirty="0"/>
          </a:p>
        </p:txBody>
      </p:sp>
      <p:sp>
        <p:nvSpPr>
          <p:cNvPr id="24" name="Text 19"/>
          <p:cNvSpPr txBox="1"/>
          <p:nvPr/>
        </p:nvSpPr>
        <p:spPr>
          <a:xfrm>
            <a:off x="6327648" y="3886200"/>
            <a:ext cx="2139696" cy="1600200"/>
          </a:xfrm>
          <a:prstGeom prst="rect">
            <a:avLst/>
          </a:prstGeom>
          <a:noFill/>
          <a:ln/>
        </p:spPr>
        <p:txBody>
          <a:bodyPr wrap="square" lIns="0" tIns="0" rIns="0" bIns="0" rtlCol="0" anchor="t"/>
          <a:lstStyle/>
          <a:p>
            <a:pPr marL="0" indent="0">
              <a:buNone/>
            </a:pPr>
            <a:r>
              <a:rPr lang="en-US" sz="1100" dirty="0">
                <a:solidFill>
                  <a:srgbClr val="58655C"/>
                </a:solidFill>
                <a:latin typeface="Calibri" pitchFamily="34" charset="0"/>
                <a:ea typeface="Calibri" pitchFamily="34" charset="-122"/>
                <a:cs typeface="Calibri" pitchFamily="34" charset="-120"/>
              </a:rPr>
              <a:t>Below threshold: pump, red LED and buzzer switch on. Above it: the green LED stays lit and it idles.</a:t>
            </a:r>
            <a:endParaRPr lang="en-US" sz="1100" dirty="0"/>
          </a:p>
        </p:txBody>
      </p:sp>
      <p:sp>
        <p:nvSpPr>
          <p:cNvPr id="25" name="Shape 20"/>
          <p:cNvSpPr/>
          <p:nvPr/>
        </p:nvSpPr>
        <p:spPr>
          <a:xfrm>
            <a:off x="8869680" y="1691640"/>
            <a:ext cx="2542032" cy="3977640"/>
          </a:xfrm>
          <a:prstGeom prst="roundRect">
            <a:avLst>
              <a:gd name="adj" fmla="val 4317"/>
            </a:avLst>
          </a:prstGeom>
          <a:solidFill>
            <a:srgbClr val="E9F0E9"/>
          </a:solidFill>
          <a:ln/>
          <a:effectLst>
            <a:outerShdw blurRad="101600" dist="38100" dir="5400000" algn="bl" rotWithShape="0">
              <a:srgbClr val="0B1710">
                <a:alpha val="18000"/>
              </a:srgbClr>
            </a:outerShdw>
          </a:effectLst>
        </p:spPr>
      </p:sp>
      <p:sp>
        <p:nvSpPr>
          <p:cNvPr id="26" name="Shape 21"/>
          <p:cNvSpPr/>
          <p:nvPr/>
        </p:nvSpPr>
        <p:spPr>
          <a:xfrm>
            <a:off x="9098280" y="1947672"/>
            <a:ext cx="457200" cy="457200"/>
          </a:xfrm>
          <a:prstGeom prst="ellipse">
            <a:avLst/>
          </a:prstGeom>
          <a:solidFill>
            <a:srgbClr val="E8A33D"/>
          </a:solidFill>
          <a:ln/>
        </p:spPr>
      </p:sp>
      <p:sp>
        <p:nvSpPr>
          <p:cNvPr id="27" name="Text 22"/>
          <p:cNvSpPr txBox="1"/>
          <p:nvPr/>
        </p:nvSpPr>
        <p:spPr>
          <a:xfrm>
            <a:off x="9098280"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Shape 23"/>
          <p:cNvSpPr/>
          <p:nvPr/>
        </p:nvSpPr>
        <p:spPr>
          <a:xfrm>
            <a:off x="9811512" y="2651760"/>
            <a:ext cx="658368" cy="658368"/>
          </a:xfrm>
          <a:prstGeom prst="ellipse">
            <a:avLst/>
          </a:prstGeom>
          <a:solidFill>
            <a:srgbClr val="1F3D2E"/>
          </a:solidFill>
          <a:ln/>
        </p:spPr>
      </p:sp>
      <p:pic>
        <p:nvPicPr>
          <p:cNvPr id="29" name="Image 3" descr="C:\Users\sohan\AppData\Local\Temp\claude\D--CEPDT-3D-model\6251275b-f963-4380-baeb-f7faaa89ac3b\scratchpad\deck\icons\FiMonitor.png"/>
          <p:cNvPicPr>
            <a:picLocks noChangeAspect="1"/>
          </p:cNvPicPr>
          <p:nvPr/>
        </p:nvPicPr>
        <p:blipFill>
          <a:blip r:embed="rId6"/>
          <a:stretch>
            <a:fillRect/>
          </a:stretch>
        </p:blipFill>
        <p:spPr>
          <a:xfrm>
            <a:off x="9969520" y="2809768"/>
            <a:ext cx="342351" cy="342351"/>
          </a:xfrm>
          <a:prstGeom prst="rect">
            <a:avLst/>
          </a:prstGeom>
        </p:spPr>
      </p:pic>
      <p:sp>
        <p:nvSpPr>
          <p:cNvPr id="30" name="Text 24"/>
          <p:cNvSpPr txBox="1"/>
          <p:nvPr/>
        </p:nvSpPr>
        <p:spPr>
          <a:xfrm>
            <a:off x="9006840" y="3474720"/>
            <a:ext cx="2267712" cy="365760"/>
          </a:xfrm>
          <a:prstGeom prst="rect">
            <a:avLst/>
          </a:prstGeom>
          <a:noFill/>
          <a:ln/>
        </p:spPr>
        <p:txBody>
          <a:bodyPr wrap="square" lIns="0" tIns="0" rIns="0" bIns="0" rtlCol="0" anchor="ctr"/>
          <a:lstStyle/>
          <a:p>
            <a:pPr marL="0" indent="0" algn="ctr">
              <a:buNone/>
            </a:pPr>
            <a:r>
              <a:rPr lang="en-US" sz="1500" b="1" dirty="0">
                <a:solidFill>
                  <a:srgbClr val="1F3D2E"/>
                </a:solidFill>
                <a:latin typeface="Calibri" pitchFamily="34" charset="0"/>
                <a:ea typeface="Calibri" pitchFamily="34" charset="-122"/>
                <a:cs typeface="Calibri" pitchFamily="34" charset="-120"/>
              </a:rPr>
              <a:t>Display</a:t>
            </a:r>
            <a:endParaRPr lang="en-US" sz="1500" dirty="0"/>
          </a:p>
        </p:txBody>
      </p:sp>
      <p:sp>
        <p:nvSpPr>
          <p:cNvPr id="31" name="Text 25"/>
          <p:cNvSpPr txBox="1"/>
          <p:nvPr/>
        </p:nvSpPr>
        <p:spPr>
          <a:xfrm>
            <a:off x="9070848" y="3886200"/>
            <a:ext cx="2139696" cy="1600200"/>
          </a:xfrm>
          <a:prstGeom prst="rect">
            <a:avLst/>
          </a:prstGeom>
          <a:noFill/>
          <a:ln/>
        </p:spPr>
        <p:txBody>
          <a:bodyPr wrap="square" lIns="0" tIns="0" rIns="0" bIns="0" rtlCol="0" anchor="t"/>
          <a:lstStyle/>
          <a:p>
            <a:pPr marL="0" indent="0">
              <a:buNone/>
            </a:pPr>
            <a:r>
              <a:rPr lang="en-US" sz="1100" dirty="0">
                <a:solidFill>
                  <a:srgbClr val="58655C"/>
                </a:solidFill>
                <a:latin typeface="Calibri" pitchFamily="34" charset="0"/>
                <a:ea typeface="Calibri" pitchFamily="34" charset="-122"/>
                <a:cs typeface="Calibri" pitchFamily="34" charset="-120"/>
              </a:rPr>
              <a:t>Moisture, temperature and system state are pushed to the 16×2 LCD in real time.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D2E"/>
        </a:solidFill>
        <a:effectLst/>
      </p:bgPr>
    </p:bg>
    <p:spTree>
      <p:nvGrpSpPr>
        <p:cNvPr id="1" name=""/>
        <p:cNvGrpSpPr/>
        <p:nvPr/>
      </p:nvGrpSpPr>
      <p:grpSpPr>
        <a:xfrm>
          <a:off x="0" y="0"/>
          <a:ext cx="0" cy="0"/>
          <a:chOff x="0" y="0"/>
          <a:chExt cx="0" cy="0"/>
        </a:xfrm>
      </p:grpSpPr>
      <p:sp>
        <p:nvSpPr>
          <p:cNvPr id="2" name="Shape 0"/>
          <p:cNvSpPr/>
          <p:nvPr/>
        </p:nvSpPr>
        <p:spPr>
          <a:xfrm>
            <a:off x="822960" y="1051560"/>
            <a:ext cx="914400" cy="914400"/>
          </a:xfrm>
          <a:prstGeom prst="ellipse">
            <a:avLst/>
          </a:prstGeom>
          <a:solidFill>
            <a:srgbClr val="E8A33D"/>
          </a:solidFill>
          <a:ln/>
        </p:spPr>
      </p:sp>
      <p:pic>
        <p:nvPicPr>
          <p:cNvPr id="3" name="Image 0" descr="C:\Users\sohan\AppData\Local\Temp\claude\D--CEPDT-3D-model\6251275b-f963-4380-baeb-f7faaa89ac3b\scratchpad\deck\icons\dark\FiBox.png"/>
          <p:cNvPicPr>
            <a:picLocks noChangeAspect="1"/>
          </p:cNvPicPr>
          <p:nvPr/>
        </p:nvPicPr>
        <p:blipFill>
          <a:blip r:embed="rId3"/>
          <a:stretch>
            <a:fillRect/>
          </a:stretch>
        </p:blipFill>
        <p:spPr>
          <a:xfrm>
            <a:off x="1042416" y="1271016"/>
            <a:ext cx="475488" cy="475488"/>
          </a:xfrm>
          <a:prstGeom prst="rect">
            <a:avLst/>
          </a:prstGeom>
        </p:spPr>
      </p:pic>
      <p:sp>
        <p:nvSpPr>
          <p:cNvPr id="4" name="Text 1"/>
          <p:cNvSpPr txBox="1"/>
          <p:nvPr/>
        </p:nvSpPr>
        <p:spPr>
          <a:xfrm>
            <a:off x="822960" y="2331720"/>
            <a:ext cx="5486400" cy="365760"/>
          </a:xfrm>
          <a:prstGeom prst="rect">
            <a:avLst/>
          </a:prstGeom>
          <a:noFill/>
          <a:ln/>
        </p:spPr>
        <p:txBody>
          <a:bodyPr wrap="square" lIns="0" tIns="0" rIns="0" bIns="0" rtlCol="0" anchor="ctr"/>
          <a:lstStyle/>
          <a:p>
            <a:pPr marL="0" indent="0">
              <a:buNone/>
            </a:pPr>
            <a:r>
              <a:rPr lang="en-US" sz="1300" b="1" kern="0" spc="250" dirty="0">
                <a:solidFill>
                  <a:srgbClr val="E8A33D"/>
                </a:solidFill>
                <a:latin typeface="Calibri" pitchFamily="34" charset="0"/>
                <a:ea typeface="Calibri" pitchFamily="34" charset="-122"/>
                <a:cs typeface="Calibri" pitchFamily="34" charset="-120"/>
              </a:rPr>
              <a:t>PART TWO</a:t>
            </a:r>
            <a:endParaRPr lang="en-US" sz="1300" dirty="0"/>
          </a:p>
        </p:txBody>
      </p:sp>
      <p:sp>
        <p:nvSpPr>
          <p:cNvPr id="5" name="Text 2"/>
          <p:cNvSpPr txBox="1"/>
          <p:nvPr/>
        </p:nvSpPr>
        <p:spPr>
          <a:xfrm>
            <a:off x="777240" y="2724912"/>
            <a:ext cx="100584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 3D Digital Twin, Built in Three.js</a:t>
            </a:r>
            <a:endParaRPr lang="en-US" sz="3800" dirty="0"/>
          </a:p>
        </p:txBody>
      </p:sp>
      <p:sp>
        <p:nvSpPr>
          <p:cNvPr id="6" name="Text 3"/>
          <p:cNvSpPr txBox="1"/>
          <p:nvPr/>
        </p:nvSpPr>
        <p:spPr>
          <a:xfrm>
            <a:off x="822960" y="3611880"/>
            <a:ext cx="9144000" cy="548640"/>
          </a:xfrm>
          <a:prstGeom prst="rect">
            <a:avLst/>
          </a:prstGeom>
          <a:noFill/>
          <a:ln/>
        </p:spPr>
        <p:txBody>
          <a:bodyPr wrap="square" lIns="0" tIns="0" rIns="0" bIns="0" rtlCol="0" anchor="ctr"/>
          <a:lstStyle/>
          <a:p>
            <a:pPr marL="0" indent="0">
              <a:buNone/>
            </a:pPr>
            <a:r>
              <a:rPr lang="en-US" sz="1600" i="1" dirty="0">
                <a:solidFill>
                  <a:srgbClr val="B9D0C4"/>
                </a:solidFill>
                <a:latin typeface="Calibri" pitchFamily="34" charset="0"/>
                <a:ea typeface="Calibri" pitchFamily="34" charset="-122"/>
                <a:cs typeface="Calibri" pitchFamily="34" charset="-120"/>
              </a:rPr>
              <a:t>The same irrigation logic, reimagined as an explorable, real-time farm scene in the browser.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D2E"/>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Inside the Scene</a:t>
            </a:r>
            <a:endParaRPr lang="en-US" sz="3200" dirty="0"/>
          </a:p>
        </p:txBody>
      </p:sp>
      <p:sp>
        <p:nvSpPr>
          <p:cNvPr id="3" name="Text 1"/>
          <p:cNvSpPr txBox="1"/>
          <p:nvPr/>
        </p:nvSpPr>
        <p:spPr>
          <a:xfrm>
            <a:off x="640080" y="960120"/>
            <a:ext cx="10332720" cy="548640"/>
          </a:xfrm>
          <a:prstGeom prst="rect">
            <a:avLst/>
          </a:prstGeom>
          <a:noFill/>
          <a:ln/>
        </p:spPr>
        <p:txBody>
          <a:bodyPr wrap="square" lIns="0" tIns="0" rIns="0" bIns="0" rtlCol="0" anchor="ctr"/>
          <a:lstStyle/>
          <a:p>
            <a:pPr marL="0" indent="0">
              <a:buNone/>
            </a:pPr>
            <a:r>
              <a:rPr lang="en-US" sz="1350" dirty="0">
                <a:solidFill>
                  <a:srgbClr val="B9D0C4"/>
                </a:solidFill>
                <a:latin typeface="Calibri" pitchFamily="34" charset="0"/>
                <a:ea typeface="Calibri" pitchFamily="34" charset="-122"/>
                <a:cs typeface="Calibri" pitchFamily="34" charset="-120"/>
              </a:rPr>
              <a:t>A procedurally-textured farm — sky, soil, crops and machinery — rendered live with WebGL, zero external image assets.</a:t>
            </a:r>
            <a:endParaRPr lang="en-US" sz="1350" dirty="0"/>
          </a:p>
        </p:txBody>
      </p:sp>
      <p:sp>
        <p:nvSpPr>
          <p:cNvPr id="4" name="Shape 2"/>
          <p:cNvSpPr/>
          <p:nvPr/>
        </p:nvSpPr>
        <p:spPr>
          <a:xfrm>
            <a:off x="640080" y="1737360"/>
            <a:ext cx="3452774" cy="1920240"/>
          </a:xfrm>
          <a:prstGeom prst="roundRect">
            <a:avLst>
              <a:gd name="adj" fmla="val 5714"/>
            </a:avLst>
          </a:prstGeom>
          <a:solidFill>
            <a:srgbClr val="294B3D"/>
          </a:solidFill>
          <a:ln/>
        </p:spPr>
      </p:sp>
      <p:sp>
        <p:nvSpPr>
          <p:cNvPr id="5" name="Shape 3"/>
          <p:cNvSpPr/>
          <p:nvPr/>
        </p:nvSpPr>
        <p:spPr>
          <a:xfrm>
            <a:off x="868680" y="1965960"/>
            <a:ext cx="502920" cy="502920"/>
          </a:xfrm>
          <a:prstGeom prst="ellipse">
            <a:avLst/>
          </a:prstGeom>
          <a:solidFill>
            <a:srgbClr val="E8A33D"/>
          </a:solidFill>
          <a:ln/>
        </p:spPr>
      </p:sp>
      <p:pic>
        <p:nvPicPr>
          <p:cNvPr id="6" name="Image 0" descr="C:\Users\sohan\AppData\Local\Temp\claude\D--CEPDT-3D-model\6251275b-f963-4380-baeb-f7faaa89ac3b\scratchpad\deck\icons\dark\FiCloudRain.png"/>
          <p:cNvPicPr>
            <a:picLocks noChangeAspect="1"/>
          </p:cNvPicPr>
          <p:nvPr/>
        </p:nvPicPr>
        <p:blipFill>
          <a:blip r:embed="rId3"/>
          <a:stretch>
            <a:fillRect/>
          </a:stretch>
        </p:blipFill>
        <p:spPr>
          <a:xfrm>
            <a:off x="989381" y="2086661"/>
            <a:ext cx="261518" cy="261518"/>
          </a:xfrm>
          <a:prstGeom prst="rect">
            <a:avLst/>
          </a:prstGeom>
        </p:spPr>
      </p:pic>
      <p:sp>
        <p:nvSpPr>
          <p:cNvPr id="7" name="Text 4"/>
          <p:cNvSpPr txBox="1"/>
          <p:nvPr/>
        </p:nvSpPr>
        <p:spPr>
          <a:xfrm>
            <a:off x="868680" y="2606040"/>
            <a:ext cx="2995574"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Sky &amp; Weather</a:t>
            </a:r>
            <a:endParaRPr lang="en-US" sz="1400" dirty="0"/>
          </a:p>
        </p:txBody>
      </p:sp>
      <p:sp>
        <p:nvSpPr>
          <p:cNvPr id="8" name="Text 5"/>
          <p:cNvSpPr txBox="1"/>
          <p:nvPr/>
        </p:nvSpPr>
        <p:spPr>
          <a:xfrm>
            <a:off x="868680" y="2971800"/>
            <a:ext cx="2995574" cy="594360"/>
          </a:xfrm>
          <a:prstGeom prst="rect">
            <a:avLst/>
          </a:prstGeom>
          <a:noFill/>
          <a:ln/>
        </p:spPr>
        <p:txBody>
          <a:bodyPr wrap="square" lIns="0" tIns="0" rIns="0" bIns="0" rtlCol="0" anchor="t"/>
          <a:lstStyle/>
          <a:p>
            <a:pPr marL="0" indent="0">
              <a:buNone/>
            </a:pPr>
            <a:r>
              <a:rPr lang="en-US" sz="1050" dirty="0">
                <a:solidFill>
                  <a:srgbClr val="B9D0C4"/>
                </a:solidFill>
                <a:latin typeface="Calibri" pitchFamily="34" charset="0"/>
                <a:ea typeface="Calibri" pitchFamily="34" charset="-122"/>
                <a:cs typeface="Calibri" pitchFamily="34" charset="-120"/>
              </a:rPr>
              <a:t>Dynamic sky dome with drifting clouds and a toggleable rain system.</a:t>
            </a:r>
            <a:endParaRPr lang="en-US" sz="1050" dirty="0"/>
          </a:p>
        </p:txBody>
      </p:sp>
      <p:sp>
        <p:nvSpPr>
          <p:cNvPr id="9" name="Shape 6"/>
          <p:cNvSpPr/>
          <p:nvPr/>
        </p:nvSpPr>
        <p:spPr>
          <a:xfrm>
            <a:off x="4367174" y="1737360"/>
            <a:ext cx="3452774" cy="1920240"/>
          </a:xfrm>
          <a:prstGeom prst="roundRect">
            <a:avLst>
              <a:gd name="adj" fmla="val 5714"/>
            </a:avLst>
          </a:prstGeom>
          <a:solidFill>
            <a:srgbClr val="294B3D"/>
          </a:solidFill>
          <a:ln/>
        </p:spPr>
      </p:sp>
      <p:sp>
        <p:nvSpPr>
          <p:cNvPr id="10" name="Shape 7"/>
          <p:cNvSpPr/>
          <p:nvPr/>
        </p:nvSpPr>
        <p:spPr>
          <a:xfrm>
            <a:off x="4595774" y="1965960"/>
            <a:ext cx="502920" cy="502920"/>
          </a:xfrm>
          <a:prstGeom prst="ellipse">
            <a:avLst/>
          </a:prstGeom>
          <a:solidFill>
            <a:srgbClr val="E8A33D"/>
          </a:solidFill>
          <a:ln/>
        </p:spPr>
      </p:sp>
      <p:pic>
        <p:nvPicPr>
          <p:cNvPr id="11" name="Image 1" descr="C:\Users\sohan\AppData\Local\Temp\claude\D--CEPDT-3D-model\6251275b-f963-4380-baeb-f7faaa89ac3b\scratchpad\deck\icons\dark\FiBox.png"/>
          <p:cNvPicPr>
            <a:picLocks noChangeAspect="1"/>
          </p:cNvPicPr>
          <p:nvPr/>
        </p:nvPicPr>
        <p:blipFill>
          <a:blip r:embed="rId4"/>
          <a:stretch>
            <a:fillRect/>
          </a:stretch>
        </p:blipFill>
        <p:spPr>
          <a:xfrm>
            <a:off x="4716475" y="2086661"/>
            <a:ext cx="261518" cy="261518"/>
          </a:xfrm>
          <a:prstGeom prst="rect">
            <a:avLst/>
          </a:prstGeom>
        </p:spPr>
      </p:pic>
      <p:sp>
        <p:nvSpPr>
          <p:cNvPr id="12" name="Text 8"/>
          <p:cNvSpPr txBox="1"/>
          <p:nvPr/>
        </p:nvSpPr>
        <p:spPr>
          <a:xfrm>
            <a:off x="4595774" y="2606040"/>
            <a:ext cx="2995574"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Water Tank &amp; Crops</a:t>
            </a:r>
            <a:endParaRPr lang="en-US" sz="1400" dirty="0"/>
          </a:p>
        </p:txBody>
      </p:sp>
      <p:sp>
        <p:nvSpPr>
          <p:cNvPr id="13" name="Text 9"/>
          <p:cNvSpPr txBox="1"/>
          <p:nvPr/>
        </p:nvSpPr>
        <p:spPr>
          <a:xfrm>
            <a:off x="4595774" y="2971800"/>
            <a:ext cx="2995574" cy="594360"/>
          </a:xfrm>
          <a:prstGeom prst="rect">
            <a:avLst/>
          </a:prstGeom>
          <a:noFill/>
          <a:ln/>
        </p:spPr>
        <p:txBody>
          <a:bodyPr wrap="square" lIns="0" tIns="0" rIns="0" bIns="0" rtlCol="0" anchor="t"/>
          <a:lstStyle/>
          <a:p>
            <a:pPr marL="0" indent="0">
              <a:buNone/>
            </a:pPr>
            <a:r>
              <a:rPr lang="en-US" sz="1050" dirty="0">
                <a:solidFill>
                  <a:srgbClr val="B9D0C4"/>
                </a:solidFill>
                <a:latin typeface="Calibri" pitchFamily="34" charset="0"/>
                <a:ea typeface="Calibri" pitchFamily="34" charset="-122"/>
                <a:cs typeface="Calibri" pitchFamily="34" charset="-120"/>
              </a:rPr>
              <a:t>A modeled tank, windmill, shed and planted crop beds fill out the farmstead.</a:t>
            </a:r>
            <a:endParaRPr lang="en-US" sz="1050" dirty="0"/>
          </a:p>
        </p:txBody>
      </p:sp>
      <p:sp>
        <p:nvSpPr>
          <p:cNvPr id="14" name="Shape 10"/>
          <p:cNvSpPr/>
          <p:nvPr/>
        </p:nvSpPr>
        <p:spPr>
          <a:xfrm>
            <a:off x="8094269" y="1737360"/>
            <a:ext cx="3452774" cy="1920240"/>
          </a:xfrm>
          <a:prstGeom prst="roundRect">
            <a:avLst>
              <a:gd name="adj" fmla="val 5714"/>
            </a:avLst>
          </a:prstGeom>
          <a:solidFill>
            <a:srgbClr val="294B3D"/>
          </a:solidFill>
          <a:ln/>
        </p:spPr>
      </p:sp>
      <p:sp>
        <p:nvSpPr>
          <p:cNvPr id="15" name="Shape 11"/>
          <p:cNvSpPr/>
          <p:nvPr/>
        </p:nvSpPr>
        <p:spPr>
          <a:xfrm>
            <a:off x="8322869" y="1965960"/>
            <a:ext cx="502920" cy="502920"/>
          </a:xfrm>
          <a:prstGeom prst="ellipse">
            <a:avLst/>
          </a:prstGeom>
          <a:solidFill>
            <a:srgbClr val="E8A33D"/>
          </a:solidFill>
          <a:ln/>
        </p:spPr>
      </p:sp>
      <p:pic>
        <p:nvPicPr>
          <p:cNvPr id="16" name="Image 2" descr="C:\Users\sohan\AppData\Local\Temp\claude\D--CEPDT-3D-model\6251275b-f963-4380-baeb-f7faaa89ac3b\scratchpad\deck\icons\dark\FiSliders.png"/>
          <p:cNvPicPr>
            <a:picLocks noChangeAspect="1"/>
          </p:cNvPicPr>
          <p:nvPr/>
        </p:nvPicPr>
        <p:blipFill>
          <a:blip r:embed="rId5"/>
          <a:stretch>
            <a:fillRect/>
          </a:stretch>
        </p:blipFill>
        <p:spPr>
          <a:xfrm>
            <a:off x="8443570" y="2086661"/>
            <a:ext cx="261518" cy="261518"/>
          </a:xfrm>
          <a:prstGeom prst="rect">
            <a:avLst/>
          </a:prstGeom>
        </p:spPr>
      </p:pic>
      <p:sp>
        <p:nvSpPr>
          <p:cNvPr id="17" name="Text 12"/>
          <p:cNvSpPr txBox="1"/>
          <p:nvPr/>
        </p:nvSpPr>
        <p:spPr>
          <a:xfrm>
            <a:off x="8322869" y="2606040"/>
            <a:ext cx="2995574"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Control Pad Dial</a:t>
            </a:r>
            <a:endParaRPr lang="en-US" sz="1400" dirty="0"/>
          </a:p>
        </p:txBody>
      </p:sp>
      <p:sp>
        <p:nvSpPr>
          <p:cNvPr id="18" name="Text 13"/>
          <p:cNvSpPr txBox="1"/>
          <p:nvPr/>
        </p:nvSpPr>
        <p:spPr>
          <a:xfrm>
            <a:off x="8322869" y="2971800"/>
            <a:ext cx="2995574" cy="594360"/>
          </a:xfrm>
          <a:prstGeom prst="rect">
            <a:avLst/>
          </a:prstGeom>
          <a:noFill/>
          <a:ln/>
        </p:spPr>
        <p:txBody>
          <a:bodyPr wrap="square" lIns="0" tIns="0" rIns="0" bIns="0" rtlCol="0" anchor="t"/>
          <a:lstStyle/>
          <a:p>
            <a:pPr marL="0" indent="0">
              <a:buNone/>
            </a:pPr>
            <a:r>
              <a:rPr lang="en-US" sz="1050" dirty="0">
                <a:solidFill>
                  <a:srgbClr val="B9D0C4"/>
                </a:solidFill>
                <a:latin typeface="Calibri" pitchFamily="34" charset="0"/>
                <a:ea typeface="Calibri" pitchFamily="34" charset="-122"/>
                <a:cs typeface="Calibri" pitchFamily="34" charset="-120"/>
              </a:rPr>
              <a:t>A draggable in-scene dial sets the moisture threshold, mirroring the potentiometer.</a:t>
            </a:r>
            <a:endParaRPr lang="en-US" sz="1050" dirty="0"/>
          </a:p>
        </p:txBody>
      </p:sp>
      <p:sp>
        <p:nvSpPr>
          <p:cNvPr id="19" name="Shape 14"/>
          <p:cNvSpPr/>
          <p:nvPr/>
        </p:nvSpPr>
        <p:spPr>
          <a:xfrm>
            <a:off x="640080" y="3886200"/>
            <a:ext cx="3452774" cy="1920240"/>
          </a:xfrm>
          <a:prstGeom prst="roundRect">
            <a:avLst>
              <a:gd name="adj" fmla="val 5714"/>
            </a:avLst>
          </a:prstGeom>
          <a:solidFill>
            <a:srgbClr val="294B3D"/>
          </a:solidFill>
          <a:ln/>
        </p:spPr>
      </p:sp>
      <p:sp>
        <p:nvSpPr>
          <p:cNvPr id="20" name="Shape 15"/>
          <p:cNvSpPr/>
          <p:nvPr/>
        </p:nvSpPr>
        <p:spPr>
          <a:xfrm>
            <a:off x="868680" y="4114800"/>
            <a:ext cx="502920" cy="502920"/>
          </a:xfrm>
          <a:prstGeom prst="ellipse">
            <a:avLst/>
          </a:prstGeom>
          <a:solidFill>
            <a:srgbClr val="E8A33D"/>
          </a:solidFill>
          <a:ln/>
        </p:spPr>
      </p:sp>
      <p:pic>
        <p:nvPicPr>
          <p:cNvPr id="21" name="Image 3" descr="C:\Users\sohan\AppData\Local\Temp\claude\D--CEPDT-3D-model\6251275b-f963-4380-baeb-f7faaa89ac3b\scratchpad\deck\icons\dark\FiActivity.png"/>
          <p:cNvPicPr>
            <a:picLocks noChangeAspect="1"/>
          </p:cNvPicPr>
          <p:nvPr/>
        </p:nvPicPr>
        <p:blipFill>
          <a:blip r:embed="rId6"/>
          <a:stretch>
            <a:fillRect/>
          </a:stretch>
        </p:blipFill>
        <p:spPr>
          <a:xfrm>
            <a:off x="989381" y="4235501"/>
            <a:ext cx="261518" cy="261518"/>
          </a:xfrm>
          <a:prstGeom prst="rect">
            <a:avLst/>
          </a:prstGeom>
        </p:spPr>
      </p:pic>
      <p:sp>
        <p:nvSpPr>
          <p:cNvPr id="22" name="Text 16"/>
          <p:cNvSpPr txBox="1"/>
          <p:nvPr/>
        </p:nvSpPr>
        <p:spPr>
          <a:xfrm>
            <a:off x="868680" y="4754880"/>
            <a:ext cx="2995574"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Live HUD</a:t>
            </a:r>
            <a:endParaRPr lang="en-US" sz="1400" dirty="0"/>
          </a:p>
        </p:txBody>
      </p:sp>
      <p:sp>
        <p:nvSpPr>
          <p:cNvPr id="23" name="Text 17"/>
          <p:cNvSpPr txBox="1"/>
          <p:nvPr/>
        </p:nvSpPr>
        <p:spPr>
          <a:xfrm>
            <a:off x="868680" y="5120640"/>
            <a:ext cx="2995574" cy="594360"/>
          </a:xfrm>
          <a:prstGeom prst="rect">
            <a:avLst/>
          </a:prstGeom>
          <a:noFill/>
          <a:ln/>
        </p:spPr>
        <p:txBody>
          <a:bodyPr wrap="square" lIns="0" tIns="0" rIns="0" bIns="0" rtlCol="0" anchor="t"/>
          <a:lstStyle/>
          <a:p>
            <a:pPr marL="0" indent="0">
              <a:buNone/>
            </a:pPr>
            <a:r>
              <a:rPr lang="en-US" sz="1050" dirty="0">
                <a:solidFill>
                  <a:srgbClr val="B9D0C4"/>
                </a:solidFill>
                <a:latin typeface="Calibri" pitchFamily="34" charset="0"/>
                <a:ea typeface="Calibri" pitchFamily="34" charset="-122"/>
                <a:cs typeface="Calibri" pitchFamily="34" charset="-120"/>
              </a:rPr>
              <a:t>Moisture, threshold, temperature, rain, tank and state, updated every frame.</a:t>
            </a:r>
            <a:endParaRPr lang="en-US" sz="1050" dirty="0"/>
          </a:p>
        </p:txBody>
      </p:sp>
      <p:sp>
        <p:nvSpPr>
          <p:cNvPr id="24" name="Shape 18"/>
          <p:cNvSpPr/>
          <p:nvPr/>
        </p:nvSpPr>
        <p:spPr>
          <a:xfrm>
            <a:off x="4367174" y="3886200"/>
            <a:ext cx="3452774" cy="1920240"/>
          </a:xfrm>
          <a:prstGeom prst="roundRect">
            <a:avLst>
              <a:gd name="adj" fmla="val 5714"/>
            </a:avLst>
          </a:prstGeom>
          <a:solidFill>
            <a:srgbClr val="294B3D"/>
          </a:solidFill>
          <a:ln/>
        </p:spPr>
      </p:sp>
      <p:sp>
        <p:nvSpPr>
          <p:cNvPr id="25" name="Shape 19"/>
          <p:cNvSpPr/>
          <p:nvPr/>
        </p:nvSpPr>
        <p:spPr>
          <a:xfrm>
            <a:off x="4595774" y="4114800"/>
            <a:ext cx="502920" cy="502920"/>
          </a:xfrm>
          <a:prstGeom prst="ellipse">
            <a:avLst/>
          </a:prstGeom>
          <a:solidFill>
            <a:srgbClr val="E8A33D"/>
          </a:solidFill>
          <a:ln/>
        </p:spPr>
      </p:sp>
      <p:pic>
        <p:nvPicPr>
          <p:cNvPr id="26" name="Image 4" descr="C:\Users\sohan\AppData\Local\Temp\claude\D--CEPDT-3D-model\6251275b-f963-4380-baeb-f7faaa89ac3b\scratchpad\deck\icons\dark\FiMoon.png"/>
          <p:cNvPicPr>
            <a:picLocks noChangeAspect="1"/>
          </p:cNvPicPr>
          <p:nvPr/>
        </p:nvPicPr>
        <p:blipFill>
          <a:blip r:embed="rId7"/>
          <a:stretch>
            <a:fillRect/>
          </a:stretch>
        </p:blipFill>
        <p:spPr>
          <a:xfrm>
            <a:off x="4716475" y="4235501"/>
            <a:ext cx="261518" cy="261518"/>
          </a:xfrm>
          <a:prstGeom prst="rect">
            <a:avLst/>
          </a:prstGeom>
        </p:spPr>
      </p:pic>
      <p:sp>
        <p:nvSpPr>
          <p:cNvPr id="27" name="Text 20"/>
          <p:cNvSpPr txBox="1"/>
          <p:nvPr/>
        </p:nvSpPr>
        <p:spPr>
          <a:xfrm>
            <a:off x="4595774" y="4754880"/>
            <a:ext cx="2995574"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Day / Night Cycle</a:t>
            </a:r>
            <a:endParaRPr lang="en-US" sz="1400" dirty="0"/>
          </a:p>
        </p:txBody>
      </p:sp>
      <p:sp>
        <p:nvSpPr>
          <p:cNvPr id="28" name="Text 21"/>
          <p:cNvSpPr txBox="1"/>
          <p:nvPr/>
        </p:nvSpPr>
        <p:spPr>
          <a:xfrm>
            <a:off x="4595774" y="5120640"/>
            <a:ext cx="2995574" cy="594360"/>
          </a:xfrm>
          <a:prstGeom prst="rect">
            <a:avLst/>
          </a:prstGeom>
          <a:noFill/>
          <a:ln/>
        </p:spPr>
        <p:txBody>
          <a:bodyPr wrap="square" lIns="0" tIns="0" rIns="0" bIns="0" rtlCol="0" anchor="t"/>
          <a:lstStyle/>
          <a:p>
            <a:pPr marL="0" indent="0">
              <a:buNone/>
            </a:pPr>
            <a:r>
              <a:rPr lang="en-US" sz="1050" dirty="0">
                <a:solidFill>
                  <a:srgbClr val="B9D0C4"/>
                </a:solidFill>
                <a:latin typeface="Calibri" pitchFamily="34" charset="0"/>
                <a:ea typeface="Calibri" pitchFamily="34" charset="-122"/>
                <a:cs typeface="Calibri" pitchFamily="34" charset="-120"/>
              </a:rPr>
              <a:t>Lighting, fog and sky tint shift smoothly between day and night.</a:t>
            </a:r>
            <a:endParaRPr lang="en-US" sz="1050" dirty="0"/>
          </a:p>
        </p:txBody>
      </p:sp>
      <p:sp>
        <p:nvSpPr>
          <p:cNvPr id="29" name="Shape 22"/>
          <p:cNvSpPr/>
          <p:nvPr/>
        </p:nvSpPr>
        <p:spPr>
          <a:xfrm>
            <a:off x="8094269" y="3886200"/>
            <a:ext cx="3452774" cy="1920240"/>
          </a:xfrm>
          <a:prstGeom prst="roundRect">
            <a:avLst>
              <a:gd name="adj" fmla="val 5714"/>
            </a:avLst>
          </a:prstGeom>
          <a:solidFill>
            <a:srgbClr val="294B3D"/>
          </a:solidFill>
          <a:ln/>
        </p:spPr>
      </p:sp>
      <p:sp>
        <p:nvSpPr>
          <p:cNvPr id="30" name="Shape 23"/>
          <p:cNvSpPr/>
          <p:nvPr/>
        </p:nvSpPr>
        <p:spPr>
          <a:xfrm>
            <a:off x="8322869" y="4114800"/>
            <a:ext cx="502920" cy="502920"/>
          </a:xfrm>
          <a:prstGeom prst="ellipse">
            <a:avLst/>
          </a:prstGeom>
          <a:solidFill>
            <a:srgbClr val="E8A33D"/>
          </a:solidFill>
          <a:ln/>
        </p:spPr>
      </p:sp>
      <p:pic>
        <p:nvPicPr>
          <p:cNvPr id="31" name="Image 5" descr="C:\Users\sohan\AppData\Local\Temp\claude\D--CEPDT-3D-model\6251275b-f963-4380-baeb-f7faaa89ac3b\scratchpad\deck\icons\dark\FiLayers.png"/>
          <p:cNvPicPr>
            <a:picLocks noChangeAspect="1"/>
          </p:cNvPicPr>
          <p:nvPr/>
        </p:nvPicPr>
        <p:blipFill>
          <a:blip r:embed="rId8"/>
          <a:stretch>
            <a:fillRect/>
          </a:stretch>
        </p:blipFill>
        <p:spPr>
          <a:xfrm>
            <a:off x="8443570" y="4235501"/>
            <a:ext cx="261518" cy="261518"/>
          </a:xfrm>
          <a:prstGeom prst="rect">
            <a:avLst/>
          </a:prstGeom>
        </p:spPr>
      </p:pic>
      <p:sp>
        <p:nvSpPr>
          <p:cNvPr id="32" name="Text 24"/>
          <p:cNvSpPr txBox="1"/>
          <p:nvPr/>
        </p:nvSpPr>
        <p:spPr>
          <a:xfrm>
            <a:off x="8322869" y="4754880"/>
            <a:ext cx="2995574"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Zero Image Assets</a:t>
            </a:r>
            <a:endParaRPr lang="en-US" sz="1400" dirty="0"/>
          </a:p>
        </p:txBody>
      </p:sp>
      <p:sp>
        <p:nvSpPr>
          <p:cNvPr id="33" name="Text 25"/>
          <p:cNvSpPr txBox="1"/>
          <p:nvPr/>
        </p:nvSpPr>
        <p:spPr>
          <a:xfrm>
            <a:off x="8322869" y="5120640"/>
            <a:ext cx="2995574" cy="594360"/>
          </a:xfrm>
          <a:prstGeom prst="rect">
            <a:avLst/>
          </a:prstGeom>
          <a:noFill/>
          <a:ln/>
        </p:spPr>
        <p:txBody>
          <a:bodyPr wrap="square" lIns="0" tIns="0" rIns="0" bIns="0" rtlCol="0" anchor="t"/>
          <a:lstStyle/>
          <a:p>
            <a:pPr marL="0" indent="0">
              <a:buNone/>
            </a:pPr>
            <a:r>
              <a:rPr lang="en-US" sz="1050" dirty="0">
                <a:solidFill>
                  <a:srgbClr val="B9D0C4"/>
                </a:solidFill>
                <a:latin typeface="Calibri" pitchFamily="34" charset="0"/>
                <a:ea typeface="Calibri" pitchFamily="34" charset="-122"/>
                <a:cs typeface="Calibri" pitchFamily="34" charset="-120"/>
              </a:rPr>
              <a:t>Grass, soil, concrete and wood textures are all generated on canvas at runtime.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5"/>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marL="0" indent="0">
              <a:buNone/>
            </a:pPr>
            <a:r>
              <a:rPr lang="en-US" sz="3200" b="1" dirty="0">
                <a:solidFill>
                  <a:srgbClr val="1F3D2E"/>
                </a:solidFill>
                <a:latin typeface="Cambria" pitchFamily="34" charset="0"/>
                <a:ea typeface="Cambria" pitchFamily="34" charset="-122"/>
                <a:cs typeface="Cambria" pitchFamily="34" charset="-120"/>
              </a:rPr>
              <a:t>Play With It</a:t>
            </a:r>
            <a:endParaRPr lang="en-US" sz="3200" dirty="0"/>
          </a:p>
        </p:txBody>
      </p:sp>
      <p:sp>
        <p:nvSpPr>
          <p:cNvPr id="3" name="Text 1"/>
          <p:cNvSpPr txBox="1"/>
          <p:nvPr/>
        </p:nvSpPr>
        <p:spPr>
          <a:xfrm>
            <a:off x="640080" y="960120"/>
            <a:ext cx="9601200" cy="457200"/>
          </a:xfrm>
          <a:prstGeom prst="rect">
            <a:avLst/>
          </a:prstGeom>
          <a:noFill/>
          <a:ln/>
        </p:spPr>
        <p:txBody>
          <a:bodyPr wrap="square" lIns="0" tIns="0" rIns="0" bIns="0" rtlCol="0" anchor="ctr"/>
          <a:lstStyle/>
          <a:p>
            <a:pPr marL="0" indent="0">
              <a:buNone/>
            </a:pPr>
            <a:r>
              <a:rPr lang="en-US" sz="1350" dirty="0">
                <a:solidFill>
                  <a:srgbClr val="58655C"/>
                </a:solidFill>
                <a:latin typeface="Calibri" pitchFamily="34" charset="0"/>
                <a:ea typeface="Calibri" pitchFamily="34" charset="-122"/>
                <a:cs typeface="Calibri" pitchFamily="34" charset="-120"/>
              </a:rPr>
              <a:t>The scene isn't just a render — it responds to input in real time.</a:t>
            </a:r>
            <a:endParaRPr lang="en-US" sz="1350" dirty="0"/>
          </a:p>
        </p:txBody>
      </p:sp>
      <p:sp>
        <p:nvSpPr>
          <p:cNvPr id="4" name="Shape 2"/>
          <p:cNvSpPr/>
          <p:nvPr/>
        </p:nvSpPr>
        <p:spPr>
          <a:xfrm>
            <a:off x="640080" y="1737360"/>
            <a:ext cx="3452774" cy="1920240"/>
          </a:xfrm>
          <a:prstGeom prst="roundRect">
            <a:avLst>
              <a:gd name="adj" fmla="val 5714"/>
            </a:avLst>
          </a:prstGeom>
          <a:solidFill>
            <a:srgbClr val="E9F0E9"/>
          </a:solidFill>
          <a:ln/>
          <a:effectLst>
            <a:outerShdw blurRad="101600" dist="38100" dir="5400000" algn="bl" rotWithShape="0">
              <a:srgbClr val="0B1710">
                <a:alpha val="18000"/>
              </a:srgbClr>
            </a:outerShdw>
          </a:effectLst>
        </p:spPr>
      </p:sp>
      <p:sp>
        <p:nvSpPr>
          <p:cNvPr id="5" name="Shape 3"/>
          <p:cNvSpPr/>
          <p:nvPr/>
        </p:nvSpPr>
        <p:spPr>
          <a:xfrm>
            <a:off x="868680" y="1965960"/>
            <a:ext cx="502920" cy="502920"/>
          </a:xfrm>
          <a:prstGeom prst="ellipse">
            <a:avLst/>
          </a:prstGeom>
          <a:solidFill>
            <a:srgbClr val="E8A33D"/>
          </a:solidFill>
          <a:ln/>
        </p:spPr>
      </p:sp>
      <p:pic>
        <p:nvPicPr>
          <p:cNvPr id="6" name="Image 0" descr="C:\Users\sohan\AppData\Local\Temp\claude\D--CEPDT-3D-model\6251275b-f963-4380-baeb-f7faaa89ac3b\scratchpad\deck\icons\dark\FiActivity.png"/>
          <p:cNvPicPr>
            <a:picLocks noChangeAspect="1"/>
          </p:cNvPicPr>
          <p:nvPr/>
        </p:nvPicPr>
        <p:blipFill>
          <a:blip r:embed="rId3"/>
          <a:stretch>
            <a:fillRect/>
          </a:stretch>
        </p:blipFill>
        <p:spPr>
          <a:xfrm>
            <a:off x="989381" y="2086661"/>
            <a:ext cx="261518" cy="261518"/>
          </a:xfrm>
          <a:prstGeom prst="rect">
            <a:avLst/>
          </a:prstGeom>
        </p:spPr>
      </p:pic>
      <p:sp>
        <p:nvSpPr>
          <p:cNvPr id="7" name="Text 4"/>
          <p:cNvSpPr txBox="1"/>
          <p:nvPr/>
        </p:nvSpPr>
        <p:spPr>
          <a:xfrm>
            <a:off x="868680" y="2606040"/>
            <a:ext cx="2995574" cy="365760"/>
          </a:xfrm>
          <a:prstGeom prst="rect">
            <a:avLst/>
          </a:prstGeom>
          <a:noFill/>
          <a:ln/>
        </p:spPr>
        <p:txBody>
          <a:bodyPr wrap="square" lIns="0" tIns="0" rIns="0" bIns="0" rtlCol="0" anchor="ctr"/>
          <a:lstStyle/>
          <a:p>
            <a:pPr marL="0" indent="0">
              <a:buNone/>
            </a:pPr>
            <a:r>
              <a:rPr lang="en-US" sz="1400" b="1" dirty="0">
                <a:solidFill>
                  <a:srgbClr val="1F3D2E"/>
                </a:solidFill>
                <a:latin typeface="Calibri" pitchFamily="34" charset="0"/>
                <a:ea typeface="Calibri" pitchFamily="34" charset="-122"/>
                <a:cs typeface="Calibri" pitchFamily="34" charset="-120"/>
              </a:rPr>
              <a:t>Live HUD Readout</a:t>
            </a:r>
            <a:endParaRPr lang="en-US" sz="1400" dirty="0"/>
          </a:p>
        </p:txBody>
      </p:sp>
      <p:sp>
        <p:nvSpPr>
          <p:cNvPr id="8" name="Text 5"/>
          <p:cNvSpPr txBox="1"/>
          <p:nvPr/>
        </p:nvSpPr>
        <p:spPr>
          <a:xfrm>
            <a:off x="868680" y="2971800"/>
            <a:ext cx="2995574" cy="594360"/>
          </a:xfrm>
          <a:prstGeom prst="rect">
            <a:avLst/>
          </a:prstGeom>
          <a:noFill/>
          <a:ln/>
        </p:spPr>
        <p:txBody>
          <a:bodyPr wrap="square" lIns="0" tIns="0" rIns="0" bIns="0" rtlCol="0" anchor="t"/>
          <a:lstStyle/>
          <a:p>
            <a:pPr marL="0" indent="0">
              <a:buNone/>
            </a:pPr>
            <a:r>
              <a:rPr lang="en-US" sz="1050" dirty="0">
                <a:solidFill>
                  <a:srgbClr val="58655C"/>
                </a:solidFill>
                <a:latin typeface="Calibri" pitchFamily="34" charset="0"/>
                <a:ea typeface="Calibri" pitchFamily="34" charset="-122"/>
                <a:cs typeface="Calibri" pitchFamily="34" charset="-120"/>
              </a:rPr>
              <a:t>Moisture, threshold, temp, rain, tank and state at a glance.</a:t>
            </a:r>
            <a:endParaRPr lang="en-US" sz="1050" dirty="0"/>
          </a:p>
        </p:txBody>
      </p:sp>
      <p:sp>
        <p:nvSpPr>
          <p:cNvPr id="9" name="Shape 6"/>
          <p:cNvSpPr/>
          <p:nvPr/>
        </p:nvSpPr>
        <p:spPr>
          <a:xfrm>
            <a:off x="4367174" y="1737360"/>
            <a:ext cx="3452774" cy="1920240"/>
          </a:xfrm>
          <a:prstGeom prst="roundRect">
            <a:avLst>
              <a:gd name="adj" fmla="val 5714"/>
            </a:avLst>
          </a:prstGeom>
          <a:solidFill>
            <a:srgbClr val="E9F0E9"/>
          </a:solidFill>
          <a:ln/>
          <a:effectLst>
            <a:outerShdw blurRad="101600" dist="38100" dir="5400000" algn="bl" rotWithShape="0">
              <a:srgbClr val="0B1710">
                <a:alpha val="18000"/>
              </a:srgbClr>
            </a:outerShdw>
          </a:effectLst>
        </p:spPr>
      </p:sp>
      <p:sp>
        <p:nvSpPr>
          <p:cNvPr id="10" name="Shape 7"/>
          <p:cNvSpPr/>
          <p:nvPr/>
        </p:nvSpPr>
        <p:spPr>
          <a:xfrm>
            <a:off x="4595774" y="1965960"/>
            <a:ext cx="502920" cy="502920"/>
          </a:xfrm>
          <a:prstGeom prst="ellipse">
            <a:avLst/>
          </a:prstGeom>
          <a:solidFill>
            <a:srgbClr val="E8A33D"/>
          </a:solidFill>
          <a:ln/>
        </p:spPr>
      </p:sp>
      <p:pic>
        <p:nvPicPr>
          <p:cNvPr id="11" name="Image 1" descr="C:\Users\sohan\AppData\Local\Temp\claude\D--CEPDT-3D-model\6251275b-f963-4380-baeb-f7faaa89ac3b\scratchpad\deck\icons\dark\FiSliders.png"/>
          <p:cNvPicPr>
            <a:picLocks noChangeAspect="1"/>
          </p:cNvPicPr>
          <p:nvPr/>
        </p:nvPicPr>
        <p:blipFill>
          <a:blip r:embed="rId4"/>
          <a:stretch>
            <a:fillRect/>
          </a:stretch>
        </p:blipFill>
        <p:spPr>
          <a:xfrm>
            <a:off x="4716475" y="2086661"/>
            <a:ext cx="261518" cy="261518"/>
          </a:xfrm>
          <a:prstGeom prst="rect">
            <a:avLst/>
          </a:prstGeom>
        </p:spPr>
      </p:pic>
      <p:sp>
        <p:nvSpPr>
          <p:cNvPr id="12" name="Text 8"/>
          <p:cNvSpPr txBox="1"/>
          <p:nvPr/>
        </p:nvSpPr>
        <p:spPr>
          <a:xfrm>
            <a:off x="4595774" y="2606040"/>
            <a:ext cx="2995574" cy="365760"/>
          </a:xfrm>
          <a:prstGeom prst="rect">
            <a:avLst/>
          </a:prstGeom>
          <a:noFill/>
          <a:ln/>
        </p:spPr>
        <p:txBody>
          <a:bodyPr wrap="square" lIns="0" tIns="0" rIns="0" bIns="0" rtlCol="0" anchor="ctr"/>
          <a:lstStyle/>
          <a:p>
            <a:pPr marL="0" indent="0">
              <a:buNone/>
            </a:pPr>
            <a:r>
              <a:rPr lang="en-US" sz="1400" b="1" dirty="0">
                <a:solidFill>
                  <a:srgbClr val="1F3D2E"/>
                </a:solidFill>
                <a:latin typeface="Calibri" pitchFamily="34" charset="0"/>
                <a:ea typeface="Calibri" pitchFamily="34" charset="-122"/>
                <a:cs typeface="Calibri" pitchFamily="34" charset="-120"/>
              </a:rPr>
              <a:t>Draggable Threshold Dial</a:t>
            </a:r>
            <a:endParaRPr lang="en-US" sz="1400" dirty="0"/>
          </a:p>
        </p:txBody>
      </p:sp>
      <p:sp>
        <p:nvSpPr>
          <p:cNvPr id="13" name="Text 9"/>
          <p:cNvSpPr txBox="1"/>
          <p:nvPr/>
        </p:nvSpPr>
        <p:spPr>
          <a:xfrm>
            <a:off x="4595774" y="2971800"/>
            <a:ext cx="2995574" cy="594360"/>
          </a:xfrm>
          <a:prstGeom prst="rect">
            <a:avLst/>
          </a:prstGeom>
          <a:noFill/>
          <a:ln/>
        </p:spPr>
        <p:txBody>
          <a:bodyPr wrap="square" lIns="0" tIns="0" rIns="0" bIns="0" rtlCol="0" anchor="t"/>
          <a:lstStyle/>
          <a:p>
            <a:pPr marL="0" indent="0">
              <a:buNone/>
            </a:pPr>
            <a:r>
              <a:rPr lang="en-US" sz="1050" dirty="0">
                <a:solidFill>
                  <a:srgbClr val="58655C"/>
                </a:solidFill>
                <a:latin typeface="Calibri" pitchFamily="34" charset="0"/>
                <a:ea typeface="Calibri" pitchFamily="34" charset="-122"/>
                <a:cs typeface="Calibri" pitchFamily="34" charset="-120"/>
              </a:rPr>
              <a:t>Grab the control-pad dial to retune the watering threshold live.</a:t>
            </a:r>
            <a:endParaRPr lang="en-US" sz="1050" dirty="0"/>
          </a:p>
        </p:txBody>
      </p:sp>
      <p:sp>
        <p:nvSpPr>
          <p:cNvPr id="14" name="Shape 10"/>
          <p:cNvSpPr/>
          <p:nvPr/>
        </p:nvSpPr>
        <p:spPr>
          <a:xfrm>
            <a:off x="8094269" y="1737360"/>
            <a:ext cx="3452774" cy="1920240"/>
          </a:xfrm>
          <a:prstGeom prst="roundRect">
            <a:avLst>
              <a:gd name="adj" fmla="val 5714"/>
            </a:avLst>
          </a:prstGeom>
          <a:solidFill>
            <a:srgbClr val="E9F0E9"/>
          </a:solidFill>
          <a:ln/>
          <a:effectLst>
            <a:outerShdw blurRad="101600" dist="38100" dir="5400000" algn="bl" rotWithShape="0">
              <a:srgbClr val="0B1710">
                <a:alpha val="18000"/>
              </a:srgbClr>
            </a:outerShdw>
          </a:effectLst>
        </p:spPr>
      </p:sp>
      <p:sp>
        <p:nvSpPr>
          <p:cNvPr id="15" name="Shape 11"/>
          <p:cNvSpPr/>
          <p:nvPr/>
        </p:nvSpPr>
        <p:spPr>
          <a:xfrm>
            <a:off x="8322869" y="1965960"/>
            <a:ext cx="502920" cy="502920"/>
          </a:xfrm>
          <a:prstGeom prst="ellipse">
            <a:avLst/>
          </a:prstGeom>
          <a:solidFill>
            <a:srgbClr val="E8A33D"/>
          </a:solidFill>
          <a:ln/>
        </p:spPr>
      </p:sp>
      <p:pic>
        <p:nvPicPr>
          <p:cNvPr id="16" name="Image 2" descr="C:\Users\sohan\AppData\Local\Temp\claude\D--CEPDT-3D-model\6251275b-f963-4380-baeb-f7faaa89ac3b\scratchpad\deck\icons\dark\FiSun.png"/>
          <p:cNvPicPr>
            <a:picLocks noChangeAspect="1"/>
          </p:cNvPicPr>
          <p:nvPr/>
        </p:nvPicPr>
        <p:blipFill>
          <a:blip r:embed="rId5"/>
          <a:stretch>
            <a:fillRect/>
          </a:stretch>
        </p:blipFill>
        <p:spPr>
          <a:xfrm>
            <a:off x="8443570" y="2086661"/>
            <a:ext cx="261518" cy="261518"/>
          </a:xfrm>
          <a:prstGeom prst="rect">
            <a:avLst/>
          </a:prstGeom>
        </p:spPr>
      </p:pic>
      <p:sp>
        <p:nvSpPr>
          <p:cNvPr id="17" name="Text 12"/>
          <p:cNvSpPr txBox="1"/>
          <p:nvPr/>
        </p:nvSpPr>
        <p:spPr>
          <a:xfrm>
            <a:off x="8322869" y="2606040"/>
            <a:ext cx="2995574" cy="365760"/>
          </a:xfrm>
          <a:prstGeom prst="rect">
            <a:avLst/>
          </a:prstGeom>
          <a:noFill/>
          <a:ln/>
        </p:spPr>
        <p:txBody>
          <a:bodyPr wrap="square" lIns="0" tIns="0" rIns="0" bIns="0" rtlCol="0" anchor="ctr"/>
          <a:lstStyle/>
          <a:p>
            <a:pPr marL="0" indent="0">
              <a:buNone/>
            </a:pPr>
            <a:r>
              <a:rPr lang="en-US" sz="1400" b="1" dirty="0">
                <a:solidFill>
                  <a:srgbClr val="1F3D2E"/>
                </a:solidFill>
                <a:latin typeface="Calibri" pitchFamily="34" charset="0"/>
                <a:ea typeface="Calibri" pitchFamily="34" charset="-122"/>
                <a:cs typeface="Calibri" pitchFamily="34" charset="-120"/>
              </a:rPr>
              <a:t>One-Click Dry Soil</a:t>
            </a:r>
            <a:endParaRPr lang="en-US" sz="1400" dirty="0"/>
          </a:p>
        </p:txBody>
      </p:sp>
      <p:sp>
        <p:nvSpPr>
          <p:cNvPr id="18" name="Text 13"/>
          <p:cNvSpPr txBox="1"/>
          <p:nvPr/>
        </p:nvSpPr>
        <p:spPr>
          <a:xfrm>
            <a:off x="8322869" y="2971800"/>
            <a:ext cx="2995574" cy="594360"/>
          </a:xfrm>
          <a:prstGeom prst="rect">
            <a:avLst/>
          </a:prstGeom>
          <a:noFill/>
          <a:ln/>
        </p:spPr>
        <p:txBody>
          <a:bodyPr wrap="square" lIns="0" tIns="0" rIns="0" bIns="0" rtlCol="0" anchor="t"/>
          <a:lstStyle/>
          <a:p>
            <a:pPr marL="0" indent="0">
              <a:buNone/>
            </a:pPr>
            <a:r>
              <a:rPr lang="en-US" sz="1050" dirty="0">
                <a:solidFill>
                  <a:srgbClr val="58655C"/>
                </a:solidFill>
                <a:latin typeface="Calibri" pitchFamily="34" charset="0"/>
                <a:ea typeface="Calibri" pitchFamily="34" charset="-122"/>
                <a:cs typeface="Calibri" pitchFamily="34" charset="-120"/>
              </a:rPr>
              <a:t>Trigger a dry-soil event instantly and watch the response cascade.</a:t>
            </a:r>
            <a:endParaRPr lang="en-US" sz="1050" dirty="0"/>
          </a:p>
        </p:txBody>
      </p:sp>
      <p:sp>
        <p:nvSpPr>
          <p:cNvPr id="19" name="Shape 14"/>
          <p:cNvSpPr/>
          <p:nvPr/>
        </p:nvSpPr>
        <p:spPr>
          <a:xfrm>
            <a:off x="640080" y="3886200"/>
            <a:ext cx="3452774" cy="1920240"/>
          </a:xfrm>
          <a:prstGeom prst="roundRect">
            <a:avLst>
              <a:gd name="adj" fmla="val 5714"/>
            </a:avLst>
          </a:prstGeom>
          <a:solidFill>
            <a:srgbClr val="E9F0E9"/>
          </a:solidFill>
          <a:ln/>
          <a:effectLst>
            <a:outerShdw blurRad="101600" dist="38100" dir="5400000" algn="bl" rotWithShape="0">
              <a:srgbClr val="0B1710">
                <a:alpha val="18000"/>
              </a:srgbClr>
            </a:outerShdw>
          </a:effectLst>
        </p:spPr>
      </p:sp>
      <p:sp>
        <p:nvSpPr>
          <p:cNvPr id="20" name="Shape 15"/>
          <p:cNvSpPr/>
          <p:nvPr/>
        </p:nvSpPr>
        <p:spPr>
          <a:xfrm>
            <a:off x="868680" y="4114800"/>
            <a:ext cx="502920" cy="502920"/>
          </a:xfrm>
          <a:prstGeom prst="ellipse">
            <a:avLst/>
          </a:prstGeom>
          <a:solidFill>
            <a:srgbClr val="E8A33D"/>
          </a:solidFill>
          <a:ln/>
        </p:spPr>
      </p:sp>
      <p:pic>
        <p:nvPicPr>
          <p:cNvPr id="21" name="Image 3" descr="C:\Users\sohan\AppData\Local\Temp\claude\D--CEPDT-3D-model\6251275b-f963-4380-baeb-f7faaa89ac3b\scratchpad\deck\icons\dark\FiCloudRain.png"/>
          <p:cNvPicPr>
            <a:picLocks noChangeAspect="1"/>
          </p:cNvPicPr>
          <p:nvPr/>
        </p:nvPicPr>
        <p:blipFill>
          <a:blip r:embed="rId6"/>
          <a:stretch>
            <a:fillRect/>
          </a:stretch>
        </p:blipFill>
        <p:spPr>
          <a:xfrm>
            <a:off x="989381" y="4235501"/>
            <a:ext cx="261518" cy="261518"/>
          </a:xfrm>
          <a:prstGeom prst="rect">
            <a:avLst/>
          </a:prstGeom>
        </p:spPr>
      </p:pic>
      <p:sp>
        <p:nvSpPr>
          <p:cNvPr id="22" name="Text 16"/>
          <p:cNvSpPr txBox="1"/>
          <p:nvPr/>
        </p:nvSpPr>
        <p:spPr>
          <a:xfrm>
            <a:off x="868680" y="4754880"/>
            <a:ext cx="2995574" cy="365760"/>
          </a:xfrm>
          <a:prstGeom prst="rect">
            <a:avLst/>
          </a:prstGeom>
          <a:noFill/>
          <a:ln/>
        </p:spPr>
        <p:txBody>
          <a:bodyPr wrap="square" lIns="0" tIns="0" rIns="0" bIns="0" rtlCol="0" anchor="ctr"/>
          <a:lstStyle/>
          <a:p>
            <a:pPr marL="0" indent="0">
              <a:buNone/>
            </a:pPr>
            <a:r>
              <a:rPr lang="en-US" sz="1400" b="1" dirty="0">
                <a:solidFill>
                  <a:srgbClr val="1F3D2E"/>
                </a:solidFill>
                <a:latin typeface="Calibri" pitchFamily="34" charset="0"/>
                <a:ea typeface="Calibri" pitchFamily="34" charset="-122"/>
                <a:cs typeface="Calibri" pitchFamily="34" charset="-120"/>
              </a:rPr>
              <a:t>Rain Trigger</a:t>
            </a:r>
            <a:endParaRPr lang="en-US" sz="1400" dirty="0"/>
          </a:p>
        </p:txBody>
      </p:sp>
      <p:sp>
        <p:nvSpPr>
          <p:cNvPr id="23" name="Text 17"/>
          <p:cNvSpPr txBox="1"/>
          <p:nvPr/>
        </p:nvSpPr>
        <p:spPr>
          <a:xfrm>
            <a:off x="868680" y="5120640"/>
            <a:ext cx="2995574" cy="594360"/>
          </a:xfrm>
          <a:prstGeom prst="rect">
            <a:avLst/>
          </a:prstGeom>
          <a:noFill/>
          <a:ln/>
        </p:spPr>
        <p:txBody>
          <a:bodyPr wrap="square" lIns="0" tIns="0" rIns="0" bIns="0" rtlCol="0" anchor="t"/>
          <a:lstStyle/>
          <a:p>
            <a:pPr marL="0" indent="0">
              <a:buNone/>
            </a:pPr>
            <a:r>
              <a:rPr lang="en-US" sz="1050" dirty="0">
                <a:solidFill>
                  <a:srgbClr val="58655C"/>
                </a:solidFill>
                <a:latin typeface="Calibri" pitchFamily="34" charset="0"/>
                <a:ea typeface="Calibri" pitchFamily="34" charset="-122"/>
                <a:cs typeface="Calibri" pitchFamily="34" charset="-120"/>
              </a:rPr>
              <a:t>Simulate rainfall and watch the tank and HUD react.</a:t>
            </a:r>
            <a:endParaRPr lang="en-US" sz="1050" dirty="0"/>
          </a:p>
        </p:txBody>
      </p:sp>
      <p:sp>
        <p:nvSpPr>
          <p:cNvPr id="24" name="Shape 18"/>
          <p:cNvSpPr/>
          <p:nvPr/>
        </p:nvSpPr>
        <p:spPr>
          <a:xfrm>
            <a:off x="4367174" y="3886200"/>
            <a:ext cx="3452774" cy="1920240"/>
          </a:xfrm>
          <a:prstGeom prst="roundRect">
            <a:avLst>
              <a:gd name="adj" fmla="val 5714"/>
            </a:avLst>
          </a:prstGeom>
          <a:solidFill>
            <a:srgbClr val="E9F0E9"/>
          </a:solidFill>
          <a:ln/>
          <a:effectLst>
            <a:outerShdw blurRad="101600" dist="38100" dir="5400000" algn="bl" rotWithShape="0">
              <a:srgbClr val="0B1710">
                <a:alpha val="18000"/>
              </a:srgbClr>
            </a:outerShdw>
          </a:effectLst>
        </p:spPr>
      </p:sp>
      <p:sp>
        <p:nvSpPr>
          <p:cNvPr id="25" name="Shape 19"/>
          <p:cNvSpPr/>
          <p:nvPr/>
        </p:nvSpPr>
        <p:spPr>
          <a:xfrm>
            <a:off x="4595774" y="4114800"/>
            <a:ext cx="502920" cy="502920"/>
          </a:xfrm>
          <a:prstGeom prst="ellipse">
            <a:avLst/>
          </a:prstGeom>
          <a:solidFill>
            <a:srgbClr val="E8A33D"/>
          </a:solidFill>
          <a:ln/>
        </p:spPr>
      </p:sp>
      <p:pic>
        <p:nvPicPr>
          <p:cNvPr id="26" name="Image 4" descr="C:\Users\sohan\AppData\Local\Temp\claude\D--CEPDT-3D-model\6251275b-f963-4380-baeb-f7faaa89ac3b\scratchpad\deck\icons\dark\FiMoon.png"/>
          <p:cNvPicPr>
            <a:picLocks noChangeAspect="1"/>
          </p:cNvPicPr>
          <p:nvPr/>
        </p:nvPicPr>
        <p:blipFill>
          <a:blip r:embed="rId7"/>
          <a:stretch>
            <a:fillRect/>
          </a:stretch>
        </p:blipFill>
        <p:spPr>
          <a:xfrm>
            <a:off x="4716475" y="4235501"/>
            <a:ext cx="261518" cy="261518"/>
          </a:xfrm>
          <a:prstGeom prst="rect">
            <a:avLst/>
          </a:prstGeom>
        </p:spPr>
      </p:pic>
      <p:sp>
        <p:nvSpPr>
          <p:cNvPr id="27" name="Text 20"/>
          <p:cNvSpPr txBox="1"/>
          <p:nvPr/>
        </p:nvSpPr>
        <p:spPr>
          <a:xfrm>
            <a:off x="4595774" y="4754880"/>
            <a:ext cx="2995574" cy="365760"/>
          </a:xfrm>
          <a:prstGeom prst="rect">
            <a:avLst/>
          </a:prstGeom>
          <a:noFill/>
          <a:ln/>
        </p:spPr>
        <p:txBody>
          <a:bodyPr wrap="square" lIns="0" tIns="0" rIns="0" bIns="0" rtlCol="0" anchor="ctr"/>
          <a:lstStyle/>
          <a:p>
            <a:pPr marL="0" indent="0">
              <a:buNone/>
            </a:pPr>
            <a:r>
              <a:rPr lang="en-US" sz="1400" b="1" dirty="0">
                <a:solidFill>
                  <a:srgbClr val="1F3D2E"/>
                </a:solidFill>
                <a:latin typeface="Calibri" pitchFamily="34" charset="0"/>
                <a:ea typeface="Calibri" pitchFamily="34" charset="-122"/>
                <a:cs typeface="Calibri" pitchFamily="34" charset="-120"/>
              </a:rPr>
              <a:t>Day / Night Toggle</a:t>
            </a:r>
            <a:endParaRPr lang="en-US" sz="1400" dirty="0"/>
          </a:p>
        </p:txBody>
      </p:sp>
      <p:sp>
        <p:nvSpPr>
          <p:cNvPr id="28" name="Text 21"/>
          <p:cNvSpPr txBox="1"/>
          <p:nvPr/>
        </p:nvSpPr>
        <p:spPr>
          <a:xfrm>
            <a:off x="4595774" y="5120640"/>
            <a:ext cx="2995574" cy="594360"/>
          </a:xfrm>
          <a:prstGeom prst="rect">
            <a:avLst/>
          </a:prstGeom>
          <a:noFill/>
          <a:ln/>
        </p:spPr>
        <p:txBody>
          <a:bodyPr wrap="square" lIns="0" tIns="0" rIns="0" bIns="0" rtlCol="0" anchor="t"/>
          <a:lstStyle/>
          <a:p>
            <a:pPr marL="0" indent="0">
              <a:buNone/>
            </a:pPr>
            <a:r>
              <a:rPr lang="en-US" sz="1050" dirty="0">
                <a:solidFill>
                  <a:srgbClr val="58655C"/>
                </a:solidFill>
                <a:latin typeface="Calibri" pitchFamily="34" charset="0"/>
                <a:ea typeface="Calibri" pitchFamily="34" charset="-122"/>
                <a:cs typeface="Calibri" pitchFamily="34" charset="-120"/>
              </a:rPr>
              <a:t>Switch lighting and mood with a single click.</a:t>
            </a:r>
            <a:endParaRPr lang="en-US" sz="1050" dirty="0"/>
          </a:p>
        </p:txBody>
      </p:sp>
      <p:sp>
        <p:nvSpPr>
          <p:cNvPr id="29" name="Shape 22"/>
          <p:cNvSpPr/>
          <p:nvPr/>
        </p:nvSpPr>
        <p:spPr>
          <a:xfrm>
            <a:off x="8094269" y="3886200"/>
            <a:ext cx="3452774" cy="1920240"/>
          </a:xfrm>
          <a:prstGeom prst="roundRect">
            <a:avLst>
              <a:gd name="adj" fmla="val 5714"/>
            </a:avLst>
          </a:prstGeom>
          <a:solidFill>
            <a:srgbClr val="E9F0E9"/>
          </a:solidFill>
          <a:ln/>
          <a:effectLst>
            <a:outerShdw blurRad="101600" dist="38100" dir="5400000" algn="bl" rotWithShape="0">
              <a:srgbClr val="0B1710">
                <a:alpha val="18000"/>
              </a:srgbClr>
            </a:outerShdw>
          </a:effectLst>
        </p:spPr>
      </p:sp>
      <p:sp>
        <p:nvSpPr>
          <p:cNvPr id="30" name="Shape 23"/>
          <p:cNvSpPr/>
          <p:nvPr/>
        </p:nvSpPr>
        <p:spPr>
          <a:xfrm>
            <a:off x="8322869" y="4114800"/>
            <a:ext cx="502920" cy="502920"/>
          </a:xfrm>
          <a:prstGeom prst="ellipse">
            <a:avLst/>
          </a:prstGeom>
          <a:solidFill>
            <a:srgbClr val="E8A33D"/>
          </a:solidFill>
          <a:ln/>
        </p:spPr>
      </p:sp>
      <p:pic>
        <p:nvPicPr>
          <p:cNvPr id="31" name="Image 5" descr="C:\Users\sohan\AppData\Local\Temp\claude\D--CEPDT-3D-model\6251275b-f963-4380-baeb-f7faaa89ac3b\scratchpad\deck\icons\dark\FiBox.png"/>
          <p:cNvPicPr>
            <a:picLocks noChangeAspect="1"/>
          </p:cNvPicPr>
          <p:nvPr/>
        </p:nvPicPr>
        <p:blipFill>
          <a:blip r:embed="rId8"/>
          <a:stretch>
            <a:fillRect/>
          </a:stretch>
        </p:blipFill>
        <p:spPr>
          <a:xfrm>
            <a:off x="8443570" y="4235501"/>
            <a:ext cx="261518" cy="261518"/>
          </a:xfrm>
          <a:prstGeom prst="rect">
            <a:avLst/>
          </a:prstGeom>
        </p:spPr>
      </p:pic>
      <p:sp>
        <p:nvSpPr>
          <p:cNvPr id="32" name="Text 24"/>
          <p:cNvSpPr txBox="1"/>
          <p:nvPr/>
        </p:nvSpPr>
        <p:spPr>
          <a:xfrm>
            <a:off x="8322869" y="4754880"/>
            <a:ext cx="2995574" cy="365760"/>
          </a:xfrm>
          <a:prstGeom prst="rect">
            <a:avLst/>
          </a:prstGeom>
          <a:noFill/>
          <a:ln/>
        </p:spPr>
        <p:txBody>
          <a:bodyPr wrap="square" lIns="0" tIns="0" rIns="0" bIns="0" rtlCol="0" anchor="ctr"/>
          <a:lstStyle/>
          <a:p>
            <a:pPr marL="0" indent="0">
              <a:buNone/>
            </a:pPr>
            <a:r>
              <a:rPr lang="en-US" sz="1400" b="1" dirty="0">
                <a:solidFill>
                  <a:srgbClr val="1F3D2E"/>
                </a:solidFill>
                <a:latin typeface="Calibri" pitchFamily="34" charset="0"/>
                <a:ea typeface="Calibri" pitchFamily="34" charset="-122"/>
                <a:cs typeface="Calibri" pitchFamily="34" charset="-120"/>
              </a:rPr>
              <a:t>Orbit &amp; Zoom</a:t>
            </a:r>
            <a:endParaRPr lang="en-US" sz="1400" dirty="0"/>
          </a:p>
        </p:txBody>
      </p:sp>
      <p:sp>
        <p:nvSpPr>
          <p:cNvPr id="33" name="Text 25"/>
          <p:cNvSpPr txBox="1"/>
          <p:nvPr/>
        </p:nvSpPr>
        <p:spPr>
          <a:xfrm>
            <a:off x="8322869" y="5120640"/>
            <a:ext cx="2995574" cy="594360"/>
          </a:xfrm>
          <a:prstGeom prst="rect">
            <a:avLst/>
          </a:prstGeom>
          <a:noFill/>
          <a:ln/>
        </p:spPr>
        <p:txBody>
          <a:bodyPr wrap="square" lIns="0" tIns="0" rIns="0" bIns="0" rtlCol="0" anchor="t"/>
          <a:lstStyle/>
          <a:p>
            <a:pPr marL="0" indent="0">
              <a:buNone/>
            </a:pPr>
            <a:r>
              <a:rPr lang="en-US" sz="1050" dirty="0">
                <a:solidFill>
                  <a:srgbClr val="58655C"/>
                </a:solidFill>
                <a:latin typeface="Calibri" pitchFamily="34" charset="0"/>
                <a:ea typeface="Calibri" pitchFamily="34" charset="-122"/>
                <a:cs typeface="Calibri" pitchFamily="34" charset="-120"/>
              </a:rPr>
              <a:t>Drag to orbit the camera, scroll to zoom through the farm.</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058400" cy="502920"/>
          </a:xfrm>
          <a:prstGeom prst="rect">
            <a:avLst/>
          </a:prstGeom>
          <a:noFill/>
        </p:spPr>
        <p:txBody>
          <a:bodyPr wrap="square" lIns="0" tIns="0" rIns="0" bIns="0" anchor="ctr">
            <a:spAutoFit/>
          </a:bodyPr>
          <a:lstStyle/>
          <a:p>
            <a:r>
              <a:rPr sz="3000" b="1">
                <a:solidFill>
                  <a:srgbClr val="1F3D2E"/>
                </a:solidFill>
                <a:latin typeface="Cambria"/>
              </a:rPr>
              <a:t>The Digital Twin in Action</a:t>
            </a:r>
          </a:p>
        </p:txBody>
      </p:sp>
      <p:sp>
        <p:nvSpPr>
          <p:cNvPr id="3" name="TextBox 2"/>
          <p:cNvSpPr txBox="1"/>
          <p:nvPr/>
        </p:nvSpPr>
        <p:spPr>
          <a:xfrm>
            <a:off x="640080" y="868680"/>
            <a:ext cx="10058400" cy="365760"/>
          </a:xfrm>
          <a:prstGeom prst="rect">
            <a:avLst/>
          </a:prstGeom>
          <a:noFill/>
        </p:spPr>
        <p:txBody>
          <a:bodyPr wrap="square" lIns="0" tIns="0" rIns="0" bIns="0" anchor="ctr">
            <a:spAutoFit/>
          </a:bodyPr>
          <a:lstStyle/>
          <a:p>
            <a:r>
              <a:rPr sz="1300" b="0">
                <a:solidFill>
                  <a:srgbClr val="58655C"/>
                </a:solidFill>
                <a:latin typeface="Calibri"/>
              </a:rPr>
              <a:t>Screenshots captured live from the Three.js scene running in the browser.</a:t>
            </a:r>
          </a:p>
        </p:txBody>
      </p:sp>
      <p:pic>
        <p:nvPicPr>
          <p:cNvPr id="4" name="Screenshot 1" descr="Farm view: soil moisture is above the threshold"/>
          <p:cNvPicPr>
            <a:picLocks noChangeAspect="1"/>
          </p:cNvPicPr>
          <p:nvPr/>
        </p:nvPicPr>
        <p:blipFill>
          <a:blip r:embed="rId3"/>
          <a:stretch>
            <a:fillRect/>
          </a:stretch>
        </p:blipFill>
        <p:spPr>
          <a:xfrm>
            <a:off x="640080" y="1600200"/>
            <a:ext cx="5303520" cy="2651760"/>
          </a:xfrm>
          <a:prstGeom prst="roundRect">
            <a:avLst>
              <a:gd name="adj" fmla="val 4500"/>
            </a:avLst>
          </a:prstGeom>
          <a:effectLst>
            <a:outerShdw blurRad="101600" dist="38100" dir="5400000" algn="bl" rotWithShape="0">
              <a:srgbClr val="0B1710">
                <a:alpha val="25000"/>
              </a:srgbClr>
            </a:outerShdw>
          </a:effectLst>
        </p:spPr>
      </p:pic>
      <p:sp>
        <p:nvSpPr>
          <p:cNvPr id="5" name="TextBox 4"/>
          <p:cNvSpPr txBox="1"/>
          <p:nvPr/>
        </p:nvSpPr>
        <p:spPr>
          <a:xfrm>
            <a:off x="640080" y="4526280"/>
            <a:ext cx="5303520" cy="228600"/>
          </a:xfrm>
          <a:prstGeom prst="rect">
            <a:avLst/>
          </a:prstGeom>
          <a:noFill/>
        </p:spPr>
        <p:txBody>
          <a:bodyPr wrap="square" lIns="0" tIns="0" rIns="0" bIns="0" anchor="t">
            <a:spAutoFit/>
          </a:bodyPr>
          <a:lstStyle/>
          <a:p>
            <a:r>
              <a:rPr sz="1100" b="1" spc="300">
                <a:solidFill>
                  <a:srgbClr val="B7791F"/>
                </a:solidFill>
                <a:latin typeface="Calibri"/>
              </a:rPr>
              <a:t>IDLE</a:t>
            </a:r>
          </a:p>
        </p:txBody>
      </p:sp>
      <p:sp>
        <p:nvSpPr>
          <p:cNvPr id="6" name="TextBox 5"/>
          <p:cNvSpPr txBox="1"/>
          <p:nvPr/>
        </p:nvSpPr>
        <p:spPr>
          <a:xfrm>
            <a:off x="640080" y="4800600"/>
            <a:ext cx="5303520" cy="365760"/>
          </a:xfrm>
          <a:prstGeom prst="rect">
            <a:avLst/>
          </a:prstGeom>
          <a:noFill/>
        </p:spPr>
        <p:txBody>
          <a:bodyPr wrap="square" lIns="0" tIns="0" rIns="0" bIns="0" anchor="t">
            <a:spAutoFit/>
          </a:bodyPr>
          <a:lstStyle/>
          <a:p>
            <a:r>
              <a:rPr sz="1700" b="1">
                <a:solidFill>
                  <a:srgbClr val="1F3D2E"/>
                </a:solidFill>
                <a:latin typeface="Cambria"/>
              </a:rPr>
              <a:t>Farm view: soil moisture is above the threshold</a:t>
            </a:r>
          </a:p>
        </p:txBody>
      </p:sp>
      <p:sp>
        <p:nvSpPr>
          <p:cNvPr id="7" name="TextBox 6"/>
          <p:cNvSpPr txBox="1"/>
          <p:nvPr/>
        </p:nvSpPr>
        <p:spPr>
          <a:xfrm>
            <a:off x="640080" y="5212080"/>
            <a:ext cx="5303520" cy="640080"/>
          </a:xfrm>
          <a:prstGeom prst="rect">
            <a:avLst/>
          </a:prstGeom>
          <a:noFill/>
        </p:spPr>
        <p:txBody>
          <a:bodyPr wrap="square" lIns="0" tIns="0" rIns="0" bIns="0" anchor="t">
            <a:spAutoFit/>
          </a:bodyPr>
          <a:lstStyle/>
          <a:p>
            <a:pPr>
              <a:lnSpc>
                <a:spcPct val="105000"/>
              </a:lnSpc>
            </a:pPr>
            <a:r>
              <a:rPr sz="1300" b="0">
                <a:solidFill>
                  <a:srgbClr val="58655C"/>
                </a:solidFill>
                <a:latin typeface="Calibri"/>
              </a:rPr>
              <a:t>The green status LED on the control box stays lit and the pump stays off while the soil is healthy.</a:t>
            </a:r>
          </a:p>
        </p:txBody>
      </p:sp>
      <p:pic>
        <p:nvPicPr>
          <p:cNvPr id="8" name="Screenshot 2" descr="Rain hold at night, with the live dashboard"/>
          <p:cNvPicPr>
            <a:picLocks noChangeAspect="1"/>
          </p:cNvPicPr>
          <p:nvPr/>
        </p:nvPicPr>
        <p:blipFill>
          <a:blip r:embed="rId4"/>
          <a:stretch>
            <a:fillRect/>
          </a:stretch>
        </p:blipFill>
        <p:spPr>
          <a:xfrm>
            <a:off x="6245352" y="1600200"/>
            <a:ext cx="5303520" cy="2651760"/>
          </a:xfrm>
          <a:prstGeom prst="roundRect">
            <a:avLst>
              <a:gd name="adj" fmla="val 4500"/>
            </a:avLst>
          </a:prstGeom>
          <a:effectLst>
            <a:outerShdw blurRad="101600" dist="38100" dir="5400000" algn="bl" rotWithShape="0">
              <a:srgbClr val="0B1710">
                <a:alpha val="25000"/>
              </a:srgbClr>
            </a:outerShdw>
          </a:effectLst>
        </p:spPr>
      </p:pic>
      <p:sp>
        <p:nvSpPr>
          <p:cNvPr id="9" name="TextBox 8"/>
          <p:cNvSpPr txBox="1"/>
          <p:nvPr/>
        </p:nvSpPr>
        <p:spPr>
          <a:xfrm>
            <a:off x="6245352" y="4526280"/>
            <a:ext cx="5303520" cy="228600"/>
          </a:xfrm>
          <a:prstGeom prst="rect">
            <a:avLst/>
          </a:prstGeom>
          <a:noFill/>
        </p:spPr>
        <p:txBody>
          <a:bodyPr wrap="square" lIns="0" tIns="0" rIns="0" bIns="0" anchor="t">
            <a:spAutoFit/>
          </a:bodyPr>
          <a:lstStyle/>
          <a:p>
            <a:r>
              <a:rPr sz="1100" b="1" spc="300">
                <a:solidFill>
                  <a:srgbClr val="B7791F"/>
                </a:solidFill>
                <a:latin typeface="Calibri"/>
              </a:rPr>
              <a:t>LIVE HUD</a:t>
            </a:r>
          </a:p>
        </p:txBody>
      </p:sp>
      <p:sp>
        <p:nvSpPr>
          <p:cNvPr id="10" name="TextBox 9"/>
          <p:cNvSpPr txBox="1"/>
          <p:nvPr/>
        </p:nvSpPr>
        <p:spPr>
          <a:xfrm>
            <a:off x="6245352" y="4800600"/>
            <a:ext cx="5303520" cy="365760"/>
          </a:xfrm>
          <a:prstGeom prst="rect">
            <a:avLst/>
          </a:prstGeom>
          <a:noFill/>
        </p:spPr>
        <p:txBody>
          <a:bodyPr wrap="square" lIns="0" tIns="0" rIns="0" bIns="0" anchor="t">
            <a:spAutoFit/>
          </a:bodyPr>
          <a:lstStyle/>
          <a:p>
            <a:r>
              <a:rPr sz="1700" b="1">
                <a:solidFill>
                  <a:srgbClr val="1F3D2E"/>
                </a:solidFill>
                <a:latin typeface="Cambria"/>
              </a:rPr>
              <a:t>Rain hold at night, with the live dashboard</a:t>
            </a:r>
          </a:p>
        </p:txBody>
      </p:sp>
      <p:sp>
        <p:nvSpPr>
          <p:cNvPr id="11" name="TextBox 10"/>
          <p:cNvSpPr txBox="1"/>
          <p:nvPr/>
        </p:nvSpPr>
        <p:spPr>
          <a:xfrm>
            <a:off x="6245352" y="5212080"/>
            <a:ext cx="5303520" cy="640080"/>
          </a:xfrm>
          <a:prstGeom prst="rect">
            <a:avLst/>
          </a:prstGeom>
          <a:noFill/>
        </p:spPr>
        <p:txBody>
          <a:bodyPr wrap="square" lIns="0" tIns="0" rIns="0" bIns="0" anchor="t">
            <a:spAutoFit/>
          </a:bodyPr>
          <a:lstStyle/>
          <a:p>
            <a:pPr>
              <a:lnSpc>
                <a:spcPct val="105000"/>
              </a:lnSpc>
            </a:pPr>
            <a:r>
              <a:rPr sz="1300" b="0">
                <a:solidFill>
                  <a:srgbClr val="58655C"/>
                </a:solidFill>
                <a:latin typeface="Calibri"/>
              </a:rPr>
              <a:t>Moisture 76%, threshold 40%, tank 94%: rain and night mode are on, so the system holds off pumping.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8F5"/>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marL="0" indent="0">
              <a:buNone/>
            </a:pPr>
            <a:r>
              <a:rPr lang="en-US" sz="3200" b="1" dirty="0">
                <a:solidFill>
                  <a:srgbClr val="1F3D2E"/>
                </a:solidFill>
                <a:latin typeface="Cambria" pitchFamily="34" charset="0"/>
                <a:ea typeface="Cambria" pitchFamily="34" charset="-122"/>
                <a:cs typeface="Cambria" pitchFamily="34" charset="-120"/>
              </a:rPr>
              <a:t>Two Builds, One System</a:t>
            </a:r>
            <a:endParaRPr lang="en-US" sz="3200" dirty="0"/>
          </a:p>
        </p:txBody>
      </p:sp>
      <p:sp>
        <p:nvSpPr>
          <p:cNvPr id="3" name="Text 1"/>
          <p:cNvSpPr txBox="1"/>
          <p:nvPr/>
        </p:nvSpPr>
        <p:spPr>
          <a:xfrm>
            <a:off x="640080" y="960120"/>
            <a:ext cx="9875520" cy="457200"/>
          </a:xfrm>
          <a:prstGeom prst="rect">
            <a:avLst/>
          </a:prstGeom>
          <a:noFill/>
          <a:ln/>
        </p:spPr>
        <p:txBody>
          <a:bodyPr wrap="square" lIns="0" tIns="0" rIns="0" bIns="0" rtlCol="0" anchor="ctr"/>
          <a:lstStyle/>
          <a:p>
            <a:pPr marL="0" indent="0">
              <a:buNone/>
            </a:pPr>
            <a:r>
              <a:rPr lang="en-US" sz="1350" dirty="0">
                <a:solidFill>
                  <a:srgbClr val="58655C"/>
                </a:solidFill>
                <a:latin typeface="Calibri" pitchFamily="34" charset="0"/>
                <a:ea typeface="Calibri" pitchFamily="34" charset="-122"/>
                <a:cs typeface="Calibri" pitchFamily="34" charset="-120"/>
              </a:rPr>
              <a:t>A physical prototype and a digital twin, both modeling the same irrigation logic.</a:t>
            </a:r>
            <a:endParaRPr lang="en-US" sz="1350" dirty="0"/>
          </a:p>
        </p:txBody>
      </p:sp>
      <p:sp>
        <p:nvSpPr>
          <p:cNvPr id="4" name="Shape 2"/>
          <p:cNvSpPr/>
          <p:nvPr/>
        </p:nvSpPr>
        <p:spPr>
          <a:xfrm>
            <a:off x="640080" y="1691640"/>
            <a:ext cx="5212080" cy="4251960"/>
          </a:xfrm>
          <a:prstGeom prst="roundRect">
            <a:avLst>
              <a:gd name="adj" fmla="val 2581"/>
            </a:avLst>
          </a:prstGeom>
          <a:solidFill>
            <a:srgbClr val="E9F0E9"/>
          </a:solidFill>
          <a:ln/>
          <a:effectLst>
            <a:outerShdw blurRad="101600" dist="38100" dir="5400000" algn="bl" rotWithShape="0">
              <a:srgbClr val="0B1710">
                <a:alpha val="18000"/>
              </a:srgbClr>
            </a:outerShdw>
          </a:effectLst>
        </p:spPr>
      </p:sp>
      <p:sp>
        <p:nvSpPr>
          <p:cNvPr id="5" name="Shape 3"/>
          <p:cNvSpPr/>
          <p:nvPr/>
        </p:nvSpPr>
        <p:spPr>
          <a:xfrm>
            <a:off x="914400" y="1965960"/>
            <a:ext cx="594360" cy="594360"/>
          </a:xfrm>
          <a:prstGeom prst="ellipse">
            <a:avLst/>
          </a:prstGeom>
          <a:solidFill>
            <a:srgbClr val="6B9080"/>
          </a:solidFill>
          <a:ln/>
        </p:spPr>
      </p:sp>
      <p:pic>
        <p:nvPicPr>
          <p:cNvPr id="6" name="Image 0" descr="C:\Users\sohan\AppData\Local\Temp\claude\D--CEPDT-3D-model\6251275b-f963-4380-baeb-f7faaa89ac3b\scratchpad\deck\icons\FiCpu.png"/>
          <p:cNvPicPr>
            <a:picLocks noChangeAspect="1"/>
          </p:cNvPicPr>
          <p:nvPr/>
        </p:nvPicPr>
        <p:blipFill>
          <a:blip r:embed="rId3"/>
          <a:stretch>
            <a:fillRect/>
          </a:stretch>
        </p:blipFill>
        <p:spPr>
          <a:xfrm>
            <a:off x="1057046" y="2108606"/>
            <a:ext cx="309067" cy="309067"/>
          </a:xfrm>
          <a:prstGeom prst="rect">
            <a:avLst/>
          </a:prstGeom>
        </p:spPr>
      </p:pic>
      <p:sp>
        <p:nvSpPr>
          <p:cNvPr id="7" name="Text 4"/>
          <p:cNvSpPr txBox="1"/>
          <p:nvPr/>
        </p:nvSpPr>
        <p:spPr>
          <a:xfrm>
            <a:off x="1645920" y="1965960"/>
            <a:ext cx="3931920" cy="365760"/>
          </a:xfrm>
          <a:prstGeom prst="rect">
            <a:avLst/>
          </a:prstGeom>
          <a:noFill/>
          <a:ln/>
        </p:spPr>
        <p:txBody>
          <a:bodyPr wrap="square" lIns="0" tIns="0" rIns="0" bIns="0" rtlCol="0" anchor="ctr"/>
          <a:lstStyle/>
          <a:p>
            <a:pPr marL="0" indent="0">
              <a:buNone/>
            </a:pPr>
            <a:r>
              <a:rPr lang="en-US" sz="1800" b="1" dirty="0">
                <a:solidFill>
                  <a:srgbClr val="1F3D2E"/>
                </a:solidFill>
                <a:latin typeface="Calibri" pitchFamily="34" charset="0"/>
                <a:ea typeface="Calibri" pitchFamily="34" charset="-122"/>
                <a:cs typeface="Calibri" pitchFamily="34" charset="-120"/>
              </a:rPr>
              <a:t>Physical Prototype</a:t>
            </a:r>
            <a:endParaRPr lang="en-US" sz="1800" dirty="0"/>
          </a:p>
        </p:txBody>
      </p:sp>
      <p:sp>
        <p:nvSpPr>
          <p:cNvPr id="8" name="Text 5"/>
          <p:cNvSpPr txBox="1"/>
          <p:nvPr/>
        </p:nvSpPr>
        <p:spPr>
          <a:xfrm>
            <a:off x="1645920" y="2313432"/>
            <a:ext cx="3931920" cy="274320"/>
          </a:xfrm>
          <a:prstGeom prst="rect">
            <a:avLst/>
          </a:prstGeom>
          <a:noFill/>
          <a:ln/>
        </p:spPr>
        <p:txBody>
          <a:bodyPr wrap="square" lIns="0" tIns="0" rIns="0" bIns="0" rtlCol="0" anchor="ctr"/>
          <a:lstStyle/>
          <a:p>
            <a:pPr marL="0" indent="0">
              <a:buNone/>
            </a:pPr>
            <a:r>
              <a:rPr lang="en-US" sz="1050" b="1" kern="0" spc="120" dirty="0">
                <a:solidFill>
                  <a:srgbClr val="E8A33D"/>
                </a:solidFill>
                <a:latin typeface="Calibri" pitchFamily="34" charset="0"/>
                <a:ea typeface="Calibri" pitchFamily="34" charset="-122"/>
                <a:cs typeface="Calibri" pitchFamily="34" charset="-120"/>
              </a:rPr>
              <a:t>TINKERCAD</a:t>
            </a:r>
            <a:endParaRPr lang="en-US" sz="1050" dirty="0"/>
          </a:p>
        </p:txBody>
      </p:sp>
      <p:sp>
        <p:nvSpPr>
          <p:cNvPr id="9" name="Shape 6"/>
          <p:cNvSpPr/>
          <p:nvPr/>
        </p:nvSpPr>
        <p:spPr>
          <a:xfrm>
            <a:off x="932688" y="2907792"/>
            <a:ext cx="100584" cy="100584"/>
          </a:xfrm>
          <a:prstGeom prst="ellipse">
            <a:avLst/>
          </a:prstGeom>
          <a:solidFill>
            <a:srgbClr val="6B9080"/>
          </a:solidFill>
          <a:ln/>
        </p:spPr>
      </p:sp>
      <p:sp>
        <p:nvSpPr>
          <p:cNvPr id="10" name="Text 7"/>
          <p:cNvSpPr txBox="1"/>
          <p:nvPr/>
        </p:nvSpPr>
        <p:spPr>
          <a:xfrm>
            <a:off x="1170432" y="2779776"/>
            <a:ext cx="4389120" cy="685800"/>
          </a:xfrm>
          <a:prstGeom prst="rect">
            <a:avLst/>
          </a:prstGeom>
          <a:noFill/>
          <a:ln/>
        </p:spPr>
        <p:txBody>
          <a:bodyPr wrap="square" lIns="0" tIns="0" rIns="0" bIns="0" rtlCol="0" anchor="t"/>
          <a:lstStyle/>
          <a:p>
            <a:pPr marL="0" indent="0">
              <a:buNone/>
            </a:pPr>
            <a:r>
              <a:rPr lang="en-US" sz="1150" dirty="0">
                <a:solidFill>
                  <a:srgbClr val="1F2A22"/>
                </a:solidFill>
                <a:latin typeface="Calibri" pitchFamily="34" charset="0"/>
                <a:ea typeface="Calibri" pitchFamily="34" charset="-122"/>
                <a:cs typeface="Calibri" pitchFamily="34" charset="-120"/>
              </a:rPr>
              <a:t>Real Arduino Uno C++ logic on breadboard-accurate wiring</a:t>
            </a:r>
            <a:endParaRPr lang="en-US" sz="1150" dirty="0"/>
          </a:p>
        </p:txBody>
      </p:sp>
      <p:sp>
        <p:nvSpPr>
          <p:cNvPr id="11" name="Shape 8"/>
          <p:cNvSpPr/>
          <p:nvPr/>
        </p:nvSpPr>
        <p:spPr>
          <a:xfrm>
            <a:off x="932688" y="3657600"/>
            <a:ext cx="100584" cy="100584"/>
          </a:xfrm>
          <a:prstGeom prst="ellipse">
            <a:avLst/>
          </a:prstGeom>
          <a:solidFill>
            <a:srgbClr val="6B9080"/>
          </a:solidFill>
          <a:ln/>
        </p:spPr>
      </p:sp>
      <p:sp>
        <p:nvSpPr>
          <p:cNvPr id="12" name="Text 9"/>
          <p:cNvSpPr txBox="1"/>
          <p:nvPr/>
        </p:nvSpPr>
        <p:spPr>
          <a:xfrm>
            <a:off x="1170432" y="3529584"/>
            <a:ext cx="4389120" cy="685800"/>
          </a:xfrm>
          <a:prstGeom prst="rect">
            <a:avLst/>
          </a:prstGeom>
          <a:noFill/>
          <a:ln/>
        </p:spPr>
        <p:txBody>
          <a:bodyPr wrap="square" lIns="0" tIns="0" rIns="0" bIns="0" rtlCol="0" anchor="t"/>
          <a:lstStyle/>
          <a:p>
            <a:pPr marL="0" indent="0">
              <a:buNone/>
            </a:pPr>
            <a:r>
              <a:rPr lang="en-US" sz="1150" dirty="0">
                <a:solidFill>
                  <a:srgbClr val="1F2A22"/>
                </a:solidFill>
                <a:latin typeface="Calibri" pitchFamily="34" charset="0"/>
                <a:ea typeface="Calibri" pitchFamily="34" charset="-122"/>
                <a:cs typeface="Calibri" pitchFamily="34" charset="-120"/>
              </a:rPr>
              <a:t>Validates sensor thresholds and component behavior before buying hardware</a:t>
            </a:r>
            <a:endParaRPr lang="en-US" sz="1150" dirty="0"/>
          </a:p>
        </p:txBody>
      </p:sp>
      <p:sp>
        <p:nvSpPr>
          <p:cNvPr id="13" name="Shape 10"/>
          <p:cNvSpPr/>
          <p:nvPr/>
        </p:nvSpPr>
        <p:spPr>
          <a:xfrm>
            <a:off x="932688" y="4407408"/>
            <a:ext cx="100584" cy="100584"/>
          </a:xfrm>
          <a:prstGeom prst="ellipse">
            <a:avLst/>
          </a:prstGeom>
          <a:solidFill>
            <a:srgbClr val="6B9080"/>
          </a:solidFill>
          <a:ln/>
        </p:spPr>
      </p:sp>
      <p:sp>
        <p:nvSpPr>
          <p:cNvPr id="14" name="Text 11"/>
          <p:cNvSpPr txBox="1"/>
          <p:nvPr/>
        </p:nvSpPr>
        <p:spPr>
          <a:xfrm>
            <a:off x="1170432" y="4279392"/>
            <a:ext cx="4389120" cy="685800"/>
          </a:xfrm>
          <a:prstGeom prst="rect">
            <a:avLst/>
          </a:prstGeom>
          <a:noFill/>
          <a:ln/>
        </p:spPr>
        <p:txBody>
          <a:bodyPr wrap="square" lIns="0" tIns="0" rIns="0" bIns="0" rtlCol="0" anchor="t"/>
          <a:lstStyle/>
          <a:p>
            <a:pPr marL="0" indent="0">
              <a:buNone/>
            </a:pPr>
            <a:r>
              <a:rPr lang="en-US" sz="1150" dirty="0">
                <a:solidFill>
                  <a:srgbClr val="1F2A22"/>
                </a:solidFill>
                <a:latin typeface="Calibri" pitchFamily="34" charset="0"/>
                <a:ea typeface="Calibri" pitchFamily="34" charset="-122"/>
                <a:cs typeface="Calibri" pitchFamily="34" charset="-120"/>
              </a:rPr>
              <a:t>LCD, buzzer and LED feedback exactly as it runs on real hardware</a:t>
            </a:r>
            <a:endParaRPr lang="en-US" sz="1150" dirty="0"/>
          </a:p>
        </p:txBody>
      </p:sp>
      <p:sp>
        <p:nvSpPr>
          <p:cNvPr id="15" name="Shape 12"/>
          <p:cNvSpPr/>
          <p:nvPr/>
        </p:nvSpPr>
        <p:spPr>
          <a:xfrm>
            <a:off x="932688" y="5157216"/>
            <a:ext cx="100584" cy="100584"/>
          </a:xfrm>
          <a:prstGeom prst="ellipse">
            <a:avLst/>
          </a:prstGeom>
          <a:solidFill>
            <a:srgbClr val="6B9080"/>
          </a:solidFill>
          <a:ln/>
        </p:spPr>
      </p:sp>
      <p:sp>
        <p:nvSpPr>
          <p:cNvPr id="16" name="Text 13"/>
          <p:cNvSpPr txBox="1"/>
          <p:nvPr/>
        </p:nvSpPr>
        <p:spPr>
          <a:xfrm>
            <a:off x="1170432" y="5029200"/>
            <a:ext cx="4389120" cy="685800"/>
          </a:xfrm>
          <a:prstGeom prst="rect">
            <a:avLst/>
          </a:prstGeom>
          <a:noFill/>
          <a:ln/>
        </p:spPr>
        <p:txBody>
          <a:bodyPr wrap="square" lIns="0" tIns="0" rIns="0" bIns="0" rtlCol="0" anchor="t"/>
          <a:lstStyle/>
          <a:p>
            <a:pPr marL="0" indent="0">
              <a:buNone/>
            </a:pPr>
            <a:r>
              <a:rPr lang="en-US" sz="1150" dirty="0">
                <a:solidFill>
                  <a:srgbClr val="1F2A22"/>
                </a:solidFill>
                <a:latin typeface="Calibri" pitchFamily="34" charset="0"/>
                <a:ea typeface="Calibri" pitchFamily="34" charset="-122"/>
                <a:cs typeface="Calibri" pitchFamily="34" charset="-120"/>
              </a:rPr>
              <a:t>Safe place to debug circuits, with zero risk of shorts</a:t>
            </a:r>
            <a:endParaRPr lang="en-US" sz="1150" dirty="0"/>
          </a:p>
        </p:txBody>
      </p:sp>
      <p:sp>
        <p:nvSpPr>
          <p:cNvPr id="17" name="Shape 14"/>
          <p:cNvSpPr/>
          <p:nvPr/>
        </p:nvSpPr>
        <p:spPr>
          <a:xfrm>
            <a:off x="6336792" y="1691640"/>
            <a:ext cx="5212080" cy="4251960"/>
          </a:xfrm>
          <a:prstGeom prst="roundRect">
            <a:avLst>
              <a:gd name="adj" fmla="val 2581"/>
            </a:avLst>
          </a:prstGeom>
          <a:solidFill>
            <a:srgbClr val="E9F0E9"/>
          </a:solidFill>
          <a:ln/>
          <a:effectLst>
            <a:outerShdw blurRad="101600" dist="38100" dir="5400000" algn="bl" rotWithShape="0">
              <a:srgbClr val="0B1710">
                <a:alpha val="18000"/>
              </a:srgbClr>
            </a:outerShdw>
          </a:effectLst>
        </p:spPr>
      </p:sp>
      <p:sp>
        <p:nvSpPr>
          <p:cNvPr id="18" name="Shape 15"/>
          <p:cNvSpPr/>
          <p:nvPr/>
        </p:nvSpPr>
        <p:spPr>
          <a:xfrm>
            <a:off x="6611112" y="1965960"/>
            <a:ext cx="594360" cy="594360"/>
          </a:xfrm>
          <a:prstGeom prst="ellipse">
            <a:avLst/>
          </a:prstGeom>
          <a:solidFill>
            <a:srgbClr val="E8A33D"/>
          </a:solidFill>
          <a:ln/>
        </p:spPr>
      </p:sp>
      <p:pic>
        <p:nvPicPr>
          <p:cNvPr id="19" name="Image 1" descr="C:\Users\sohan\AppData\Local\Temp\claude\D--CEPDT-3D-model\6251275b-f963-4380-baeb-f7faaa89ac3b\scratchpad\deck\icons\dark\FiBox.png"/>
          <p:cNvPicPr>
            <a:picLocks noChangeAspect="1"/>
          </p:cNvPicPr>
          <p:nvPr/>
        </p:nvPicPr>
        <p:blipFill>
          <a:blip r:embed="rId4"/>
          <a:stretch>
            <a:fillRect/>
          </a:stretch>
        </p:blipFill>
        <p:spPr>
          <a:xfrm>
            <a:off x="6753758" y="2108606"/>
            <a:ext cx="309067" cy="309067"/>
          </a:xfrm>
          <a:prstGeom prst="rect">
            <a:avLst/>
          </a:prstGeom>
        </p:spPr>
      </p:pic>
      <p:sp>
        <p:nvSpPr>
          <p:cNvPr id="20" name="Text 16"/>
          <p:cNvSpPr txBox="1"/>
          <p:nvPr/>
        </p:nvSpPr>
        <p:spPr>
          <a:xfrm>
            <a:off x="7342632" y="1965960"/>
            <a:ext cx="3931920" cy="365760"/>
          </a:xfrm>
          <a:prstGeom prst="rect">
            <a:avLst/>
          </a:prstGeom>
          <a:noFill/>
          <a:ln/>
        </p:spPr>
        <p:txBody>
          <a:bodyPr wrap="square" lIns="0" tIns="0" rIns="0" bIns="0" rtlCol="0" anchor="ctr"/>
          <a:lstStyle/>
          <a:p>
            <a:pPr marL="0" indent="0">
              <a:buNone/>
            </a:pPr>
            <a:r>
              <a:rPr lang="en-US" sz="1800" b="1" dirty="0">
                <a:solidFill>
                  <a:srgbClr val="1F3D2E"/>
                </a:solidFill>
                <a:latin typeface="Calibri" pitchFamily="34" charset="0"/>
                <a:ea typeface="Calibri" pitchFamily="34" charset="-122"/>
                <a:cs typeface="Calibri" pitchFamily="34" charset="-120"/>
              </a:rPr>
              <a:t>Digital Twin</a:t>
            </a:r>
            <a:endParaRPr lang="en-US" sz="1800" dirty="0"/>
          </a:p>
        </p:txBody>
      </p:sp>
      <p:sp>
        <p:nvSpPr>
          <p:cNvPr id="21" name="Text 17"/>
          <p:cNvSpPr txBox="1"/>
          <p:nvPr/>
        </p:nvSpPr>
        <p:spPr>
          <a:xfrm>
            <a:off x="7342632" y="2313432"/>
            <a:ext cx="3931920" cy="274320"/>
          </a:xfrm>
          <a:prstGeom prst="rect">
            <a:avLst/>
          </a:prstGeom>
          <a:noFill/>
          <a:ln/>
        </p:spPr>
        <p:txBody>
          <a:bodyPr wrap="square" lIns="0" tIns="0" rIns="0" bIns="0" rtlCol="0" anchor="ctr"/>
          <a:lstStyle/>
          <a:p>
            <a:pPr marL="0" indent="0">
              <a:buNone/>
            </a:pPr>
            <a:r>
              <a:rPr lang="en-US" sz="1050" b="1" kern="0" spc="120" dirty="0">
                <a:solidFill>
                  <a:srgbClr val="E8A33D"/>
                </a:solidFill>
                <a:latin typeface="Calibri" pitchFamily="34" charset="0"/>
                <a:ea typeface="Calibri" pitchFamily="34" charset="-122"/>
                <a:cs typeface="Calibri" pitchFamily="34" charset="-120"/>
              </a:rPr>
              <a:t>THREE.JS / WEBGL</a:t>
            </a:r>
            <a:endParaRPr lang="en-US" sz="1050" dirty="0"/>
          </a:p>
        </p:txBody>
      </p:sp>
      <p:sp>
        <p:nvSpPr>
          <p:cNvPr id="22" name="Shape 18"/>
          <p:cNvSpPr/>
          <p:nvPr/>
        </p:nvSpPr>
        <p:spPr>
          <a:xfrm>
            <a:off x="6629400" y="2907792"/>
            <a:ext cx="100584" cy="100584"/>
          </a:xfrm>
          <a:prstGeom prst="ellipse">
            <a:avLst/>
          </a:prstGeom>
          <a:solidFill>
            <a:srgbClr val="6B9080"/>
          </a:solidFill>
          <a:ln/>
        </p:spPr>
      </p:sp>
      <p:sp>
        <p:nvSpPr>
          <p:cNvPr id="23" name="Text 19"/>
          <p:cNvSpPr txBox="1"/>
          <p:nvPr/>
        </p:nvSpPr>
        <p:spPr>
          <a:xfrm>
            <a:off x="6867144" y="2779776"/>
            <a:ext cx="4389120" cy="685800"/>
          </a:xfrm>
          <a:prstGeom prst="rect">
            <a:avLst/>
          </a:prstGeom>
          <a:noFill/>
          <a:ln/>
        </p:spPr>
        <p:txBody>
          <a:bodyPr wrap="square" lIns="0" tIns="0" rIns="0" bIns="0" rtlCol="0" anchor="t"/>
          <a:lstStyle/>
          <a:p>
            <a:pPr marL="0" indent="0">
              <a:buNone/>
            </a:pPr>
            <a:r>
              <a:rPr lang="en-US" sz="1150" dirty="0">
                <a:solidFill>
                  <a:srgbClr val="1F2A22"/>
                </a:solidFill>
                <a:latin typeface="Calibri" pitchFamily="34" charset="0"/>
                <a:ea typeface="Calibri" pitchFamily="34" charset="-122"/>
                <a:cs typeface="Calibri" pitchFamily="34" charset="-120"/>
              </a:rPr>
              <a:t>Full 3D farm environment rendered live in any modern browser</a:t>
            </a:r>
            <a:endParaRPr lang="en-US" sz="1150" dirty="0"/>
          </a:p>
        </p:txBody>
      </p:sp>
      <p:sp>
        <p:nvSpPr>
          <p:cNvPr id="24" name="Shape 20"/>
          <p:cNvSpPr/>
          <p:nvPr/>
        </p:nvSpPr>
        <p:spPr>
          <a:xfrm>
            <a:off x="6629400" y="3657600"/>
            <a:ext cx="100584" cy="100584"/>
          </a:xfrm>
          <a:prstGeom prst="ellipse">
            <a:avLst/>
          </a:prstGeom>
          <a:solidFill>
            <a:srgbClr val="6B9080"/>
          </a:solidFill>
          <a:ln/>
        </p:spPr>
      </p:sp>
      <p:sp>
        <p:nvSpPr>
          <p:cNvPr id="25" name="Text 21"/>
          <p:cNvSpPr txBox="1"/>
          <p:nvPr/>
        </p:nvSpPr>
        <p:spPr>
          <a:xfrm>
            <a:off x="6867144" y="3529584"/>
            <a:ext cx="4389120" cy="685800"/>
          </a:xfrm>
          <a:prstGeom prst="rect">
            <a:avLst/>
          </a:prstGeom>
          <a:noFill/>
          <a:ln/>
        </p:spPr>
        <p:txBody>
          <a:bodyPr wrap="square" lIns="0" tIns="0" rIns="0" bIns="0" rtlCol="0" anchor="t"/>
          <a:lstStyle/>
          <a:p>
            <a:pPr marL="0" indent="0">
              <a:buNone/>
            </a:pPr>
            <a:r>
              <a:rPr lang="en-US" sz="1150" dirty="0">
                <a:solidFill>
                  <a:srgbClr val="1F2A22"/>
                </a:solidFill>
                <a:latin typeface="Calibri" pitchFamily="34" charset="0"/>
                <a:ea typeface="Calibri" pitchFamily="34" charset="-122"/>
                <a:cs typeface="Calibri" pitchFamily="34" charset="-120"/>
              </a:rPr>
              <a:t>Real-time HUD plus interactive threshold dial, rain and day/night triggers</a:t>
            </a:r>
            <a:endParaRPr lang="en-US" sz="1150" dirty="0"/>
          </a:p>
        </p:txBody>
      </p:sp>
      <p:sp>
        <p:nvSpPr>
          <p:cNvPr id="26" name="Shape 22"/>
          <p:cNvSpPr/>
          <p:nvPr/>
        </p:nvSpPr>
        <p:spPr>
          <a:xfrm>
            <a:off x="6629400" y="4407408"/>
            <a:ext cx="100584" cy="100584"/>
          </a:xfrm>
          <a:prstGeom prst="ellipse">
            <a:avLst/>
          </a:prstGeom>
          <a:solidFill>
            <a:srgbClr val="6B9080"/>
          </a:solidFill>
          <a:ln/>
        </p:spPr>
      </p:sp>
      <p:sp>
        <p:nvSpPr>
          <p:cNvPr id="27" name="Text 23"/>
          <p:cNvSpPr txBox="1"/>
          <p:nvPr/>
        </p:nvSpPr>
        <p:spPr>
          <a:xfrm>
            <a:off x="6867144" y="4279392"/>
            <a:ext cx="4389120" cy="685800"/>
          </a:xfrm>
          <a:prstGeom prst="rect">
            <a:avLst/>
          </a:prstGeom>
          <a:noFill/>
          <a:ln/>
        </p:spPr>
        <p:txBody>
          <a:bodyPr wrap="square" lIns="0" tIns="0" rIns="0" bIns="0" rtlCol="0" anchor="t"/>
          <a:lstStyle/>
          <a:p>
            <a:pPr marL="0" indent="0">
              <a:buNone/>
            </a:pPr>
            <a:r>
              <a:rPr lang="en-US" sz="1150" dirty="0">
                <a:solidFill>
                  <a:srgbClr val="1F2A22"/>
                </a:solidFill>
                <a:latin typeface="Calibri" pitchFamily="34" charset="0"/>
                <a:ea typeface="Calibri" pitchFamily="34" charset="-122"/>
                <a:cs typeface="Calibri" pitchFamily="34" charset="-120"/>
              </a:rPr>
              <a:t>Zero build step — static HTML/JS/CSS loaded straight from a CDN import map</a:t>
            </a:r>
            <a:endParaRPr lang="en-US" sz="1150" dirty="0"/>
          </a:p>
        </p:txBody>
      </p:sp>
      <p:sp>
        <p:nvSpPr>
          <p:cNvPr id="28" name="Shape 24"/>
          <p:cNvSpPr/>
          <p:nvPr/>
        </p:nvSpPr>
        <p:spPr>
          <a:xfrm>
            <a:off x="6629400" y="5157216"/>
            <a:ext cx="100584" cy="100584"/>
          </a:xfrm>
          <a:prstGeom prst="ellipse">
            <a:avLst/>
          </a:prstGeom>
          <a:solidFill>
            <a:srgbClr val="6B9080"/>
          </a:solidFill>
          <a:ln/>
        </p:spPr>
      </p:sp>
      <p:sp>
        <p:nvSpPr>
          <p:cNvPr id="29" name="Text 25"/>
          <p:cNvSpPr txBox="1"/>
          <p:nvPr/>
        </p:nvSpPr>
        <p:spPr>
          <a:xfrm>
            <a:off x="6867144" y="5029200"/>
            <a:ext cx="4389120" cy="685800"/>
          </a:xfrm>
          <a:prstGeom prst="rect">
            <a:avLst/>
          </a:prstGeom>
          <a:noFill/>
          <a:ln/>
        </p:spPr>
        <p:txBody>
          <a:bodyPr wrap="square" lIns="0" tIns="0" rIns="0" bIns="0" rtlCol="0" anchor="t"/>
          <a:lstStyle/>
          <a:p>
            <a:pPr marL="0" indent="0">
              <a:buNone/>
            </a:pPr>
            <a:r>
              <a:rPr lang="en-US" sz="1150" dirty="0">
                <a:solidFill>
                  <a:srgbClr val="1F2A22"/>
                </a:solidFill>
                <a:latin typeface="Calibri" pitchFamily="34" charset="0"/>
                <a:ea typeface="Calibri" pitchFamily="34" charset="-122"/>
                <a:cs typeface="Calibri" pitchFamily="34" charset="-120"/>
              </a:rPr>
              <a:t>Ideal for demos, presentations and exploring “what if” scenarios instantly</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8F5"/>
        </a:solidFill>
        <a:effectLst/>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marL="0" indent="0">
              <a:buNone/>
            </a:pPr>
            <a:r>
              <a:rPr lang="en-US" sz="3200" b="1" dirty="0">
                <a:solidFill>
                  <a:srgbClr val="1F3D2E"/>
                </a:solidFill>
                <a:latin typeface="Cambria" pitchFamily="34" charset="0"/>
                <a:ea typeface="Cambria" pitchFamily="34" charset="-122"/>
                <a:cs typeface="Cambria" pitchFamily="34" charset="-120"/>
              </a:rPr>
              <a:t>Impact &amp; What's Next</a:t>
            </a:r>
            <a:endParaRPr lang="en-US" sz="3200" dirty="0"/>
          </a:p>
        </p:txBody>
      </p:sp>
      <p:sp>
        <p:nvSpPr>
          <p:cNvPr id="3" name="Text 1"/>
          <p:cNvSpPr txBox="1"/>
          <p:nvPr/>
        </p:nvSpPr>
        <p:spPr>
          <a:xfrm>
            <a:off x="640080" y="960120"/>
            <a:ext cx="9601200" cy="457200"/>
          </a:xfrm>
          <a:prstGeom prst="rect">
            <a:avLst/>
          </a:prstGeom>
          <a:noFill/>
          <a:ln/>
        </p:spPr>
        <p:txBody>
          <a:bodyPr wrap="square" lIns="0" tIns="0" rIns="0" bIns="0" rtlCol="0" anchor="ctr"/>
          <a:lstStyle/>
          <a:p>
            <a:pPr marL="0" indent="0">
              <a:buNone/>
            </a:pPr>
            <a:r>
              <a:rPr lang="en-US" sz="1350" dirty="0">
                <a:solidFill>
                  <a:srgbClr val="58655C"/>
                </a:solidFill>
                <a:latin typeface="Calibri" pitchFamily="34" charset="0"/>
                <a:ea typeface="Calibri" pitchFamily="34" charset="-122"/>
                <a:cs typeface="Calibri" pitchFamily="34" charset="-120"/>
              </a:rPr>
              <a:t>What this project demonstrates — and where it can go.</a:t>
            </a:r>
            <a:endParaRPr lang="en-US" sz="1350" dirty="0"/>
          </a:p>
        </p:txBody>
      </p:sp>
      <p:sp>
        <p:nvSpPr>
          <p:cNvPr id="4" name="Text 2"/>
          <p:cNvSpPr txBox="1"/>
          <p:nvPr/>
        </p:nvSpPr>
        <p:spPr>
          <a:xfrm>
            <a:off x="640080" y="1783080"/>
            <a:ext cx="5212080" cy="320040"/>
          </a:xfrm>
          <a:prstGeom prst="rect">
            <a:avLst/>
          </a:prstGeom>
          <a:noFill/>
          <a:ln/>
        </p:spPr>
        <p:txBody>
          <a:bodyPr wrap="square" lIns="0" tIns="0" rIns="0" bIns="0" rtlCol="0" anchor="ctr"/>
          <a:lstStyle/>
          <a:p>
            <a:pPr marL="0" indent="0">
              <a:buNone/>
            </a:pPr>
            <a:r>
              <a:rPr lang="en-US" sz="1200" b="1" kern="0" spc="150" dirty="0">
                <a:solidFill>
                  <a:srgbClr val="6B9080"/>
                </a:solidFill>
                <a:latin typeface="Calibri" pitchFamily="34" charset="0"/>
                <a:ea typeface="Calibri" pitchFamily="34" charset="-122"/>
                <a:cs typeface="Calibri" pitchFamily="34" charset="-120"/>
              </a:rPr>
              <a:t>IMPACT</a:t>
            </a:r>
            <a:endParaRPr lang="en-US" sz="1200" dirty="0"/>
          </a:p>
        </p:txBody>
      </p:sp>
      <p:sp>
        <p:nvSpPr>
          <p:cNvPr id="5" name="Text 3"/>
          <p:cNvSpPr txBox="1"/>
          <p:nvPr/>
        </p:nvSpPr>
        <p:spPr>
          <a:xfrm>
            <a:off x="6336792" y="1783080"/>
            <a:ext cx="5212080" cy="320040"/>
          </a:xfrm>
          <a:prstGeom prst="rect">
            <a:avLst/>
          </a:prstGeom>
          <a:noFill/>
          <a:ln/>
        </p:spPr>
        <p:txBody>
          <a:bodyPr wrap="square" lIns="0" tIns="0" rIns="0" bIns="0"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FUTURE SCOPE</a:t>
            </a:r>
            <a:endParaRPr lang="en-US" sz="1200" dirty="0"/>
          </a:p>
        </p:txBody>
      </p:sp>
      <p:sp>
        <p:nvSpPr>
          <p:cNvPr id="6" name="Shape 4"/>
          <p:cNvSpPr/>
          <p:nvPr/>
        </p:nvSpPr>
        <p:spPr>
          <a:xfrm>
            <a:off x="640080" y="2286000"/>
            <a:ext cx="457200" cy="457200"/>
          </a:xfrm>
          <a:prstGeom prst="ellipse">
            <a:avLst/>
          </a:prstGeom>
          <a:solidFill>
            <a:srgbClr val="6B9080"/>
          </a:solidFill>
          <a:ln/>
        </p:spPr>
      </p:sp>
      <p:pic>
        <p:nvPicPr>
          <p:cNvPr id="7" name="Image 0" descr="C:\Users\sohan\AppData\Local\Temp\claude\D--CEPDT-3D-model\6251275b-f963-4380-baeb-f7faaa89ac3b\scratchpad\deck\icons\FiCheckCircle.png"/>
          <p:cNvPicPr>
            <a:picLocks noChangeAspect="1"/>
          </p:cNvPicPr>
          <p:nvPr/>
        </p:nvPicPr>
        <p:blipFill>
          <a:blip r:embed="rId3"/>
          <a:stretch>
            <a:fillRect/>
          </a:stretch>
        </p:blipFill>
        <p:spPr>
          <a:xfrm>
            <a:off x="749808" y="2395728"/>
            <a:ext cx="237744" cy="237744"/>
          </a:xfrm>
          <a:prstGeom prst="rect">
            <a:avLst/>
          </a:prstGeom>
        </p:spPr>
      </p:pic>
      <p:sp>
        <p:nvSpPr>
          <p:cNvPr id="8" name="Text 5"/>
          <p:cNvSpPr txBox="1"/>
          <p:nvPr/>
        </p:nvSpPr>
        <p:spPr>
          <a:xfrm>
            <a:off x="1261872" y="2267712"/>
            <a:ext cx="4572000" cy="822960"/>
          </a:xfrm>
          <a:prstGeom prst="rect">
            <a:avLst/>
          </a:prstGeom>
          <a:noFill/>
          <a:ln/>
        </p:spPr>
        <p:txBody>
          <a:bodyPr wrap="square" lIns="0" tIns="0" rIns="0" bIns="0" rtlCol="0" anchor="ctr"/>
          <a:lstStyle/>
          <a:p>
            <a:pPr marL="0" indent="0">
              <a:buNone/>
            </a:pPr>
            <a:r>
              <a:rPr lang="en-US" sz="1250" dirty="0">
                <a:solidFill>
                  <a:srgbClr val="1F2A22"/>
                </a:solidFill>
                <a:latin typeface="Calibri" pitchFamily="34" charset="0"/>
                <a:ea typeface="Calibri" pitchFamily="34" charset="-122"/>
                <a:cs typeface="Calibri" pitchFamily="34" charset="-120"/>
              </a:rPr>
              <a:t>Bridges hardware prototyping and software visualization in one project</a:t>
            </a:r>
            <a:endParaRPr lang="en-US" sz="1250" dirty="0"/>
          </a:p>
        </p:txBody>
      </p:sp>
      <p:sp>
        <p:nvSpPr>
          <p:cNvPr id="9" name="Shape 6"/>
          <p:cNvSpPr/>
          <p:nvPr/>
        </p:nvSpPr>
        <p:spPr>
          <a:xfrm>
            <a:off x="640080" y="3246120"/>
            <a:ext cx="457200" cy="457200"/>
          </a:xfrm>
          <a:prstGeom prst="ellipse">
            <a:avLst/>
          </a:prstGeom>
          <a:solidFill>
            <a:srgbClr val="6B9080"/>
          </a:solidFill>
          <a:ln/>
        </p:spPr>
      </p:sp>
      <p:pic>
        <p:nvPicPr>
          <p:cNvPr id="10" name="Image 1" descr="C:\Users\sohan\AppData\Local\Temp\claude\D--CEPDT-3D-model\6251275b-f963-4380-baeb-f7faaa89ac3b\scratchpad\deck\icons\FiCheckCircle.png"/>
          <p:cNvPicPr>
            <a:picLocks noChangeAspect="1"/>
          </p:cNvPicPr>
          <p:nvPr/>
        </p:nvPicPr>
        <p:blipFill>
          <a:blip r:embed="rId3"/>
          <a:stretch>
            <a:fillRect/>
          </a:stretch>
        </p:blipFill>
        <p:spPr>
          <a:xfrm>
            <a:off x="749808" y="3355848"/>
            <a:ext cx="237744" cy="237744"/>
          </a:xfrm>
          <a:prstGeom prst="rect">
            <a:avLst/>
          </a:prstGeom>
        </p:spPr>
      </p:pic>
      <p:sp>
        <p:nvSpPr>
          <p:cNvPr id="11" name="Text 7"/>
          <p:cNvSpPr txBox="1"/>
          <p:nvPr/>
        </p:nvSpPr>
        <p:spPr>
          <a:xfrm>
            <a:off x="1261872" y="3227832"/>
            <a:ext cx="4572000" cy="822960"/>
          </a:xfrm>
          <a:prstGeom prst="rect">
            <a:avLst/>
          </a:prstGeom>
          <a:noFill/>
          <a:ln/>
        </p:spPr>
        <p:txBody>
          <a:bodyPr wrap="square" lIns="0" tIns="0" rIns="0" bIns="0" rtlCol="0" anchor="ctr"/>
          <a:lstStyle/>
          <a:p>
            <a:pPr marL="0" indent="0">
              <a:buNone/>
            </a:pPr>
            <a:r>
              <a:rPr lang="en-US" sz="1250" dirty="0">
                <a:solidFill>
                  <a:srgbClr val="1F2A22"/>
                </a:solidFill>
                <a:latin typeface="Calibri" pitchFamily="34" charset="0"/>
                <a:ea typeface="Calibri" pitchFamily="34" charset="-122"/>
                <a:cs typeface="Calibri" pitchFamily="34" charset="-120"/>
              </a:rPr>
              <a:t>Demonstrates a full sense → decide → act embedded control loop</a:t>
            </a:r>
            <a:endParaRPr lang="en-US" sz="1250" dirty="0"/>
          </a:p>
        </p:txBody>
      </p:sp>
      <p:sp>
        <p:nvSpPr>
          <p:cNvPr id="12" name="Shape 8"/>
          <p:cNvSpPr/>
          <p:nvPr/>
        </p:nvSpPr>
        <p:spPr>
          <a:xfrm>
            <a:off x="640080" y="4206240"/>
            <a:ext cx="457200" cy="457200"/>
          </a:xfrm>
          <a:prstGeom prst="ellipse">
            <a:avLst/>
          </a:prstGeom>
          <a:solidFill>
            <a:srgbClr val="6B9080"/>
          </a:solidFill>
          <a:ln/>
        </p:spPr>
      </p:sp>
      <p:pic>
        <p:nvPicPr>
          <p:cNvPr id="13" name="Image 2" descr="C:\Users\sohan\AppData\Local\Temp\claude\D--CEPDT-3D-model\6251275b-f963-4380-baeb-f7faaa89ac3b\scratchpad\deck\icons\FiCheckCircle.png"/>
          <p:cNvPicPr>
            <a:picLocks noChangeAspect="1"/>
          </p:cNvPicPr>
          <p:nvPr/>
        </p:nvPicPr>
        <p:blipFill>
          <a:blip r:embed="rId3"/>
          <a:stretch>
            <a:fillRect/>
          </a:stretch>
        </p:blipFill>
        <p:spPr>
          <a:xfrm>
            <a:off x="749808" y="4315968"/>
            <a:ext cx="237744" cy="237744"/>
          </a:xfrm>
          <a:prstGeom prst="rect">
            <a:avLst/>
          </a:prstGeom>
        </p:spPr>
      </p:pic>
      <p:sp>
        <p:nvSpPr>
          <p:cNvPr id="14" name="Text 9"/>
          <p:cNvSpPr txBox="1"/>
          <p:nvPr/>
        </p:nvSpPr>
        <p:spPr>
          <a:xfrm>
            <a:off x="1261872" y="4187952"/>
            <a:ext cx="4572000" cy="822960"/>
          </a:xfrm>
          <a:prstGeom prst="rect">
            <a:avLst/>
          </a:prstGeom>
          <a:noFill/>
          <a:ln/>
        </p:spPr>
        <p:txBody>
          <a:bodyPr wrap="square" lIns="0" tIns="0" rIns="0" bIns="0" rtlCol="0" anchor="ctr"/>
          <a:lstStyle/>
          <a:p>
            <a:pPr marL="0" indent="0">
              <a:buNone/>
            </a:pPr>
            <a:r>
              <a:rPr lang="en-US" sz="1250" dirty="0">
                <a:solidFill>
                  <a:srgbClr val="1F2A22"/>
                </a:solidFill>
                <a:latin typeface="Calibri" pitchFamily="34" charset="0"/>
                <a:ea typeface="Calibri" pitchFamily="34" charset="-122"/>
                <a:cs typeface="Calibri" pitchFamily="34" charset="-120"/>
              </a:rPr>
              <a:t>Built entirely from low-cost, widely available components</a:t>
            </a:r>
            <a:endParaRPr lang="en-US" sz="1250" dirty="0"/>
          </a:p>
        </p:txBody>
      </p:sp>
      <p:sp>
        <p:nvSpPr>
          <p:cNvPr id="15" name="Shape 10"/>
          <p:cNvSpPr/>
          <p:nvPr/>
        </p:nvSpPr>
        <p:spPr>
          <a:xfrm>
            <a:off x="640080" y="5166360"/>
            <a:ext cx="457200" cy="457200"/>
          </a:xfrm>
          <a:prstGeom prst="ellipse">
            <a:avLst/>
          </a:prstGeom>
          <a:solidFill>
            <a:srgbClr val="6B9080"/>
          </a:solidFill>
          <a:ln/>
        </p:spPr>
      </p:sp>
      <p:pic>
        <p:nvPicPr>
          <p:cNvPr id="16" name="Image 3" descr="C:\Users\sohan\AppData\Local\Temp\claude\D--CEPDT-3D-model\6251275b-f963-4380-baeb-f7faaa89ac3b\scratchpad\deck\icons\FiCheckCircle.png"/>
          <p:cNvPicPr>
            <a:picLocks noChangeAspect="1"/>
          </p:cNvPicPr>
          <p:nvPr/>
        </p:nvPicPr>
        <p:blipFill>
          <a:blip r:embed="rId3"/>
          <a:stretch>
            <a:fillRect/>
          </a:stretch>
        </p:blipFill>
        <p:spPr>
          <a:xfrm>
            <a:off x="749808" y="5276088"/>
            <a:ext cx="237744" cy="237744"/>
          </a:xfrm>
          <a:prstGeom prst="rect">
            <a:avLst/>
          </a:prstGeom>
        </p:spPr>
      </p:pic>
      <p:sp>
        <p:nvSpPr>
          <p:cNvPr id="17" name="Text 11"/>
          <p:cNvSpPr txBox="1"/>
          <p:nvPr/>
        </p:nvSpPr>
        <p:spPr>
          <a:xfrm>
            <a:off x="1261872" y="5148072"/>
            <a:ext cx="4572000" cy="822960"/>
          </a:xfrm>
          <a:prstGeom prst="rect">
            <a:avLst/>
          </a:prstGeom>
          <a:noFill/>
          <a:ln/>
        </p:spPr>
        <p:txBody>
          <a:bodyPr wrap="square" lIns="0" tIns="0" rIns="0" bIns="0" rtlCol="0" anchor="ctr"/>
          <a:lstStyle/>
          <a:p>
            <a:pPr marL="0" indent="0">
              <a:buNone/>
            </a:pPr>
            <a:r>
              <a:rPr lang="en-US" sz="1250" dirty="0">
                <a:solidFill>
                  <a:srgbClr val="1F2A22"/>
                </a:solidFill>
                <a:latin typeface="Calibri" pitchFamily="34" charset="0"/>
                <a:ea typeface="Calibri" pitchFamily="34" charset="-122"/>
                <a:cs typeface="Calibri" pitchFamily="34" charset="-120"/>
              </a:rPr>
              <a:t>The digital twin makes the system explainable to a non-technical audience</a:t>
            </a:r>
            <a:endParaRPr lang="en-US" sz="1250" dirty="0"/>
          </a:p>
        </p:txBody>
      </p:sp>
      <p:sp>
        <p:nvSpPr>
          <p:cNvPr id="18" name="Shape 12"/>
          <p:cNvSpPr/>
          <p:nvPr/>
        </p:nvSpPr>
        <p:spPr>
          <a:xfrm>
            <a:off x="6336792" y="2286000"/>
            <a:ext cx="457200" cy="457200"/>
          </a:xfrm>
          <a:prstGeom prst="ellipse">
            <a:avLst/>
          </a:prstGeom>
          <a:solidFill>
            <a:srgbClr val="E8A33D"/>
          </a:solidFill>
          <a:ln/>
        </p:spPr>
      </p:sp>
      <p:pic>
        <p:nvPicPr>
          <p:cNvPr id="19" name="Image 4" descr="C:\Users\sohan\AppData\Local\Temp\claude\D--CEPDT-3D-model\6251275b-f963-4380-baeb-f7faaa89ac3b\scratchpad\deck\icons\dark\FiTrendingUp.png"/>
          <p:cNvPicPr>
            <a:picLocks noChangeAspect="1"/>
          </p:cNvPicPr>
          <p:nvPr/>
        </p:nvPicPr>
        <p:blipFill>
          <a:blip r:embed="rId4"/>
          <a:stretch>
            <a:fillRect/>
          </a:stretch>
        </p:blipFill>
        <p:spPr>
          <a:xfrm>
            <a:off x="6446520" y="2395728"/>
            <a:ext cx="237744" cy="237744"/>
          </a:xfrm>
          <a:prstGeom prst="rect">
            <a:avLst/>
          </a:prstGeom>
        </p:spPr>
      </p:pic>
      <p:sp>
        <p:nvSpPr>
          <p:cNvPr id="20" name="Text 13"/>
          <p:cNvSpPr txBox="1"/>
          <p:nvPr/>
        </p:nvSpPr>
        <p:spPr>
          <a:xfrm>
            <a:off x="6958584" y="2267712"/>
            <a:ext cx="4572000" cy="822960"/>
          </a:xfrm>
          <a:prstGeom prst="rect">
            <a:avLst/>
          </a:prstGeom>
          <a:noFill/>
          <a:ln/>
        </p:spPr>
        <p:txBody>
          <a:bodyPr wrap="square" lIns="0" tIns="0" rIns="0" bIns="0" rtlCol="0" anchor="ctr"/>
          <a:lstStyle/>
          <a:p>
            <a:pPr marL="0" indent="0">
              <a:buNone/>
            </a:pPr>
            <a:r>
              <a:rPr lang="en-US" sz="1250" dirty="0">
                <a:solidFill>
                  <a:srgbClr val="1F2A22"/>
                </a:solidFill>
                <a:latin typeface="Calibri" pitchFamily="34" charset="0"/>
                <a:ea typeface="Calibri" pitchFamily="34" charset="-122"/>
                <a:cs typeface="Calibri" pitchFamily="34" charset="-120"/>
              </a:rPr>
              <a:t>Stream live sensor data from the real board into the 3D HUD</a:t>
            </a:r>
            <a:endParaRPr lang="en-US" sz="1250" dirty="0"/>
          </a:p>
        </p:txBody>
      </p:sp>
      <p:sp>
        <p:nvSpPr>
          <p:cNvPr id="21" name="Shape 14"/>
          <p:cNvSpPr/>
          <p:nvPr/>
        </p:nvSpPr>
        <p:spPr>
          <a:xfrm>
            <a:off x="6336792" y="3246120"/>
            <a:ext cx="457200" cy="457200"/>
          </a:xfrm>
          <a:prstGeom prst="ellipse">
            <a:avLst/>
          </a:prstGeom>
          <a:solidFill>
            <a:srgbClr val="E8A33D"/>
          </a:solidFill>
          <a:ln/>
        </p:spPr>
      </p:sp>
      <p:pic>
        <p:nvPicPr>
          <p:cNvPr id="22" name="Image 5" descr="C:\Users\sohan\AppData\Local\Temp\claude\D--CEPDT-3D-model\6251275b-f963-4380-baeb-f7faaa89ac3b\scratchpad\deck\icons\dark\FiTrendingUp.png"/>
          <p:cNvPicPr>
            <a:picLocks noChangeAspect="1"/>
          </p:cNvPicPr>
          <p:nvPr/>
        </p:nvPicPr>
        <p:blipFill>
          <a:blip r:embed="rId4"/>
          <a:stretch>
            <a:fillRect/>
          </a:stretch>
        </p:blipFill>
        <p:spPr>
          <a:xfrm>
            <a:off x="6446520" y="3355848"/>
            <a:ext cx="237744" cy="237744"/>
          </a:xfrm>
          <a:prstGeom prst="rect">
            <a:avLst/>
          </a:prstGeom>
        </p:spPr>
      </p:pic>
      <p:sp>
        <p:nvSpPr>
          <p:cNvPr id="23" name="Text 15"/>
          <p:cNvSpPr txBox="1"/>
          <p:nvPr/>
        </p:nvSpPr>
        <p:spPr>
          <a:xfrm>
            <a:off x="6958584" y="3227832"/>
            <a:ext cx="4572000" cy="822960"/>
          </a:xfrm>
          <a:prstGeom prst="rect">
            <a:avLst/>
          </a:prstGeom>
          <a:noFill/>
          <a:ln/>
        </p:spPr>
        <p:txBody>
          <a:bodyPr wrap="square" lIns="0" tIns="0" rIns="0" bIns="0" rtlCol="0" anchor="ctr"/>
          <a:lstStyle/>
          <a:p>
            <a:pPr marL="0" indent="0">
              <a:buNone/>
            </a:pPr>
            <a:r>
              <a:rPr lang="en-US" sz="1250" dirty="0">
                <a:solidFill>
                  <a:srgbClr val="1F2A22"/>
                </a:solidFill>
                <a:latin typeface="Calibri" pitchFamily="34" charset="0"/>
                <a:ea typeface="Calibri" pitchFamily="34" charset="-122"/>
                <a:cs typeface="Calibri" pitchFamily="34" charset="-120"/>
              </a:rPr>
              <a:t>Solar-powered, field-deployable version of the circuit</a:t>
            </a:r>
            <a:endParaRPr lang="en-US" sz="1250" dirty="0"/>
          </a:p>
        </p:txBody>
      </p:sp>
      <p:sp>
        <p:nvSpPr>
          <p:cNvPr id="24" name="Shape 16"/>
          <p:cNvSpPr/>
          <p:nvPr/>
        </p:nvSpPr>
        <p:spPr>
          <a:xfrm>
            <a:off x="6336792" y="4206240"/>
            <a:ext cx="457200" cy="457200"/>
          </a:xfrm>
          <a:prstGeom prst="ellipse">
            <a:avLst/>
          </a:prstGeom>
          <a:solidFill>
            <a:srgbClr val="E8A33D"/>
          </a:solidFill>
          <a:ln/>
        </p:spPr>
      </p:sp>
      <p:pic>
        <p:nvPicPr>
          <p:cNvPr id="25" name="Image 6" descr="C:\Users\sohan\AppData\Local\Temp\claude\D--CEPDT-3D-model\6251275b-f963-4380-baeb-f7faaa89ac3b\scratchpad\deck\icons\dark\FiTrendingUp.png"/>
          <p:cNvPicPr>
            <a:picLocks noChangeAspect="1"/>
          </p:cNvPicPr>
          <p:nvPr/>
        </p:nvPicPr>
        <p:blipFill>
          <a:blip r:embed="rId4"/>
          <a:stretch>
            <a:fillRect/>
          </a:stretch>
        </p:blipFill>
        <p:spPr>
          <a:xfrm>
            <a:off x="6446520" y="4315968"/>
            <a:ext cx="237744" cy="237744"/>
          </a:xfrm>
          <a:prstGeom prst="rect">
            <a:avLst/>
          </a:prstGeom>
        </p:spPr>
      </p:pic>
      <p:sp>
        <p:nvSpPr>
          <p:cNvPr id="26" name="Text 17"/>
          <p:cNvSpPr txBox="1"/>
          <p:nvPr/>
        </p:nvSpPr>
        <p:spPr>
          <a:xfrm>
            <a:off x="6958584" y="4187952"/>
            <a:ext cx="4572000" cy="822960"/>
          </a:xfrm>
          <a:prstGeom prst="rect">
            <a:avLst/>
          </a:prstGeom>
          <a:noFill/>
          <a:ln/>
        </p:spPr>
        <p:txBody>
          <a:bodyPr wrap="square" lIns="0" tIns="0" rIns="0" bIns="0" rtlCol="0" anchor="ctr"/>
          <a:lstStyle/>
          <a:p>
            <a:pPr marL="0" indent="0">
              <a:buNone/>
            </a:pPr>
            <a:r>
              <a:rPr lang="en-US" sz="1250" dirty="0">
                <a:solidFill>
                  <a:srgbClr val="1F2A22"/>
                </a:solidFill>
                <a:latin typeface="Calibri" pitchFamily="34" charset="0"/>
                <a:ea typeface="Calibri" pitchFamily="34" charset="-122"/>
                <a:cs typeface="Calibri" pitchFamily="34" charset="-120"/>
              </a:rPr>
              <a:t>Companion mobile app for remote threshold control</a:t>
            </a:r>
            <a:endParaRPr lang="en-US" sz="1250" dirty="0"/>
          </a:p>
        </p:txBody>
      </p:sp>
      <p:sp>
        <p:nvSpPr>
          <p:cNvPr id="27" name="Shape 18"/>
          <p:cNvSpPr/>
          <p:nvPr/>
        </p:nvSpPr>
        <p:spPr>
          <a:xfrm>
            <a:off x="6336792" y="5166360"/>
            <a:ext cx="457200" cy="457200"/>
          </a:xfrm>
          <a:prstGeom prst="ellipse">
            <a:avLst/>
          </a:prstGeom>
          <a:solidFill>
            <a:srgbClr val="E8A33D"/>
          </a:solidFill>
          <a:ln/>
        </p:spPr>
      </p:sp>
      <p:pic>
        <p:nvPicPr>
          <p:cNvPr id="28" name="Image 7" descr="C:\Users\sohan\AppData\Local\Temp\claude\D--CEPDT-3D-model\6251275b-f963-4380-baeb-f7faaa89ac3b\scratchpad\deck\icons\dark\FiTrendingUp.png"/>
          <p:cNvPicPr>
            <a:picLocks noChangeAspect="1"/>
          </p:cNvPicPr>
          <p:nvPr/>
        </p:nvPicPr>
        <p:blipFill>
          <a:blip r:embed="rId4"/>
          <a:stretch>
            <a:fillRect/>
          </a:stretch>
        </p:blipFill>
        <p:spPr>
          <a:xfrm>
            <a:off x="6446520" y="5276088"/>
            <a:ext cx="237744" cy="237744"/>
          </a:xfrm>
          <a:prstGeom prst="rect">
            <a:avLst/>
          </a:prstGeom>
        </p:spPr>
      </p:pic>
      <p:sp>
        <p:nvSpPr>
          <p:cNvPr id="29" name="Text 19"/>
          <p:cNvSpPr txBox="1"/>
          <p:nvPr/>
        </p:nvSpPr>
        <p:spPr>
          <a:xfrm>
            <a:off x="6958584" y="5148072"/>
            <a:ext cx="4572000" cy="822960"/>
          </a:xfrm>
          <a:prstGeom prst="rect">
            <a:avLst/>
          </a:prstGeom>
          <a:noFill/>
          <a:ln/>
        </p:spPr>
        <p:txBody>
          <a:bodyPr wrap="square" lIns="0" tIns="0" rIns="0" bIns="0" rtlCol="0" anchor="ctr"/>
          <a:lstStyle/>
          <a:p>
            <a:pPr marL="0" indent="0">
              <a:buNone/>
            </a:pPr>
            <a:r>
              <a:rPr lang="en-US" sz="1250" dirty="0">
                <a:solidFill>
                  <a:srgbClr val="1F2A22"/>
                </a:solidFill>
                <a:latin typeface="Calibri" pitchFamily="34" charset="0"/>
                <a:ea typeface="Calibri" pitchFamily="34" charset="-122"/>
                <a:cs typeface="Calibri" pitchFamily="34" charset="-120"/>
              </a:rPr>
              <a:t>Multi-zone irrigation with per-bed moisture mapping</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3D2E"/>
        </a:solidFill>
        <a:effectLst/>
      </p:bgPr>
    </p:bg>
    <p:spTree>
      <p:nvGrpSpPr>
        <p:cNvPr id="1" name=""/>
        <p:cNvGrpSpPr/>
        <p:nvPr/>
      </p:nvGrpSpPr>
      <p:grpSpPr>
        <a:xfrm>
          <a:off x="0" y="0"/>
          <a:ext cx="0" cy="0"/>
          <a:chOff x="0" y="0"/>
          <a:chExt cx="0" cy="0"/>
        </a:xfrm>
      </p:grpSpPr>
      <p:sp>
        <p:nvSpPr>
          <p:cNvPr id="2" name="TextBox 1"/>
          <p:cNvSpPr txBox="1"/>
          <p:nvPr/>
        </p:nvSpPr>
        <p:spPr>
          <a:xfrm>
            <a:off x="640080" y="868680"/>
            <a:ext cx="4937760" cy="274320"/>
          </a:xfrm>
          <a:prstGeom prst="rect">
            <a:avLst/>
          </a:prstGeom>
          <a:noFill/>
        </p:spPr>
        <p:txBody>
          <a:bodyPr wrap="square" lIns="0" tIns="0" rIns="0" bIns="0" anchor="t">
            <a:spAutoFit/>
          </a:bodyPr>
          <a:lstStyle/>
          <a:p>
            <a:pPr algn="l"/>
            <a:r>
              <a:rPr sz="1200" b="1" i="0" spc="300">
                <a:solidFill>
                  <a:srgbClr val="E8A33D"/>
                </a:solidFill>
                <a:latin typeface="Calibri"/>
              </a:rPr>
              <a:t>CONCLUSION</a:t>
            </a:r>
          </a:p>
        </p:txBody>
      </p:sp>
      <p:sp>
        <p:nvSpPr>
          <p:cNvPr id="3" name="TextBox 2"/>
          <p:cNvSpPr txBox="1"/>
          <p:nvPr/>
        </p:nvSpPr>
        <p:spPr>
          <a:xfrm>
            <a:off x="640080" y="1188720"/>
            <a:ext cx="5029200" cy="1188720"/>
          </a:xfrm>
          <a:prstGeom prst="rect">
            <a:avLst/>
          </a:prstGeom>
          <a:noFill/>
        </p:spPr>
        <p:txBody>
          <a:bodyPr wrap="square" lIns="0" tIns="0" rIns="0" bIns="0" anchor="t">
            <a:spAutoFit/>
          </a:bodyPr>
          <a:lstStyle/>
          <a:p>
            <a:pPr algn="l"/>
            <a:r>
              <a:rPr sz="3600" b="1" i="0">
                <a:solidFill>
                  <a:srgbClr val="FFFFFF"/>
                </a:solidFill>
                <a:latin typeface="Cambria"/>
              </a:rPr>
              <a:t>One irrigation loop,</a:t>
            </a:r>
          </a:p>
          <a:p>
            <a:pPr algn="l"/>
            <a:r>
              <a:rPr sz="3600" b="1" i="0">
                <a:solidFill>
                  <a:srgbClr val="FFFFFF"/>
                </a:solidFill>
                <a:latin typeface="Cambria"/>
              </a:rPr>
              <a:t>built twice</a:t>
            </a:r>
          </a:p>
        </p:txBody>
      </p:sp>
      <p:sp>
        <p:nvSpPr>
          <p:cNvPr id="4" name="TextBox 3"/>
          <p:cNvSpPr txBox="1"/>
          <p:nvPr/>
        </p:nvSpPr>
        <p:spPr>
          <a:xfrm>
            <a:off x="640080" y="2606040"/>
            <a:ext cx="4846320" cy="1554480"/>
          </a:xfrm>
          <a:prstGeom prst="rect">
            <a:avLst/>
          </a:prstGeom>
          <a:noFill/>
        </p:spPr>
        <p:txBody>
          <a:bodyPr wrap="square" lIns="0" tIns="0" rIns="0" bIns="0" anchor="t">
            <a:spAutoFit/>
          </a:bodyPr>
          <a:lstStyle/>
          <a:p>
            <a:pPr algn="l">
              <a:lnSpc>
                <a:spcPct val="110000"/>
              </a:lnSpc>
            </a:pPr>
            <a:r>
              <a:rPr sz="1500" b="0" i="0">
                <a:solidFill>
                  <a:srgbClr val="B9D0C4"/>
                </a:solidFill>
                <a:latin typeface="Calibri"/>
              </a:rPr>
              <a:t>We designed a complete smart irrigation system: a Tinkercad Arduino circuit that senses soil moisture, decides against a dial-set threshold and acts automatically, and a Three.js digital twin that lets anyone watch that same logic run live in the browser.</a:t>
            </a:r>
          </a:p>
        </p:txBody>
      </p:sp>
      <p:sp>
        <p:nvSpPr>
          <p:cNvPr id="5" name="TextBox 4"/>
          <p:cNvSpPr txBox="1"/>
          <p:nvPr/>
        </p:nvSpPr>
        <p:spPr>
          <a:xfrm>
            <a:off x="640080" y="4434840"/>
            <a:ext cx="1463040" cy="777240"/>
          </a:xfrm>
          <a:prstGeom prst="rect">
            <a:avLst/>
          </a:prstGeom>
          <a:noFill/>
        </p:spPr>
        <p:txBody>
          <a:bodyPr wrap="square" lIns="0" tIns="0" rIns="0" bIns="0" anchor="b">
            <a:spAutoFit/>
          </a:bodyPr>
          <a:lstStyle/>
          <a:p>
            <a:pPr algn="l"/>
            <a:r>
              <a:rPr sz="4800" b="1" i="0">
                <a:solidFill>
                  <a:srgbClr val="E8A33D"/>
                </a:solidFill>
                <a:latin typeface="Cambria"/>
              </a:rPr>
              <a:t>4</a:t>
            </a:r>
          </a:p>
        </p:txBody>
      </p:sp>
      <p:sp>
        <p:nvSpPr>
          <p:cNvPr id="6" name="TextBox 5"/>
          <p:cNvSpPr txBox="1"/>
          <p:nvPr/>
        </p:nvSpPr>
        <p:spPr>
          <a:xfrm>
            <a:off x="640080" y="5257800"/>
            <a:ext cx="1463040" cy="548640"/>
          </a:xfrm>
          <a:prstGeom prst="rect">
            <a:avLst/>
          </a:prstGeom>
          <a:noFill/>
        </p:spPr>
        <p:txBody>
          <a:bodyPr wrap="square" lIns="0" tIns="0" rIns="0" bIns="0" anchor="t">
            <a:spAutoFit/>
          </a:bodyPr>
          <a:lstStyle/>
          <a:p>
            <a:pPr algn="l"/>
            <a:r>
              <a:rPr sz="1200" b="0" i="0">
                <a:solidFill>
                  <a:srgbClr val="B9D0C4"/>
                </a:solidFill>
                <a:latin typeface="Calibri"/>
              </a:rPr>
              <a:t>step sense-to-act loop</a:t>
            </a:r>
          </a:p>
        </p:txBody>
      </p:sp>
      <p:sp>
        <p:nvSpPr>
          <p:cNvPr id="7" name="TextBox 6"/>
          <p:cNvSpPr txBox="1"/>
          <p:nvPr/>
        </p:nvSpPr>
        <p:spPr>
          <a:xfrm>
            <a:off x="2331720" y="4434840"/>
            <a:ext cx="1463040" cy="777240"/>
          </a:xfrm>
          <a:prstGeom prst="rect">
            <a:avLst/>
          </a:prstGeom>
          <a:noFill/>
        </p:spPr>
        <p:txBody>
          <a:bodyPr wrap="square" lIns="0" tIns="0" rIns="0" bIns="0" anchor="b">
            <a:spAutoFit/>
          </a:bodyPr>
          <a:lstStyle/>
          <a:p>
            <a:pPr algn="l"/>
            <a:r>
              <a:rPr sz="4800" b="1" i="0">
                <a:solidFill>
                  <a:srgbClr val="E8A33D"/>
                </a:solidFill>
                <a:latin typeface="Cambria"/>
              </a:rPr>
              <a:t>2</a:t>
            </a:r>
          </a:p>
        </p:txBody>
      </p:sp>
      <p:sp>
        <p:nvSpPr>
          <p:cNvPr id="8" name="TextBox 7"/>
          <p:cNvSpPr txBox="1"/>
          <p:nvPr/>
        </p:nvSpPr>
        <p:spPr>
          <a:xfrm>
            <a:off x="2331720" y="5257800"/>
            <a:ext cx="1463040" cy="548640"/>
          </a:xfrm>
          <a:prstGeom prst="rect">
            <a:avLst/>
          </a:prstGeom>
          <a:noFill/>
        </p:spPr>
        <p:txBody>
          <a:bodyPr wrap="square" lIns="0" tIns="0" rIns="0" bIns="0" anchor="t">
            <a:spAutoFit/>
          </a:bodyPr>
          <a:lstStyle/>
          <a:p>
            <a:pPr algn="l"/>
            <a:r>
              <a:rPr sz="1200" b="0" i="0">
                <a:solidFill>
                  <a:srgbClr val="B9D0C4"/>
                </a:solidFill>
                <a:latin typeface="Calibri"/>
              </a:rPr>
              <a:t>builds sharing one logic</a:t>
            </a:r>
          </a:p>
        </p:txBody>
      </p:sp>
      <p:sp>
        <p:nvSpPr>
          <p:cNvPr id="9" name="TextBox 8"/>
          <p:cNvSpPr txBox="1"/>
          <p:nvPr/>
        </p:nvSpPr>
        <p:spPr>
          <a:xfrm>
            <a:off x="4023360" y="4434840"/>
            <a:ext cx="1463040" cy="777240"/>
          </a:xfrm>
          <a:prstGeom prst="rect">
            <a:avLst/>
          </a:prstGeom>
          <a:noFill/>
        </p:spPr>
        <p:txBody>
          <a:bodyPr wrap="square" lIns="0" tIns="0" rIns="0" bIns="0" anchor="b">
            <a:spAutoFit/>
          </a:bodyPr>
          <a:lstStyle/>
          <a:p>
            <a:pPr algn="l"/>
            <a:r>
              <a:rPr sz="4800" b="1" i="0">
                <a:solidFill>
                  <a:srgbClr val="E8A33D"/>
                </a:solidFill>
                <a:latin typeface="Cambria"/>
              </a:rPr>
              <a:t>0</a:t>
            </a:r>
          </a:p>
        </p:txBody>
      </p:sp>
      <p:sp>
        <p:nvSpPr>
          <p:cNvPr id="10" name="TextBox 9"/>
          <p:cNvSpPr txBox="1"/>
          <p:nvPr/>
        </p:nvSpPr>
        <p:spPr>
          <a:xfrm>
            <a:off x="4023360" y="5257800"/>
            <a:ext cx="1463040" cy="548640"/>
          </a:xfrm>
          <a:prstGeom prst="rect">
            <a:avLst/>
          </a:prstGeom>
          <a:noFill/>
        </p:spPr>
        <p:txBody>
          <a:bodyPr wrap="square" lIns="0" tIns="0" rIns="0" bIns="0" anchor="t">
            <a:spAutoFit/>
          </a:bodyPr>
          <a:lstStyle/>
          <a:p>
            <a:pPr algn="l"/>
            <a:r>
              <a:rPr sz="1200" b="0" i="0">
                <a:solidFill>
                  <a:srgbClr val="B9D0C4"/>
                </a:solidFill>
                <a:latin typeface="Calibri"/>
              </a:rPr>
              <a:t>image files in the 3D scene</a:t>
            </a:r>
          </a:p>
        </p:txBody>
      </p:sp>
      <p:sp>
        <p:nvSpPr>
          <p:cNvPr id="11" name="Rounded Rectangle 10"/>
          <p:cNvSpPr/>
          <p:nvPr/>
        </p:nvSpPr>
        <p:spPr>
          <a:xfrm>
            <a:off x="6263640" y="914400"/>
            <a:ext cx="5303520" cy="1463040"/>
          </a:xfrm>
          <a:prstGeom prst="roundRect">
            <a:avLst>
              <a:gd name="adj" fmla="val 9000"/>
            </a:avLst>
          </a:prstGeom>
          <a:solidFill>
            <a:srgbClr val="2B5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38544" y="1335024"/>
            <a:ext cx="621792" cy="6217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zap_d.png"/>
          <p:cNvPicPr>
            <a:picLocks noChangeAspect="1"/>
          </p:cNvPicPr>
          <p:nvPr/>
        </p:nvPicPr>
        <p:blipFill>
          <a:blip r:embed="rId3"/>
          <a:stretch>
            <a:fillRect/>
          </a:stretch>
        </p:blipFill>
        <p:spPr>
          <a:xfrm>
            <a:off x="6787774" y="1484254"/>
            <a:ext cx="323331" cy="323331"/>
          </a:xfrm>
          <a:prstGeom prst="rect">
            <a:avLst/>
          </a:prstGeom>
        </p:spPr>
      </p:pic>
      <p:sp>
        <p:nvSpPr>
          <p:cNvPr id="14" name="TextBox 13"/>
          <p:cNvSpPr txBox="1"/>
          <p:nvPr/>
        </p:nvSpPr>
        <p:spPr>
          <a:xfrm>
            <a:off x="7543800" y="1097280"/>
            <a:ext cx="3794760" cy="320040"/>
          </a:xfrm>
          <a:prstGeom prst="rect">
            <a:avLst/>
          </a:prstGeom>
          <a:noFill/>
        </p:spPr>
        <p:txBody>
          <a:bodyPr wrap="square" lIns="0" tIns="0" rIns="0" bIns="0" anchor="t">
            <a:spAutoFit/>
          </a:bodyPr>
          <a:lstStyle/>
          <a:p>
            <a:pPr algn="l"/>
            <a:r>
              <a:rPr sz="1600" b="1" i="0">
                <a:solidFill>
                  <a:srgbClr val="FFFFFF"/>
                </a:solidFill>
                <a:latin typeface="Calibri"/>
              </a:rPr>
              <a:t>Automated, closed-loop control</a:t>
            </a:r>
          </a:p>
        </p:txBody>
      </p:sp>
      <p:sp>
        <p:nvSpPr>
          <p:cNvPr id="15" name="TextBox 14"/>
          <p:cNvSpPr txBox="1"/>
          <p:nvPr/>
        </p:nvSpPr>
        <p:spPr>
          <a:xfrm>
            <a:off x="7543800" y="1481328"/>
            <a:ext cx="3794760" cy="777240"/>
          </a:xfrm>
          <a:prstGeom prst="rect">
            <a:avLst/>
          </a:prstGeom>
          <a:noFill/>
        </p:spPr>
        <p:txBody>
          <a:bodyPr wrap="square" lIns="0" tIns="0" rIns="0" bIns="0" anchor="t">
            <a:spAutoFit/>
          </a:bodyPr>
          <a:lstStyle/>
          <a:p>
            <a:pPr algn="l">
              <a:lnSpc>
                <a:spcPct val="105000"/>
              </a:lnSpc>
            </a:pPr>
            <a:r>
              <a:rPr sz="1200" b="0" i="0">
                <a:solidFill>
                  <a:srgbClr val="B9D0C4"/>
                </a:solidFill>
                <a:latin typeface="Calibri"/>
              </a:rPr>
              <a:t>Soil moisture dropping below the potentiometer threshold switches on the pump, red LED and buzzer; recovery returns the system to a green idle.</a:t>
            </a:r>
          </a:p>
        </p:txBody>
      </p:sp>
      <p:sp>
        <p:nvSpPr>
          <p:cNvPr id="16" name="Rounded Rectangle 15"/>
          <p:cNvSpPr/>
          <p:nvPr/>
        </p:nvSpPr>
        <p:spPr>
          <a:xfrm>
            <a:off x="6263640" y="2651760"/>
            <a:ext cx="5303520" cy="1463040"/>
          </a:xfrm>
          <a:prstGeom prst="roundRect">
            <a:avLst>
              <a:gd name="adj" fmla="val 9000"/>
            </a:avLst>
          </a:prstGeom>
          <a:solidFill>
            <a:srgbClr val="2B5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638544" y="3072384"/>
            <a:ext cx="621792" cy="6217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check_d.png"/>
          <p:cNvPicPr>
            <a:picLocks noChangeAspect="1"/>
          </p:cNvPicPr>
          <p:nvPr/>
        </p:nvPicPr>
        <p:blipFill>
          <a:blip r:embed="rId4"/>
          <a:stretch>
            <a:fillRect/>
          </a:stretch>
        </p:blipFill>
        <p:spPr>
          <a:xfrm>
            <a:off x="6787774" y="3221614"/>
            <a:ext cx="323331" cy="323331"/>
          </a:xfrm>
          <a:prstGeom prst="rect">
            <a:avLst/>
          </a:prstGeom>
        </p:spPr>
      </p:pic>
      <p:sp>
        <p:nvSpPr>
          <p:cNvPr id="19" name="TextBox 18"/>
          <p:cNvSpPr txBox="1"/>
          <p:nvPr/>
        </p:nvSpPr>
        <p:spPr>
          <a:xfrm>
            <a:off x="7543800" y="2834640"/>
            <a:ext cx="3794760" cy="320040"/>
          </a:xfrm>
          <a:prstGeom prst="rect">
            <a:avLst/>
          </a:prstGeom>
          <a:noFill/>
        </p:spPr>
        <p:txBody>
          <a:bodyPr wrap="square" lIns="0" tIns="0" rIns="0" bIns="0" anchor="t">
            <a:spAutoFit/>
          </a:bodyPr>
          <a:lstStyle/>
          <a:p>
            <a:pPr algn="l"/>
            <a:r>
              <a:rPr sz="1600" b="1" i="0">
                <a:solidFill>
                  <a:srgbClr val="FFFFFF"/>
                </a:solidFill>
                <a:latin typeface="Calibri"/>
              </a:rPr>
              <a:t>Validated before any hardware</a:t>
            </a:r>
          </a:p>
        </p:txBody>
      </p:sp>
      <p:sp>
        <p:nvSpPr>
          <p:cNvPr id="20" name="TextBox 19"/>
          <p:cNvSpPr txBox="1"/>
          <p:nvPr/>
        </p:nvSpPr>
        <p:spPr>
          <a:xfrm>
            <a:off x="7543800" y="3218688"/>
            <a:ext cx="3794760" cy="777240"/>
          </a:xfrm>
          <a:prstGeom prst="rect">
            <a:avLst/>
          </a:prstGeom>
          <a:noFill/>
        </p:spPr>
        <p:txBody>
          <a:bodyPr wrap="square" lIns="0" tIns="0" rIns="0" bIns="0" anchor="t">
            <a:spAutoFit/>
          </a:bodyPr>
          <a:lstStyle/>
          <a:p>
            <a:pPr algn="l">
              <a:lnSpc>
                <a:spcPct val="105000"/>
              </a:lnSpc>
            </a:pPr>
            <a:r>
              <a:rPr sz="1200" b="0" i="0">
                <a:solidFill>
                  <a:srgbClr val="B9D0C4"/>
                </a:solidFill>
                <a:latin typeface="Calibri"/>
              </a:rPr>
              <a:t>The full circuit was simulated in Tinkercad, so wiring, thresholds and component behaviour were tested with zero risk of shorts.</a:t>
            </a:r>
          </a:p>
        </p:txBody>
      </p:sp>
      <p:sp>
        <p:nvSpPr>
          <p:cNvPr id="21" name="Rounded Rectangle 20"/>
          <p:cNvSpPr/>
          <p:nvPr/>
        </p:nvSpPr>
        <p:spPr>
          <a:xfrm>
            <a:off x="6263640" y="4389120"/>
            <a:ext cx="5303520" cy="1463040"/>
          </a:xfrm>
          <a:prstGeom prst="roundRect">
            <a:avLst>
              <a:gd name="adj" fmla="val 9000"/>
            </a:avLst>
          </a:prstGeom>
          <a:solidFill>
            <a:srgbClr val="2B5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638544" y="4809744"/>
            <a:ext cx="621792" cy="6217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box_d.png"/>
          <p:cNvPicPr>
            <a:picLocks noChangeAspect="1"/>
          </p:cNvPicPr>
          <p:nvPr/>
        </p:nvPicPr>
        <p:blipFill>
          <a:blip r:embed="rId5"/>
          <a:stretch>
            <a:fillRect/>
          </a:stretch>
        </p:blipFill>
        <p:spPr>
          <a:xfrm>
            <a:off x="6787774" y="4958974"/>
            <a:ext cx="323331" cy="323331"/>
          </a:xfrm>
          <a:prstGeom prst="rect">
            <a:avLst/>
          </a:prstGeom>
        </p:spPr>
      </p:pic>
      <p:sp>
        <p:nvSpPr>
          <p:cNvPr id="24" name="TextBox 23"/>
          <p:cNvSpPr txBox="1"/>
          <p:nvPr/>
        </p:nvSpPr>
        <p:spPr>
          <a:xfrm>
            <a:off x="7543800" y="4572000"/>
            <a:ext cx="3794760" cy="320040"/>
          </a:xfrm>
          <a:prstGeom prst="rect">
            <a:avLst/>
          </a:prstGeom>
          <a:noFill/>
        </p:spPr>
        <p:txBody>
          <a:bodyPr wrap="square" lIns="0" tIns="0" rIns="0" bIns="0" anchor="t">
            <a:spAutoFit/>
          </a:bodyPr>
          <a:lstStyle/>
          <a:p>
            <a:pPr algn="l"/>
            <a:r>
              <a:rPr sz="1600" b="1" i="0">
                <a:solidFill>
                  <a:srgbClr val="FFFFFF"/>
                </a:solidFill>
                <a:latin typeface="Calibri"/>
              </a:rPr>
              <a:t>Explainable to anyone</a:t>
            </a:r>
          </a:p>
        </p:txBody>
      </p:sp>
      <p:sp>
        <p:nvSpPr>
          <p:cNvPr id="25" name="TextBox 24"/>
          <p:cNvSpPr txBox="1"/>
          <p:nvPr/>
        </p:nvSpPr>
        <p:spPr>
          <a:xfrm>
            <a:off x="7543800" y="4956048"/>
            <a:ext cx="3794760" cy="777240"/>
          </a:xfrm>
          <a:prstGeom prst="rect">
            <a:avLst/>
          </a:prstGeom>
          <a:noFill/>
        </p:spPr>
        <p:txBody>
          <a:bodyPr wrap="square" lIns="0" tIns="0" rIns="0" bIns="0" anchor="t">
            <a:spAutoFit/>
          </a:bodyPr>
          <a:lstStyle/>
          <a:p>
            <a:pPr algn="l">
              <a:lnSpc>
                <a:spcPct val="105000"/>
              </a:lnSpc>
            </a:pPr>
            <a:r>
              <a:rPr sz="1200" b="0" i="0">
                <a:solidFill>
                  <a:srgbClr val="B9D0C4"/>
                </a:solidFill>
                <a:latin typeface="Calibri"/>
              </a:rPr>
              <a:t>The Three.js digital twin mirrors the same logic live, with a draggable dial plus rain and day/night controls, in any modern browser.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502920"/>
          </a:xfrm>
          <a:prstGeom prst="rect">
            <a:avLst/>
          </a:prstGeom>
          <a:noFill/>
        </p:spPr>
        <p:txBody>
          <a:bodyPr wrap="square" lIns="0" tIns="0" rIns="0" bIns="0" anchor="ctr">
            <a:spAutoFit/>
          </a:bodyPr>
          <a:lstStyle/>
          <a:p>
            <a:pPr algn="l"/>
            <a:r>
              <a:rPr sz="3000" b="1" i="0">
                <a:solidFill>
                  <a:srgbClr val="1F3D2E"/>
                </a:solidFill>
                <a:latin typeface="Cambria"/>
              </a:rPr>
              <a:t>References</a:t>
            </a:r>
          </a:p>
        </p:txBody>
      </p:sp>
      <p:sp>
        <p:nvSpPr>
          <p:cNvPr id="3" name="TextBox 2"/>
          <p:cNvSpPr txBox="1"/>
          <p:nvPr/>
        </p:nvSpPr>
        <p:spPr>
          <a:xfrm>
            <a:off x="640080" y="868680"/>
            <a:ext cx="10058400" cy="365760"/>
          </a:xfrm>
          <a:prstGeom prst="rect">
            <a:avLst/>
          </a:prstGeom>
          <a:noFill/>
        </p:spPr>
        <p:txBody>
          <a:bodyPr wrap="square" lIns="0" tIns="0" rIns="0" bIns="0" anchor="ctr">
            <a:spAutoFit/>
          </a:bodyPr>
          <a:lstStyle/>
          <a:p>
            <a:pPr algn="l"/>
            <a:r>
              <a:rPr sz="1300" b="0" i="0">
                <a:solidFill>
                  <a:srgbClr val="58655C"/>
                </a:solidFill>
                <a:latin typeface="Calibri"/>
              </a:rPr>
              <a:t>Tools, platforms, datasheets and project files used to build the system.</a:t>
            </a:r>
          </a:p>
        </p:txBody>
      </p:sp>
      <p:sp>
        <p:nvSpPr>
          <p:cNvPr id="4" name="Rounded Rectangle 3"/>
          <p:cNvSpPr/>
          <p:nvPr/>
        </p:nvSpPr>
        <p:spPr>
          <a:xfrm>
            <a:off x="640080" y="1554480"/>
            <a:ext cx="3474720" cy="4754880"/>
          </a:xfrm>
          <a:prstGeom prst="roundRect">
            <a:avLst>
              <a:gd name="adj" fmla="val 4000"/>
            </a:avLst>
          </a:prstGeom>
          <a:solidFill>
            <a:srgbClr val="E9F0E9"/>
          </a:solidFill>
          <a:ln>
            <a:noFill/>
          </a:ln>
          <a:effectLst>
            <a:outerShdw blurRad="101600" dist="38100" dir="5400000" algn="bl" rotWithShape="0">
              <a:srgbClr val="0B171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 y="1828799"/>
            <a:ext cx="548640" cy="548640"/>
          </a:xfrm>
          <a:prstGeom prst="ellipse">
            <a:avLst/>
          </a:prstGeom>
          <a:solidFill>
            <a:srgbClr val="1F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box_w.png"/>
          <p:cNvPicPr>
            <a:picLocks noChangeAspect="1"/>
          </p:cNvPicPr>
          <p:nvPr/>
        </p:nvPicPr>
        <p:blipFill>
          <a:blip r:embed="rId3"/>
          <a:stretch>
            <a:fillRect/>
          </a:stretch>
        </p:blipFill>
        <p:spPr>
          <a:xfrm>
            <a:off x="1000353" y="1960473"/>
            <a:ext cx="285292" cy="285292"/>
          </a:xfrm>
          <a:prstGeom prst="rect">
            <a:avLst/>
          </a:prstGeom>
        </p:spPr>
      </p:pic>
      <p:sp>
        <p:nvSpPr>
          <p:cNvPr id="7" name="TextBox 6"/>
          <p:cNvSpPr txBox="1"/>
          <p:nvPr/>
        </p:nvSpPr>
        <p:spPr>
          <a:xfrm>
            <a:off x="1554480" y="1920240"/>
            <a:ext cx="2377439" cy="365760"/>
          </a:xfrm>
          <a:prstGeom prst="rect">
            <a:avLst/>
          </a:prstGeom>
          <a:noFill/>
        </p:spPr>
        <p:txBody>
          <a:bodyPr wrap="square" lIns="0" tIns="0" rIns="0" bIns="0" anchor="ctr">
            <a:spAutoFit/>
          </a:bodyPr>
          <a:lstStyle/>
          <a:p>
            <a:pPr algn="l"/>
            <a:r>
              <a:rPr sz="1600" b="1" i="0">
                <a:solidFill>
                  <a:srgbClr val="1F3D2E"/>
                </a:solidFill>
                <a:latin typeface="Cambria"/>
              </a:rPr>
              <a:t>Software &amp; Platforms</a:t>
            </a:r>
          </a:p>
        </p:txBody>
      </p:sp>
      <p:sp>
        <p:nvSpPr>
          <p:cNvPr id="8" name="TextBox 7"/>
          <p:cNvSpPr txBox="1"/>
          <p:nvPr/>
        </p:nvSpPr>
        <p:spPr>
          <a:xfrm>
            <a:off x="914400" y="2606039"/>
            <a:ext cx="502920" cy="256032"/>
          </a:xfrm>
          <a:prstGeom prst="rect">
            <a:avLst/>
          </a:prstGeom>
          <a:noFill/>
        </p:spPr>
        <p:txBody>
          <a:bodyPr wrap="square" lIns="0" tIns="0" rIns="0" bIns="0" anchor="t">
            <a:spAutoFit/>
          </a:bodyPr>
          <a:lstStyle/>
          <a:p>
            <a:pPr algn="l"/>
            <a:r>
              <a:rPr sz="1200" b="1" i="0">
                <a:solidFill>
                  <a:srgbClr val="B7791F"/>
                </a:solidFill>
                <a:latin typeface="Calibri"/>
              </a:rPr>
              <a:t>[1]</a:t>
            </a:r>
          </a:p>
        </p:txBody>
      </p:sp>
      <p:sp>
        <p:nvSpPr>
          <p:cNvPr id="9" name="TextBox 8"/>
          <p:cNvSpPr txBox="1"/>
          <p:nvPr/>
        </p:nvSpPr>
        <p:spPr>
          <a:xfrm>
            <a:off x="1417319" y="2606039"/>
            <a:ext cx="2468879" cy="256032"/>
          </a:xfrm>
          <a:prstGeom prst="rect">
            <a:avLst/>
          </a:prstGeom>
          <a:noFill/>
        </p:spPr>
        <p:txBody>
          <a:bodyPr wrap="square" lIns="0" tIns="0" rIns="0" bIns="0" anchor="t">
            <a:spAutoFit/>
          </a:bodyPr>
          <a:lstStyle/>
          <a:p>
            <a:pPr algn="l"/>
            <a:r>
              <a:rPr sz="1250" b="1" i="0">
                <a:solidFill>
                  <a:srgbClr val="1F3D2E"/>
                </a:solidFill>
                <a:latin typeface="Calibri"/>
              </a:rPr>
              <a:t>Autodesk Tinkercad Circuits</a:t>
            </a:r>
          </a:p>
        </p:txBody>
      </p:sp>
      <p:sp>
        <p:nvSpPr>
          <p:cNvPr id="10" name="TextBox 9"/>
          <p:cNvSpPr txBox="1"/>
          <p:nvPr/>
        </p:nvSpPr>
        <p:spPr>
          <a:xfrm>
            <a:off x="1417319" y="2862072"/>
            <a:ext cx="2468879" cy="219456"/>
          </a:xfrm>
          <a:prstGeom prst="rect">
            <a:avLst/>
          </a:prstGeom>
          <a:noFill/>
        </p:spPr>
        <p:txBody>
          <a:bodyPr wrap="square" lIns="0" tIns="0" rIns="0" bIns="0" anchor="t">
            <a:spAutoFit/>
          </a:bodyPr>
          <a:lstStyle/>
          <a:p>
            <a:pPr algn="l"/>
            <a:r>
              <a:rPr sz="1100" b="0" i="0">
                <a:solidFill>
                  <a:srgbClr val="58655C"/>
                </a:solidFill>
                <a:latin typeface="Calibri"/>
              </a:rPr>
              <a:t>Circuit design and simulation</a:t>
            </a:r>
          </a:p>
        </p:txBody>
      </p:sp>
      <p:sp>
        <p:nvSpPr>
          <p:cNvPr id="11" name="TextBox 10"/>
          <p:cNvSpPr txBox="1"/>
          <p:nvPr/>
        </p:nvSpPr>
        <p:spPr>
          <a:xfrm>
            <a:off x="1417319" y="3090672"/>
            <a:ext cx="2468879" cy="219456"/>
          </a:xfrm>
          <a:prstGeom prst="rect">
            <a:avLst/>
          </a:prstGeom>
          <a:noFill/>
        </p:spPr>
        <p:txBody>
          <a:bodyPr wrap="square" lIns="0" tIns="0" rIns="0" bIns="0" anchor="t">
            <a:spAutoFit/>
          </a:bodyPr>
          <a:lstStyle/>
          <a:p>
            <a:pPr algn="l"/>
            <a:r>
              <a:rPr sz="1050" b="0" i="0">
                <a:solidFill>
                  <a:srgbClr val="2F6B4F"/>
                </a:solidFill>
                <a:latin typeface="Calibri"/>
              </a:rPr>
              <a:t>tinkercad.com/circuits</a:t>
            </a:r>
          </a:p>
        </p:txBody>
      </p:sp>
      <p:sp>
        <p:nvSpPr>
          <p:cNvPr id="12" name="TextBox 11"/>
          <p:cNvSpPr txBox="1"/>
          <p:nvPr/>
        </p:nvSpPr>
        <p:spPr>
          <a:xfrm>
            <a:off x="914400" y="3520439"/>
            <a:ext cx="502920" cy="256032"/>
          </a:xfrm>
          <a:prstGeom prst="rect">
            <a:avLst/>
          </a:prstGeom>
          <a:noFill/>
        </p:spPr>
        <p:txBody>
          <a:bodyPr wrap="square" lIns="0" tIns="0" rIns="0" bIns="0" anchor="t">
            <a:spAutoFit/>
          </a:bodyPr>
          <a:lstStyle/>
          <a:p>
            <a:pPr algn="l"/>
            <a:r>
              <a:rPr sz="1200" b="1" i="0">
                <a:solidFill>
                  <a:srgbClr val="B7791F"/>
                </a:solidFill>
                <a:latin typeface="Calibri"/>
              </a:rPr>
              <a:t>[2]</a:t>
            </a:r>
          </a:p>
        </p:txBody>
      </p:sp>
      <p:sp>
        <p:nvSpPr>
          <p:cNvPr id="13" name="TextBox 12"/>
          <p:cNvSpPr txBox="1"/>
          <p:nvPr/>
        </p:nvSpPr>
        <p:spPr>
          <a:xfrm>
            <a:off x="1417319" y="3520439"/>
            <a:ext cx="2468879" cy="256032"/>
          </a:xfrm>
          <a:prstGeom prst="rect">
            <a:avLst/>
          </a:prstGeom>
          <a:noFill/>
        </p:spPr>
        <p:txBody>
          <a:bodyPr wrap="square" lIns="0" tIns="0" rIns="0" bIns="0" anchor="t">
            <a:spAutoFit/>
          </a:bodyPr>
          <a:lstStyle/>
          <a:p>
            <a:pPr algn="l"/>
            <a:r>
              <a:rPr sz="1250" b="1" i="0">
                <a:solidFill>
                  <a:srgbClr val="1F3D2E"/>
                </a:solidFill>
                <a:latin typeface="Calibri"/>
              </a:rPr>
              <a:t>Three.js (r160)</a:t>
            </a:r>
          </a:p>
        </p:txBody>
      </p:sp>
      <p:sp>
        <p:nvSpPr>
          <p:cNvPr id="14" name="TextBox 13"/>
          <p:cNvSpPr txBox="1"/>
          <p:nvPr/>
        </p:nvSpPr>
        <p:spPr>
          <a:xfrm>
            <a:off x="1417319" y="3776472"/>
            <a:ext cx="2468879" cy="219456"/>
          </a:xfrm>
          <a:prstGeom prst="rect">
            <a:avLst/>
          </a:prstGeom>
          <a:noFill/>
        </p:spPr>
        <p:txBody>
          <a:bodyPr wrap="square" lIns="0" tIns="0" rIns="0" bIns="0" anchor="t">
            <a:spAutoFit/>
          </a:bodyPr>
          <a:lstStyle/>
          <a:p>
            <a:pPr algn="l"/>
            <a:r>
              <a:rPr sz="1100" b="0" i="0">
                <a:solidFill>
                  <a:srgbClr val="58655C"/>
                </a:solidFill>
                <a:latin typeface="Calibri"/>
              </a:rPr>
              <a:t>3D engine, OrbitControls, bloom effect</a:t>
            </a:r>
          </a:p>
        </p:txBody>
      </p:sp>
      <p:sp>
        <p:nvSpPr>
          <p:cNvPr id="15" name="TextBox 14"/>
          <p:cNvSpPr txBox="1"/>
          <p:nvPr/>
        </p:nvSpPr>
        <p:spPr>
          <a:xfrm>
            <a:off x="1417319" y="4005072"/>
            <a:ext cx="2468879" cy="219456"/>
          </a:xfrm>
          <a:prstGeom prst="rect">
            <a:avLst/>
          </a:prstGeom>
          <a:noFill/>
        </p:spPr>
        <p:txBody>
          <a:bodyPr wrap="square" lIns="0" tIns="0" rIns="0" bIns="0" anchor="t">
            <a:spAutoFit/>
          </a:bodyPr>
          <a:lstStyle/>
          <a:p>
            <a:pPr algn="l"/>
            <a:r>
              <a:rPr sz="1050" b="0" i="0">
                <a:solidFill>
                  <a:srgbClr val="2F6B4F"/>
                </a:solidFill>
                <a:latin typeface="Calibri"/>
              </a:rPr>
              <a:t>threejs.org/docs</a:t>
            </a:r>
          </a:p>
        </p:txBody>
      </p:sp>
      <p:sp>
        <p:nvSpPr>
          <p:cNvPr id="16" name="TextBox 15"/>
          <p:cNvSpPr txBox="1"/>
          <p:nvPr/>
        </p:nvSpPr>
        <p:spPr>
          <a:xfrm>
            <a:off x="914400" y="4434840"/>
            <a:ext cx="502920" cy="256032"/>
          </a:xfrm>
          <a:prstGeom prst="rect">
            <a:avLst/>
          </a:prstGeom>
          <a:noFill/>
        </p:spPr>
        <p:txBody>
          <a:bodyPr wrap="square" lIns="0" tIns="0" rIns="0" bIns="0" anchor="t">
            <a:spAutoFit/>
          </a:bodyPr>
          <a:lstStyle/>
          <a:p>
            <a:pPr algn="l"/>
            <a:r>
              <a:rPr sz="1200" b="1" i="0">
                <a:solidFill>
                  <a:srgbClr val="B7791F"/>
                </a:solidFill>
                <a:latin typeface="Calibri"/>
              </a:rPr>
              <a:t>[3]</a:t>
            </a:r>
          </a:p>
        </p:txBody>
      </p:sp>
      <p:sp>
        <p:nvSpPr>
          <p:cNvPr id="17" name="TextBox 16"/>
          <p:cNvSpPr txBox="1"/>
          <p:nvPr/>
        </p:nvSpPr>
        <p:spPr>
          <a:xfrm>
            <a:off x="1417319" y="4434840"/>
            <a:ext cx="2468879" cy="256032"/>
          </a:xfrm>
          <a:prstGeom prst="rect">
            <a:avLst/>
          </a:prstGeom>
          <a:noFill/>
        </p:spPr>
        <p:txBody>
          <a:bodyPr wrap="square" lIns="0" tIns="0" rIns="0" bIns="0" anchor="t">
            <a:spAutoFit/>
          </a:bodyPr>
          <a:lstStyle/>
          <a:p>
            <a:pPr algn="l"/>
            <a:r>
              <a:rPr sz="1250" b="1" i="0">
                <a:solidFill>
                  <a:srgbClr val="1F3D2E"/>
                </a:solidFill>
                <a:latin typeface="Calibri"/>
              </a:rPr>
              <a:t>WebGL (Khronos Group)</a:t>
            </a:r>
          </a:p>
        </p:txBody>
      </p:sp>
      <p:sp>
        <p:nvSpPr>
          <p:cNvPr id="18" name="TextBox 17"/>
          <p:cNvSpPr txBox="1"/>
          <p:nvPr/>
        </p:nvSpPr>
        <p:spPr>
          <a:xfrm>
            <a:off x="1417319" y="4690872"/>
            <a:ext cx="2468879" cy="219456"/>
          </a:xfrm>
          <a:prstGeom prst="rect">
            <a:avLst/>
          </a:prstGeom>
          <a:noFill/>
        </p:spPr>
        <p:txBody>
          <a:bodyPr wrap="square" lIns="0" tIns="0" rIns="0" bIns="0" anchor="t">
            <a:spAutoFit/>
          </a:bodyPr>
          <a:lstStyle/>
          <a:p>
            <a:pPr algn="l"/>
            <a:r>
              <a:rPr sz="1100" b="0" i="0">
                <a:solidFill>
                  <a:srgbClr val="58655C"/>
                </a:solidFill>
                <a:latin typeface="Calibri"/>
              </a:rPr>
              <a:t>Web graphics standard behind Three.js</a:t>
            </a:r>
          </a:p>
        </p:txBody>
      </p:sp>
      <p:sp>
        <p:nvSpPr>
          <p:cNvPr id="19" name="TextBox 18"/>
          <p:cNvSpPr txBox="1"/>
          <p:nvPr/>
        </p:nvSpPr>
        <p:spPr>
          <a:xfrm>
            <a:off x="1417319" y="4919472"/>
            <a:ext cx="2468879" cy="219456"/>
          </a:xfrm>
          <a:prstGeom prst="rect">
            <a:avLst/>
          </a:prstGeom>
          <a:noFill/>
        </p:spPr>
        <p:txBody>
          <a:bodyPr wrap="square" lIns="0" tIns="0" rIns="0" bIns="0" anchor="t">
            <a:spAutoFit/>
          </a:bodyPr>
          <a:lstStyle/>
          <a:p>
            <a:pPr algn="l"/>
            <a:r>
              <a:rPr sz="1050" b="0" i="0">
                <a:solidFill>
                  <a:srgbClr val="2F6B4F"/>
                </a:solidFill>
                <a:latin typeface="Calibri"/>
              </a:rPr>
              <a:t>khronos.org/webgl</a:t>
            </a:r>
          </a:p>
        </p:txBody>
      </p:sp>
      <p:sp>
        <p:nvSpPr>
          <p:cNvPr id="20" name="TextBox 19"/>
          <p:cNvSpPr txBox="1"/>
          <p:nvPr/>
        </p:nvSpPr>
        <p:spPr>
          <a:xfrm>
            <a:off x="914400" y="5349240"/>
            <a:ext cx="502920" cy="256032"/>
          </a:xfrm>
          <a:prstGeom prst="rect">
            <a:avLst/>
          </a:prstGeom>
          <a:noFill/>
        </p:spPr>
        <p:txBody>
          <a:bodyPr wrap="square" lIns="0" tIns="0" rIns="0" bIns="0" anchor="t">
            <a:spAutoFit/>
          </a:bodyPr>
          <a:lstStyle/>
          <a:p>
            <a:pPr algn="l"/>
            <a:r>
              <a:rPr sz="1200" b="1" i="0">
                <a:solidFill>
                  <a:srgbClr val="B7791F"/>
                </a:solidFill>
                <a:latin typeface="Calibri"/>
              </a:rPr>
              <a:t>[4]</a:t>
            </a:r>
          </a:p>
        </p:txBody>
      </p:sp>
      <p:sp>
        <p:nvSpPr>
          <p:cNvPr id="21" name="TextBox 20"/>
          <p:cNvSpPr txBox="1"/>
          <p:nvPr/>
        </p:nvSpPr>
        <p:spPr>
          <a:xfrm>
            <a:off x="1417319" y="5349240"/>
            <a:ext cx="2468879" cy="256032"/>
          </a:xfrm>
          <a:prstGeom prst="rect">
            <a:avLst/>
          </a:prstGeom>
          <a:noFill/>
        </p:spPr>
        <p:txBody>
          <a:bodyPr wrap="square" lIns="0" tIns="0" rIns="0" bIns="0" anchor="t">
            <a:spAutoFit/>
          </a:bodyPr>
          <a:lstStyle/>
          <a:p>
            <a:pPr algn="l"/>
            <a:r>
              <a:rPr sz="1250" b="1" i="0">
                <a:solidFill>
                  <a:srgbClr val="1F3D2E"/>
                </a:solidFill>
                <a:latin typeface="Calibri"/>
              </a:rPr>
              <a:t>jsDelivr CDN</a:t>
            </a:r>
          </a:p>
        </p:txBody>
      </p:sp>
      <p:sp>
        <p:nvSpPr>
          <p:cNvPr id="22" name="TextBox 21"/>
          <p:cNvSpPr txBox="1"/>
          <p:nvPr/>
        </p:nvSpPr>
        <p:spPr>
          <a:xfrm>
            <a:off x="1417319" y="5605272"/>
            <a:ext cx="2468879" cy="219456"/>
          </a:xfrm>
          <a:prstGeom prst="rect">
            <a:avLst/>
          </a:prstGeom>
          <a:noFill/>
        </p:spPr>
        <p:txBody>
          <a:bodyPr wrap="square" lIns="0" tIns="0" rIns="0" bIns="0" anchor="t">
            <a:spAutoFit/>
          </a:bodyPr>
          <a:lstStyle/>
          <a:p>
            <a:pPr algn="l"/>
            <a:r>
              <a:rPr sz="1100" b="0" i="0">
                <a:solidFill>
                  <a:srgbClr val="58655C"/>
                </a:solidFill>
                <a:latin typeface="Calibri"/>
              </a:rPr>
              <a:t>Serves three@0.160.0 via an import map</a:t>
            </a:r>
          </a:p>
        </p:txBody>
      </p:sp>
      <p:sp>
        <p:nvSpPr>
          <p:cNvPr id="23" name="TextBox 22"/>
          <p:cNvSpPr txBox="1"/>
          <p:nvPr/>
        </p:nvSpPr>
        <p:spPr>
          <a:xfrm>
            <a:off x="1417319" y="5833872"/>
            <a:ext cx="2468879" cy="219456"/>
          </a:xfrm>
          <a:prstGeom prst="rect">
            <a:avLst/>
          </a:prstGeom>
          <a:noFill/>
        </p:spPr>
        <p:txBody>
          <a:bodyPr wrap="square" lIns="0" tIns="0" rIns="0" bIns="0" anchor="t">
            <a:spAutoFit/>
          </a:bodyPr>
          <a:lstStyle/>
          <a:p>
            <a:pPr algn="l"/>
            <a:r>
              <a:rPr sz="1050" b="0" i="0">
                <a:solidFill>
                  <a:srgbClr val="2F6B4F"/>
                </a:solidFill>
                <a:latin typeface="Calibri"/>
              </a:rPr>
              <a:t>jsdelivr.com/package/npm/three</a:t>
            </a:r>
          </a:p>
        </p:txBody>
      </p:sp>
      <p:sp>
        <p:nvSpPr>
          <p:cNvPr id="24" name="Rounded Rectangle 23"/>
          <p:cNvSpPr/>
          <p:nvPr/>
        </p:nvSpPr>
        <p:spPr>
          <a:xfrm>
            <a:off x="4357116" y="1554480"/>
            <a:ext cx="3474720" cy="4754880"/>
          </a:xfrm>
          <a:prstGeom prst="roundRect">
            <a:avLst>
              <a:gd name="adj" fmla="val 4000"/>
            </a:avLst>
          </a:prstGeom>
          <a:solidFill>
            <a:srgbClr val="E9F0E9"/>
          </a:solidFill>
          <a:ln>
            <a:noFill/>
          </a:ln>
          <a:effectLst>
            <a:outerShdw blurRad="101600" dist="38100" dir="5400000" algn="bl" rotWithShape="0">
              <a:srgbClr val="0B171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585716" y="1828799"/>
            <a:ext cx="548640" cy="548640"/>
          </a:xfrm>
          <a:prstGeom prst="ellipse">
            <a:avLst/>
          </a:prstGeom>
          <a:solidFill>
            <a:srgbClr val="1F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cpu_w.png"/>
          <p:cNvPicPr>
            <a:picLocks noChangeAspect="1"/>
          </p:cNvPicPr>
          <p:nvPr/>
        </p:nvPicPr>
        <p:blipFill>
          <a:blip r:embed="rId4"/>
          <a:stretch>
            <a:fillRect/>
          </a:stretch>
        </p:blipFill>
        <p:spPr>
          <a:xfrm>
            <a:off x="4717389" y="1960473"/>
            <a:ext cx="285292" cy="285292"/>
          </a:xfrm>
          <a:prstGeom prst="rect">
            <a:avLst/>
          </a:prstGeom>
        </p:spPr>
      </p:pic>
      <p:sp>
        <p:nvSpPr>
          <p:cNvPr id="27" name="TextBox 26"/>
          <p:cNvSpPr txBox="1"/>
          <p:nvPr/>
        </p:nvSpPr>
        <p:spPr>
          <a:xfrm>
            <a:off x="5271516" y="1920240"/>
            <a:ext cx="2377439" cy="365760"/>
          </a:xfrm>
          <a:prstGeom prst="rect">
            <a:avLst/>
          </a:prstGeom>
          <a:noFill/>
        </p:spPr>
        <p:txBody>
          <a:bodyPr wrap="square" lIns="0" tIns="0" rIns="0" bIns="0" anchor="ctr">
            <a:spAutoFit/>
          </a:bodyPr>
          <a:lstStyle/>
          <a:p>
            <a:pPr algn="l"/>
            <a:r>
              <a:rPr sz="1600" b="1" i="0">
                <a:solidFill>
                  <a:srgbClr val="1F3D2E"/>
                </a:solidFill>
                <a:latin typeface="Cambria"/>
              </a:rPr>
              <a:t>Hardware Docs</a:t>
            </a:r>
          </a:p>
        </p:txBody>
      </p:sp>
      <p:sp>
        <p:nvSpPr>
          <p:cNvPr id="28" name="TextBox 27"/>
          <p:cNvSpPr txBox="1"/>
          <p:nvPr/>
        </p:nvSpPr>
        <p:spPr>
          <a:xfrm>
            <a:off x="4631436" y="2606039"/>
            <a:ext cx="502920" cy="256032"/>
          </a:xfrm>
          <a:prstGeom prst="rect">
            <a:avLst/>
          </a:prstGeom>
          <a:noFill/>
        </p:spPr>
        <p:txBody>
          <a:bodyPr wrap="square" lIns="0" tIns="0" rIns="0" bIns="0" anchor="t">
            <a:spAutoFit/>
          </a:bodyPr>
          <a:lstStyle/>
          <a:p>
            <a:pPr algn="l"/>
            <a:r>
              <a:rPr sz="1200" b="1" i="0">
                <a:solidFill>
                  <a:srgbClr val="B7791F"/>
                </a:solidFill>
                <a:latin typeface="Calibri"/>
              </a:rPr>
              <a:t>[5]</a:t>
            </a:r>
          </a:p>
        </p:txBody>
      </p:sp>
      <p:sp>
        <p:nvSpPr>
          <p:cNvPr id="29" name="TextBox 28"/>
          <p:cNvSpPr txBox="1"/>
          <p:nvPr/>
        </p:nvSpPr>
        <p:spPr>
          <a:xfrm>
            <a:off x="5134355" y="2606039"/>
            <a:ext cx="2468879" cy="256032"/>
          </a:xfrm>
          <a:prstGeom prst="rect">
            <a:avLst/>
          </a:prstGeom>
          <a:noFill/>
        </p:spPr>
        <p:txBody>
          <a:bodyPr wrap="square" lIns="0" tIns="0" rIns="0" bIns="0" anchor="t">
            <a:spAutoFit/>
          </a:bodyPr>
          <a:lstStyle/>
          <a:p>
            <a:pPr algn="l"/>
            <a:r>
              <a:rPr sz="1250" b="1" i="0">
                <a:solidFill>
                  <a:srgbClr val="1F3D2E"/>
                </a:solidFill>
                <a:latin typeface="Calibri"/>
              </a:rPr>
              <a:t>Arduino Uno Rev3</a:t>
            </a:r>
          </a:p>
        </p:txBody>
      </p:sp>
      <p:sp>
        <p:nvSpPr>
          <p:cNvPr id="30" name="TextBox 29"/>
          <p:cNvSpPr txBox="1"/>
          <p:nvPr/>
        </p:nvSpPr>
        <p:spPr>
          <a:xfrm>
            <a:off x="5134355" y="2862072"/>
            <a:ext cx="2468879" cy="219456"/>
          </a:xfrm>
          <a:prstGeom prst="rect">
            <a:avLst/>
          </a:prstGeom>
          <a:noFill/>
        </p:spPr>
        <p:txBody>
          <a:bodyPr wrap="square" lIns="0" tIns="0" rIns="0" bIns="0" anchor="t">
            <a:spAutoFit/>
          </a:bodyPr>
          <a:lstStyle/>
          <a:p>
            <a:pPr algn="l"/>
            <a:r>
              <a:rPr sz="1100" b="0" i="0">
                <a:solidFill>
                  <a:srgbClr val="58655C"/>
                </a:solidFill>
                <a:latin typeface="Calibri"/>
              </a:rPr>
              <a:t>Board specifications and pinout</a:t>
            </a:r>
          </a:p>
        </p:txBody>
      </p:sp>
      <p:sp>
        <p:nvSpPr>
          <p:cNvPr id="31" name="TextBox 30"/>
          <p:cNvSpPr txBox="1"/>
          <p:nvPr/>
        </p:nvSpPr>
        <p:spPr>
          <a:xfrm>
            <a:off x="5134355" y="3090672"/>
            <a:ext cx="2468879" cy="219456"/>
          </a:xfrm>
          <a:prstGeom prst="rect">
            <a:avLst/>
          </a:prstGeom>
          <a:noFill/>
        </p:spPr>
        <p:txBody>
          <a:bodyPr wrap="square" lIns="0" tIns="0" rIns="0" bIns="0" anchor="t">
            <a:spAutoFit/>
          </a:bodyPr>
          <a:lstStyle/>
          <a:p>
            <a:pPr algn="l"/>
            <a:r>
              <a:rPr sz="1050" b="0" i="0">
                <a:solidFill>
                  <a:srgbClr val="2F6B4F"/>
                </a:solidFill>
                <a:latin typeface="Calibri"/>
              </a:rPr>
              <a:t>docs.arduino.cc/hardware/uno-rev3</a:t>
            </a:r>
          </a:p>
        </p:txBody>
      </p:sp>
      <p:sp>
        <p:nvSpPr>
          <p:cNvPr id="32" name="TextBox 31"/>
          <p:cNvSpPr txBox="1"/>
          <p:nvPr/>
        </p:nvSpPr>
        <p:spPr>
          <a:xfrm>
            <a:off x="4631436" y="3520439"/>
            <a:ext cx="502920" cy="256032"/>
          </a:xfrm>
          <a:prstGeom prst="rect">
            <a:avLst/>
          </a:prstGeom>
          <a:noFill/>
        </p:spPr>
        <p:txBody>
          <a:bodyPr wrap="square" lIns="0" tIns="0" rIns="0" bIns="0" anchor="t">
            <a:spAutoFit/>
          </a:bodyPr>
          <a:lstStyle/>
          <a:p>
            <a:pPr algn="l"/>
            <a:r>
              <a:rPr sz="1200" b="1" i="0">
                <a:solidFill>
                  <a:srgbClr val="B7791F"/>
                </a:solidFill>
                <a:latin typeface="Calibri"/>
              </a:rPr>
              <a:t>[6]</a:t>
            </a:r>
          </a:p>
        </p:txBody>
      </p:sp>
      <p:sp>
        <p:nvSpPr>
          <p:cNvPr id="33" name="TextBox 32"/>
          <p:cNvSpPr txBox="1"/>
          <p:nvPr/>
        </p:nvSpPr>
        <p:spPr>
          <a:xfrm>
            <a:off x="5134355" y="3520439"/>
            <a:ext cx="2468879" cy="256032"/>
          </a:xfrm>
          <a:prstGeom prst="rect">
            <a:avLst/>
          </a:prstGeom>
          <a:noFill/>
        </p:spPr>
        <p:txBody>
          <a:bodyPr wrap="square" lIns="0" tIns="0" rIns="0" bIns="0" anchor="t">
            <a:spAutoFit/>
          </a:bodyPr>
          <a:lstStyle/>
          <a:p>
            <a:pPr algn="l"/>
            <a:r>
              <a:rPr sz="1250" b="1" i="0">
                <a:solidFill>
                  <a:srgbClr val="1F3D2E"/>
                </a:solidFill>
                <a:latin typeface="Calibri"/>
              </a:rPr>
              <a:t>TMP36 Temperature Sensor</a:t>
            </a:r>
          </a:p>
        </p:txBody>
      </p:sp>
      <p:sp>
        <p:nvSpPr>
          <p:cNvPr id="34" name="TextBox 33"/>
          <p:cNvSpPr txBox="1"/>
          <p:nvPr/>
        </p:nvSpPr>
        <p:spPr>
          <a:xfrm>
            <a:off x="5134355" y="3776472"/>
            <a:ext cx="2468879" cy="219456"/>
          </a:xfrm>
          <a:prstGeom prst="rect">
            <a:avLst/>
          </a:prstGeom>
          <a:noFill/>
        </p:spPr>
        <p:txBody>
          <a:bodyPr wrap="square" lIns="0" tIns="0" rIns="0" bIns="0" anchor="t">
            <a:spAutoFit/>
          </a:bodyPr>
          <a:lstStyle/>
          <a:p>
            <a:pPr algn="l"/>
            <a:r>
              <a:rPr sz="1100" b="0" i="0">
                <a:solidFill>
                  <a:srgbClr val="58655C"/>
                </a:solidFill>
                <a:latin typeface="Calibri"/>
              </a:rPr>
              <a:t>Analog Devices datasheet</a:t>
            </a:r>
          </a:p>
        </p:txBody>
      </p:sp>
      <p:sp>
        <p:nvSpPr>
          <p:cNvPr id="35" name="TextBox 34"/>
          <p:cNvSpPr txBox="1"/>
          <p:nvPr/>
        </p:nvSpPr>
        <p:spPr>
          <a:xfrm>
            <a:off x="5134355" y="4005072"/>
            <a:ext cx="2468879" cy="219456"/>
          </a:xfrm>
          <a:prstGeom prst="rect">
            <a:avLst/>
          </a:prstGeom>
          <a:noFill/>
        </p:spPr>
        <p:txBody>
          <a:bodyPr wrap="square" lIns="0" tIns="0" rIns="0" bIns="0" anchor="t">
            <a:spAutoFit/>
          </a:bodyPr>
          <a:lstStyle/>
          <a:p>
            <a:pPr algn="l"/>
            <a:r>
              <a:rPr sz="1050" b="0" i="0">
                <a:solidFill>
                  <a:srgbClr val="2F6B4F"/>
                </a:solidFill>
                <a:latin typeface="Calibri"/>
              </a:rPr>
              <a:t>analog.com/en/products/tmp36.html</a:t>
            </a:r>
          </a:p>
        </p:txBody>
      </p:sp>
      <p:sp>
        <p:nvSpPr>
          <p:cNvPr id="36" name="TextBox 35"/>
          <p:cNvSpPr txBox="1"/>
          <p:nvPr/>
        </p:nvSpPr>
        <p:spPr>
          <a:xfrm>
            <a:off x="4631436" y="4434840"/>
            <a:ext cx="502920" cy="256032"/>
          </a:xfrm>
          <a:prstGeom prst="rect">
            <a:avLst/>
          </a:prstGeom>
          <a:noFill/>
        </p:spPr>
        <p:txBody>
          <a:bodyPr wrap="square" lIns="0" tIns="0" rIns="0" bIns="0" anchor="t">
            <a:spAutoFit/>
          </a:bodyPr>
          <a:lstStyle/>
          <a:p>
            <a:pPr algn="l"/>
            <a:r>
              <a:rPr sz="1200" b="1" i="0">
                <a:solidFill>
                  <a:srgbClr val="B7791F"/>
                </a:solidFill>
                <a:latin typeface="Calibri"/>
              </a:rPr>
              <a:t>[7]</a:t>
            </a:r>
          </a:p>
        </p:txBody>
      </p:sp>
      <p:sp>
        <p:nvSpPr>
          <p:cNvPr id="37" name="TextBox 36"/>
          <p:cNvSpPr txBox="1"/>
          <p:nvPr/>
        </p:nvSpPr>
        <p:spPr>
          <a:xfrm>
            <a:off x="5134355" y="4434840"/>
            <a:ext cx="2468879" cy="256032"/>
          </a:xfrm>
          <a:prstGeom prst="rect">
            <a:avLst/>
          </a:prstGeom>
          <a:noFill/>
        </p:spPr>
        <p:txBody>
          <a:bodyPr wrap="square" lIns="0" tIns="0" rIns="0" bIns="0" anchor="t">
            <a:spAutoFit/>
          </a:bodyPr>
          <a:lstStyle/>
          <a:p>
            <a:pPr algn="l"/>
            <a:r>
              <a:rPr sz="1250" b="1" i="0">
                <a:solidFill>
                  <a:srgbClr val="1F3D2E"/>
                </a:solidFill>
                <a:latin typeface="Calibri"/>
              </a:rPr>
              <a:t>MCP23008 I/O Expander</a:t>
            </a:r>
          </a:p>
        </p:txBody>
      </p:sp>
      <p:sp>
        <p:nvSpPr>
          <p:cNvPr id="38" name="TextBox 37"/>
          <p:cNvSpPr txBox="1"/>
          <p:nvPr/>
        </p:nvSpPr>
        <p:spPr>
          <a:xfrm>
            <a:off x="5134355" y="4690872"/>
            <a:ext cx="2468879" cy="219456"/>
          </a:xfrm>
          <a:prstGeom prst="rect">
            <a:avLst/>
          </a:prstGeom>
          <a:noFill/>
        </p:spPr>
        <p:txBody>
          <a:bodyPr wrap="square" lIns="0" tIns="0" rIns="0" bIns="0" anchor="t">
            <a:spAutoFit/>
          </a:bodyPr>
          <a:lstStyle/>
          <a:p>
            <a:pPr algn="l"/>
            <a:r>
              <a:rPr sz="1100" b="0" i="0">
                <a:solidFill>
                  <a:srgbClr val="58655C"/>
                </a:solidFill>
                <a:latin typeface="Calibri"/>
              </a:rPr>
              <a:t>Microchip datasheet (I2C LCD interface)</a:t>
            </a:r>
          </a:p>
        </p:txBody>
      </p:sp>
      <p:sp>
        <p:nvSpPr>
          <p:cNvPr id="39" name="TextBox 38"/>
          <p:cNvSpPr txBox="1"/>
          <p:nvPr/>
        </p:nvSpPr>
        <p:spPr>
          <a:xfrm>
            <a:off x="5134355" y="4919472"/>
            <a:ext cx="2468879" cy="219456"/>
          </a:xfrm>
          <a:prstGeom prst="rect">
            <a:avLst/>
          </a:prstGeom>
          <a:noFill/>
        </p:spPr>
        <p:txBody>
          <a:bodyPr wrap="square" lIns="0" tIns="0" rIns="0" bIns="0" anchor="t">
            <a:spAutoFit/>
          </a:bodyPr>
          <a:lstStyle/>
          <a:p>
            <a:pPr algn="l"/>
            <a:r>
              <a:rPr sz="1050" b="0" i="0">
                <a:solidFill>
                  <a:srgbClr val="2F6B4F"/>
                </a:solidFill>
                <a:latin typeface="Calibri"/>
              </a:rPr>
              <a:t>microchip.com/en-us/product/MCP23008</a:t>
            </a:r>
          </a:p>
        </p:txBody>
      </p:sp>
      <p:sp>
        <p:nvSpPr>
          <p:cNvPr id="40" name="TextBox 39"/>
          <p:cNvSpPr txBox="1"/>
          <p:nvPr/>
        </p:nvSpPr>
        <p:spPr>
          <a:xfrm>
            <a:off x="4631436" y="5349240"/>
            <a:ext cx="502920" cy="256032"/>
          </a:xfrm>
          <a:prstGeom prst="rect">
            <a:avLst/>
          </a:prstGeom>
          <a:noFill/>
        </p:spPr>
        <p:txBody>
          <a:bodyPr wrap="square" lIns="0" tIns="0" rIns="0" bIns="0" anchor="t">
            <a:spAutoFit/>
          </a:bodyPr>
          <a:lstStyle/>
          <a:p>
            <a:pPr algn="l"/>
            <a:r>
              <a:rPr sz="1200" b="1" i="0">
                <a:solidFill>
                  <a:srgbClr val="B7791F"/>
                </a:solidFill>
                <a:latin typeface="Calibri"/>
              </a:rPr>
              <a:t>[8]</a:t>
            </a:r>
          </a:p>
        </p:txBody>
      </p:sp>
      <p:sp>
        <p:nvSpPr>
          <p:cNvPr id="41" name="TextBox 40"/>
          <p:cNvSpPr txBox="1"/>
          <p:nvPr/>
        </p:nvSpPr>
        <p:spPr>
          <a:xfrm>
            <a:off x="5134355" y="5349240"/>
            <a:ext cx="2468879" cy="256032"/>
          </a:xfrm>
          <a:prstGeom prst="rect">
            <a:avLst/>
          </a:prstGeom>
          <a:noFill/>
        </p:spPr>
        <p:txBody>
          <a:bodyPr wrap="square" lIns="0" tIns="0" rIns="0" bIns="0" anchor="t">
            <a:spAutoFit/>
          </a:bodyPr>
          <a:lstStyle/>
          <a:p>
            <a:pPr algn="l"/>
            <a:r>
              <a:rPr sz="1250" b="1" i="0">
                <a:solidFill>
                  <a:srgbClr val="1F3D2E"/>
                </a:solidFill>
                <a:latin typeface="Calibri"/>
              </a:rPr>
              <a:t>Arduino LiquidCrystal Library</a:t>
            </a:r>
          </a:p>
        </p:txBody>
      </p:sp>
      <p:sp>
        <p:nvSpPr>
          <p:cNvPr id="42" name="TextBox 41"/>
          <p:cNvSpPr txBox="1"/>
          <p:nvPr/>
        </p:nvSpPr>
        <p:spPr>
          <a:xfrm>
            <a:off x="5134355" y="5605272"/>
            <a:ext cx="2468879" cy="219456"/>
          </a:xfrm>
          <a:prstGeom prst="rect">
            <a:avLst/>
          </a:prstGeom>
          <a:noFill/>
        </p:spPr>
        <p:txBody>
          <a:bodyPr wrap="square" lIns="0" tIns="0" rIns="0" bIns="0" anchor="t">
            <a:spAutoFit/>
          </a:bodyPr>
          <a:lstStyle/>
          <a:p>
            <a:pPr algn="l"/>
            <a:r>
              <a:rPr sz="1100" b="0" i="0">
                <a:solidFill>
                  <a:srgbClr val="58655C"/>
                </a:solidFill>
                <a:latin typeface="Calibri"/>
              </a:rPr>
              <a:t>16×2 LCD control reference</a:t>
            </a:r>
          </a:p>
        </p:txBody>
      </p:sp>
      <p:sp>
        <p:nvSpPr>
          <p:cNvPr id="43" name="TextBox 42"/>
          <p:cNvSpPr txBox="1"/>
          <p:nvPr/>
        </p:nvSpPr>
        <p:spPr>
          <a:xfrm>
            <a:off x="5134355" y="5833872"/>
            <a:ext cx="2468879" cy="219456"/>
          </a:xfrm>
          <a:prstGeom prst="rect">
            <a:avLst/>
          </a:prstGeom>
          <a:noFill/>
        </p:spPr>
        <p:txBody>
          <a:bodyPr wrap="square" lIns="0" tIns="0" rIns="0" bIns="0" anchor="t">
            <a:spAutoFit/>
          </a:bodyPr>
          <a:lstStyle/>
          <a:p>
            <a:pPr algn="l"/>
            <a:r>
              <a:rPr sz="1050" b="0" i="0">
                <a:solidFill>
                  <a:srgbClr val="2F6B4F"/>
                </a:solidFill>
                <a:latin typeface="Calibri"/>
              </a:rPr>
              <a:t>docs.arduino.cc/libraries/liquidcrystal</a:t>
            </a:r>
          </a:p>
        </p:txBody>
      </p:sp>
      <p:sp>
        <p:nvSpPr>
          <p:cNvPr id="44" name="Rounded Rectangle 43"/>
          <p:cNvSpPr/>
          <p:nvPr/>
        </p:nvSpPr>
        <p:spPr>
          <a:xfrm>
            <a:off x="8074151" y="1554480"/>
            <a:ext cx="3474720" cy="4754880"/>
          </a:xfrm>
          <a:prstGeom prst="roundRect">
            <a:avLst>
              <a:gd name="adj" fmla="val 4000"/>
            </a:avLst>
          </a:prstGeom>
          <a:solidFill>
            <a:srgbClr val="E9F0E9"/>
          </a:solidFill>
          <a:ln>
            <a:noFill/>
          </a:ln>
          <a:effectLst>
            <a:outerShdw blurRad="101600" dist="38100" dir="5400000" algn="bl" rotWithShape="0">
              <a:srgbClr val="0B171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302751" y="1828799"/>
            <a:ext cx="548640" cy="548640"/>
          </a:xfrm>
          <a:prstGeom prst="ellipse">
            <a:avLst/>
          </a:prstGeom>
          <a:solidFill>
            <a:srgbClr val="1F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layers_w.png"/>
          <p:cNvPicPr>
            <a:picLocks noChangeAspect="1"/>
          </p:cNvPicPr>
          <p:nvPr/>
        </p:nvPicPr>
        <p:blipFill>
          <a:blip r:embed="rId5"/>
          <a:stretch>
            <a:fillRect/>
          </a:stretch>
        </p:blipFill>
        <p:spPr>
          <a:xfrm>
            <a:off x="8434425" y="1960473"/>
            <a:ext cx="285292" cy="285292"/>
          </a:xfrm>
          <a:prstGeom prst="rect">
            <a:avLst/>
          </a:prstGeom>
        </p:spPr>
      </p:pic>
      <p:sp>
        <p:nvSpPr>
          <p:cNvPr id="47" name="TextBox 46"/>
          <p:cNvSpPr txBox="1"/>
          <p:nvPr/>
        </p:nvSpPr>
        <p:spPr>
          <a:xfrm>
            <a:off x="8988551" y="1920240"/>
            <a:ext cx="2377439" cy="365760"/>
          </a:xfrm>
          <a:prstGeom prst="rect">
            <a:avLst/>
          </a:prstGeom>
          <a:noFill/>
        </p:spPr>
        <p:txBody>
          <a:bodyPr wrap="square" lIns="0" tIns="0" rIns="0" bIns="0" anchor="ctr">
            <a:spAutoFit/>
          </a:bodyPr>
          <a:lstStyle/>
          <a:p>
            <a:pPr algn="l"/>
            <a:r>
              <a:rPr sz="1600" b="1" i="0">
                <a:solidFill>
                  <a:srgbClr val="1F3D2E"/>
                </a:solidFill>
                <a:latin typeface="Cambria"/>
              </a:rPr>
              <a:t>Project Files &amp; Credits</a:t>
            </a:r>
          </a:p>
        </p:txBody>
      </p:sp>
      <p:sp>
        <p:nvSpPr>
          <p:cNvPr id="48" name="TextBox 47"/>
          <p:cNvSpPr txBox="1"/>
          <p:nvPr/>
        </p:nvSpPr>
        <p:spPr>
          <a:xfrm>
            <a:off x="8348471" y="2606039"/>
            <a:ext cx="502920" cy="256032"/>
          </a:xfrm>
          <a:prstGeom prst="rect">
            <a:avLst/>
          </a:prstGeom>
          <a:noFill/>
        </p:spPr>
        <p:txBody>
          <a:bodyPr wrap="square" lIns="0" tIns="0" rIns="0" bIns="0" anchor="t">
            <a:spAutoFit/>
          </a:bodyPr>
          <a:lstStyle/>
          <a:p>
            <a:pPr algn="l"/>
            <a:r>
              <a:rPr sz="1200" b="1" i="0">
                <a:solidFill>
                  <a:srgbClr val="B7791F"/>
                </a:solidFill>
                <a:latin typeface="Calibri"/>
              </a:rPr>
              <a:t>[9]</a:t>
            </a:r>
          </a:p>
        </p:txBody>
      </p:sp>
      <p:sp>
        <p:nvSpPr>
          <p:cNvPr id="49" name="TextBox 48"/>
          <p:cNvSpPr txBox="1"/>
          <p:nvPr/>
        </p:nvSpPr>
        <p:spPr>
          <a:xfrm>
            <a:off x="8851391" y="2606039"/>
            <a:ext cx="2468879" cy="256032"/>
          </a:xfrm>
          <a:prstGeom prst="rect">
            <a:avLst/>
          </a:prstGeom>
          <a:noFill/>
        </p:spPr>
        <p:txBody>
          <a:bodyPr wrap="square" lIns="0" tIns="0" rIns="0" bIns="0" anchor="t">
            <a:spAutoFit/>
          </a:bodyPr>
          <a:lstStyle/>
          <a:p>
            <a:pPr algn="l"/>
            <a:r>
              <a:rPr sz="1250" b="1" i="0">
                <a:solidFill>
                  <a:srgbClr val="1F3D2E"/>
                </a:solidFill>
                <a:latin typeface="Calibri"/>
              </a:rPr>
              <a:t>Smart Irrigation System .pdf / .png</a:t>
            </a:r>
          </a:p>
        </p:txBody>
      </p:sp>
      <p:sp>
        <p:nvSpPr>
          <p:cNvPr id="50" name="TextBox 49"/>
          <p:cNvSpPr txBox="1"/>
          <p:nvPr/>
        </p:nvSpPr>
        <p:spPr>
          <a:xfrm>
            <a:off x="8851391" y="2862072"/>
            <a:ext cx="2468879" cy="219456"/>
          </a:xfrm>
          <a:prstGeom prst="rect">
            <a:avLst/>
          </a:prstGeom>
          <a:noFill/>
        </p:spPr>
        <p:txBody>
          <a:bodyPr wrap="square" lIns="0" tIns="0" rIns="0" bIns="0" anchor="t">
            <a:spAutoFit/>
          </a:bodyPr>
          <a:lstStyle/>
          <a:p>
            <a:pPr algn="l"/>
            <a:r>
              <a:rPr sz="1100" b="0" i="0">
                <a:solidFill>
                  <a:srgbClr val="58655C"/>
                </a:solidFill>
                <a:latin typeface="Calibri"/>
              </a:rPr>
              <a:t>Tinkercad circuit schematic export</a:t>
            </a:r>
          </a:p>
        </p:txBody>
      </p:sp>
      <p:sp>
        <p:nvSpPr>
          <p:cNvPr id="51" name="TextBox 50"/>
          <p:cNvSpPr txBox="1"/>
          <p:nvPr/>
        </p:nvSpPr>
        <p:spPr>
          <a:xfrm>
            <a:off x="8851391" y="3090672"/>
            <a:ext cx="2468879" cy="219456"/>
          </a:xfrm>
          <a:prstGeom prst="rect">
            <a:avLst/>
          </a:prstGeom>
          <a:noFill/>
        </p:spPr>
        <p:txBody>
          <a:bodyPr wrap="square" lIns="0" tIns="0" rIns="0" bIns="0" anchor="t">
            <a:spAutoFit/>
          </a:bodyPr>
          <a:lstStyle/>
          <a:p>
            <a:pPr algn="l"/>
            <a:r>
              <a:rPr sz="1050" b="0" i="1">
                <a:solidFill>
                  <a:srgbClr val="6E9080"/>
                </a:solidFill>
                <a:latin typeface="Calibri"/>
              </a:rPr>
              <a:t>Project folder</a:t>
            </a:r>
          </a:p>
        </p:txBody>
      </p:sp>
      <p:sp>
        <p:nvSpPr>
          <p:cNvPr id="52" name="TextBox 51"/>
          <p:cNvSpPr txBox="1"/>
          <p:nvPr/>
        </p:nvSpPr>
        <p:spPr>
          <a:xfrm>
            <a:off x="8348471" y="3520439"/>
            <a:ext cx="502920" cy="256032"/>
          </a:xfrm>
          <a:prstGeom prst="rect">
            <a:avLst/>
          </a:prstGeom>
          <a:noFill/>
        </p:spPr>
        <p:txBody>
          <a:bodyPr wrap="square" lIns="0" tIns="0" rIns="0" bIns="0" anchor="t">
            <a:spAutoFit/>
          </a:bodyPr>
          <a:lstStyle/>
          <a:p>
            <a:pPr algn="l"/>
            <a:r>
              <a:rPr sz="1200" b="1" i="0">
                <a:solidFill>
                  <a:srgbClr val="B7791F"/>
                </a:solidFill>
                <a:latin typeface="Calibri"/>
              </a:rPr>
              <a:t>[10]</a:t>
            </a:r>
          </a:p>
        </p:txBody>
      </p:sp>
      <p:sp>
        <p:nvSpPr>
          <p:cNvPr id="53" name="TextBox 52"/>
          <p:cNvSpPr txBox="1"/>
          <p:nvPr/>
        </p:nvSpPr>
        <p:spPr>
          <a:xfrm>
            <a:off x="8851391" y="3520439"/>
            <a:ext cx="2468879" cy="256032"/>
          </a:xfrm>
          <a:prstGeom prst="rect">
            <a:avLst/>
          </a:prstGeom>
          <a:noFill/>
        </p:spPr>
        <p:txBody>
          <a:bodyPr wrap="square" lIns="0" tIns="0" rIns="0" bIns="0" anchor="t">
            <a:spAutoFit/>
          </a:bodyPr>
          <a:lstStyle/>
          <a:p>
            <a:pPr algn="l"/>
            <a:r>
              <a:rPr sz="1250" b="1" i="0">
                <a:solidFill>
                  <a:srgbClr val="1F3D2E"/>
                </a:solidFill>
                <a:latin typeface="Calibri"/>
              </a:rPr>
              <a:t>bom.csv</a:t>
            </a:r>
          </a:p>
        </p:txBody>
      </p:sp>
      <p:sp>
        <p:nvSpPr>
          <p:cNvPr id="54" name="TextBox 53"/>
          <p:cNvSpPr txBox="1"/>
          <p:nvPr/>
        </p:nvSpPr>
        <p:spPr>
          <a:xfrm>
            <a:off x="8851391" y="3776472"/>
            <a:ext cx="2468879" cy="219456"/>
          </a:xfrm>
          <a:prstGeom prst="rect">
            <a:avLst/>
          </a:prstGeom>
          <a:noFill/>
        </p:spPr>
        <p:txBody>
          <a:bodyPr wrap="square" lIns="0" tIns="0" rIns="0" bIns="0" anchor="t">
            <a:spAutoFit/>
          </a:bodyPr>
          <a:lstStyle/>
          <a:p>
            <a:pPr algn="l"/>
            <a:r>
              <a:rPr sz="1100" b="0" i="0">
                <a:solidFill>
                  <a:srgbClr val="58655C"/>
                </a:solidFill>
                <a:latin typeface="Calibri"/>
              </a:rPr>
              <a:t>Tinkercad bill of materials export</a:t>
            </a:r>
          </a:p>
        </p:txBody>
      </p:sp>
      <p:sp>
        <p:nvSpPr>
          <p:cNvPr id="55" name="TextBox 54"/>
          <p:cNvSpPr txBox="1"/>
          <p:nvPr/>
        </p:nvSpPr>
        <p:spPr>
          <a:xfrm>
            <a:off x="8851391" y="4005072"/>
            <a:ext cx="2468879" cy="219456"/>
          </a:xfrm>
          <a:prstGeom prst="rect">
            <a:avLst/>
          </a:prstGeom>
          <a:noFill/>
        </p:spPr>
        <p:txBody>
          <a:bodyPr wrap="square" lIns="0" tIns="0" rIns="0" bIns="0" anchor="t">
            <a:spAutoFit/>
          </a:bodyPr>
          <a:lstStyle/>
          <a:p>
            <a:pPr algn="l"/>
            <a:r>
              <a:rPr sz="1050" b="0" i="1">
                <a:solidFill>
                  <a:srgbClr val="6E9080"/>
                </a:solidFill>
                <a:latin typeface="Calibri"/>
              </a:rPr>
              <a:t>Project folder</a:t>
            </a:r>
          </a:p>
        </p:txBody>
      </p:sp>
      <p:sp>
        <p:nvSpPr>
          <p:cNvPr id="56" name="TextBox 55"/>
          <p:cNvSpPr txBox="1"/>
          <p:nvPr/>
        </p:nvSpPr>
        <p:spPr>
          <a:xfrm>
            <a:off x="8348471" y="4434840"/>
            <a:ext cx="502920" cy="256032"/>
          </a:xfrm>
          <a:prstGeom prst="rect">
            <a:avLst/>
          </a:prstGeom>
          <a:noFill/>
        </p:spPr>
        <p:txBody>
          <a:bodyPr wrap="square" lIns="0" tIns="0" rIns="0" bIns="0" anchor="t">
            <a:spAutoFit/>
          </a:bodyPr>
          <a:lstStyle/>
          <a:p>
            <a:pPr algn="l"/>
            <a:r>
              <a:rPr sz="1200" b="1" i="0">
                <a:solidFill>
                  <a:srgbClr val="B7791F"/>
                </a:solidFill>
                <a:latin typeface="Calibri"/>
              </a:rPr>
              <a:t>[11]</a:t>
            </a:r>
          </a:p>
        </p:txBody>
      </p:sp>
      <p:sp>
        <p:nvSpPr>
          <p:cNvPr id="57" name="TextBox 56"/>
          <p:cNvSpPr txBox="1"/>
          <p:nvPr/>
        </p:nvSpPr>
        <p:spPr>
          <a:xfrm>
            <a:off x="8851391" y="4434840"/>
            <a:ext cx="2468879" cy="256032"/>
          </a:xfrm>
          <a:prstGeom prst="rect">
            <a:avLst/>
          </a:prstGeom>
          <a:noFill/>
        </p:spPr>
        <p:txBody>
          <a:bodyPr wrap="square" lIns="0" tIns="0" rIns="0" bIns="0" anchor="t">
            <a:spAutoFit/>
          </a:bodyPr>
          <a:lstStyle/>
          <a:p>
            <a:pPr algn="l"/>
            <a:r>
              <a:rPr sz="1250" b="1" i="0">
                <a:solidFill>
                  <a:srgbClr val="1F3D2E"/>
                </a:solidFill>
                <a:latin typeface="Calibri"/>
              </a:rPr>
              <a:t>index.html · style.css · main.js</a:t>
            </a:r>
          </a:p>
        </p:txBody>
      </p:sp>
      <p:sp>
        <p:nvSpPr>
          <p:cNvPr id="58" name="TextBox 57"/>
          <p:cNvSpPr txBox="1"/>
          <p:nvPr/>
        </p:nvSpPr>
        <p:spPr>
          <a:xfrm>
            <a:off x="8851391" y="4690872"/>
            <a:ext cx="2468879" cy="219456"/>
          </a:xfrm>
          <a:prstGeom prst="rect">
            <a:avLst/>
          </a:prstGeom>
          <a:noFill/>
        </p:spPr>
        <p:txBody>
          <a:bodyPr wrap="square" lIns="0" tIns="0" rIns="0" bIns="0" anchor="t">
            <a:spAutoFit/>
          </a:bodyPr>
          <a:lstStyle/>
          <a:p>
            <a:pPr algn="l"/>
            <a:r>
              <a:rPr sz="1100" b="0" i="0">
                <a:solidFill>
                  <a:srgbClr val="58655C"/>
                </a:solidFill>
                <a:latin typeface="Calibri"/>
              </a:rPr>
              <a:t>Three.js digital twin source code</a:t>
            </a:r>
          </a:p>
        </p:txBody>
      </p:sp>
      <p:sp>
        <p:nvSpPr>
          <p:cNvPr id="59" name="TextBox 58"/>
          <p:cNvSpPr txBox="1"/>
          <p:nvPr/>
        </p:nvSpPr>
        <p:spPr>
          <a:xfrm>
            <a:off x="8851391" y="4919472"/>
            <a:ext cx="2468879" cy="219456"/>
          </a:xfrm>
          <a:prstGeom prst="rect">
            <a:avLst/>
          </a:prstGeom>
          <a:noFill/>
        </p:spPr>
        <p:txBody>
          <a:bodyPr wrap="square" lIns="0" tIns="0" rIns="0" bIns="0" anchor="t">
            <a:spAutoFit/>
          </a:bodyPr>
          <a:lstStyle/>
          <a:p>
            <a:pPr algn="l"/>
            <a:r>
              <a:rPr sz="1050" b="0" i="1">
                <a:solidFill>
                  <a:srgbClr val="6E9080"/>
                </a:solidFill>
                <a:latin typeface="Calibri"/>
              </a:rPr>
              <a:t>Project folder</a:t>
            </a:r>
          </a:p>
        </p:txBody>
      </p:sp>
      <p:sp>
        <p:nvSpPr>
          <p:cNvPr id="60" name="TextBox 59"/>
          <p:cNvSpPr txBox="1"/>
          <p:nvPr/>
        </p:nvSpPr>
        <p:spPr>
          <a:xfrm>
            <a:off x="8348471" y="5349240"/>
            <a:ext cx="502920" cy="256032"/>
          </a:xfrm>
          <a:prstGeom prst="rect">
            <a:avLst/>
          </a:prstGeom>
          <a:noFill/>
        </p:spPr>
        <p:txBody>
          <a:bodyPr wrap="square" lIns="0" tIns="0" rIns="0" bIns="0" anchor="t">
            <a:spAutoFit/>
          </a:bodyPr>
          <a:lstStyle/>
          <a:p>
            <a:pPr algn="l"/>
            <a:r>
              <a:rPr sz="1200" b="1" i="0">
                <a:solidFill>
                  <a:srgbClr val="B7791F"/>
                </a:solidFill>
                <a:latin typeface="Calibri"/>
              </a:rPr>
              <a:t>[12]</a:t>
            </a:r>
          </a:p>
        </p:txBody>
      </p:sp>
      <p:sp>
        <p:nvSpPr>
          <p:cNvPr id="61" name="TextBox 60"/>
          <p:cNvSpPr txBox="1"/>
          <p:nvPr/>
        </p:nvSpPr>
        <p:spPr>
          <a:xfrm>
            <a:off x="8851391" y="5349240"/>
            <a:ext cx="2468879" cy="256032"/>
          </a:xfrm>
          <a:prstGeom prst="rect">
            <a:avLst/>
          </a:prstGeom>
          <a:noFill/>
        </p:spPr>
        <p:txBody>
          <a:bodyPr wrap="square" lIns="0" tIns="0" rIns="0" bIns="0" anchor="t">
            <a:spAutoFit/>
          </a:bodyPr>
          <a:lstStyle/>
          <a:p>
            <a:pPr algn="l"/>
            <a:r>
              <a:rPr sz="1250" b="1" i="0">
                <a:solidFill>
                  <a:srgbClr val="1F3D2E"/>
                </a:solidFill>
                <a:latin typeface="Calibri"/>
              </a:rPr>
              <a:t>Feather Icons (MIT licence)</a:t>
            </a:r>
          </a:p>
        </p:txBody>
      </p:sp>
      <p:sp>
        <p:nvSpPr>
          <p:cNvPr id="62" name="TextBox 61"/>
          <p:cNvSpPr txBox="1"/>
          <p:nvPr/>
        </p:nvSpPr>
        <p:spPr>
          <a:xfrm>
            <a:off x="8851391" y="5605272"/>
            <a:ext cx="2468879" cy="219456"/>
          </a:xfrm>
          <a:prstGeom prst="rect">
            <a:avLst/>
          </a:prstGeom>
          <a:noFill/>
        </p:spPr>
        <p:txBody>
          <a:bodyPr wrap="square" lIns="0" tIns="0" rIns="0" bIns="0" anchor="t">
            <a:spAutoFit/>
          </a:bodyPr>
          <a:lstStyle/>
          <a:p>
            <a:pPr algn="l"/>
            <a:r>
              <a:rPr sz="1100" b="0" i="0">
                <a:solidFill>
                  <a:srgbClr val="58655C"/>
                </a:solidFill>
                <a:latin typeface="Calibri"/>
              </a:rPr>
              <a:t>Icon set used throughout this deck</a:t>
            </a:r>
          </a:p>
        </p:txBody>
      </p:sp>
      <p:sp>
        <p:nvSpPr>
          <p:cNvPr id="63" name="TextBox 62"/>
          <p:cNvSpPr txBox="1"/>
          <p:nvPr/>
        </p:nvSpPr>
        <p:spPr>
          <a:xfrm>
            <a:off x="8851391" y="5833872"/>
            <a:ext cx="2468879" cy="219456"/>
          </a:xfrm>
          <a:prstGeom prst="rect">
            <a:avLst/>
          </a:prstGeom>
          <a:noFill/>
        </p:spPr>
        <p:txBody>
          <a:bodyPr wrap="square" lIns="0" tIns="0" rIns="0" bIns="0" anchor="t">
            <a:spAutoFit/>
          </a:bodyPr>
          <a:lstStyle/>
          <a:p>
            <a:pPr algn="l"/>
            <a:r>
              <a:rPr sz="1050" b="0" i="0">
                <a:solidFill>
                  <a:srgbClr val="2F6B4F"/>
                </a:solidFill>
                <a:latin typeface="Calibri"/>
              </a:rPr>
              <a:t>feathericons.com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F3D2E"/>
        </a:solidFill>
        <a:effectLst/>
      </p:bgPr>
    </p:bg>
    <p:spTree>
      <p:nvGrpSpPr>
        <p:cNvPr id="1" name=""/>
        <p:cNvGrpSpPr/>
        <p:nvPr/>
      </p:nvGrpSpPr>
      <p:grpSpPr>
        <a:xfrm>
          <a:off x="0" y="0"/>
          <a:ext cx="0" cy="0"/>
          <a:chOff x="0" y="0"/>
          <a:chExt cx="0" cy="0"/>
        </a:xfrm>
      </p:grpSpPr>
      <p:sp>
        <p:nvSpPr>
          <p:cNvPr id="2" name="Shape 0"/>
          <p:cNvSpPr/>
          <p:nvPr/>
        </p:nvSpPr>
        <p:spPr>
          <a:xfrm>
            <a:off x="5705856" y="1097280"/>
            <a:ext cx="777240" cy="777240"/>
          </a:xfrm>
          <a:prstGeom prst="ellipse">
            <a:avLst/>
          </a:prstGeom>
          <a:solidFill>
            <a:srgbClr val="E8A33D"/>
          </a:solidFill>
          <a:ln/>
        </p:spPr>
      </p:sp>
      <p:pic>
        <p:nvPicPr>
          <p:cNvPr id="3" name="Image 0" descr="C:\Users\sohan\AppData\Local\Temp\claude\D--CEPDT-3D-model\6251275b-f963-4380-baeb-f7faaa89ac3b\scratchpad\deck\icons\FiDroplet.png"/>
          <p:cNvPicPr>
            <a:picLocks noChangeAspect="1"/>
          </p:cNvPicPr>
          <p:nvPr/>
        </p:nvPicPr>
        <p:blipFill>
          <a:blip r:embed="rId3"/>
          <a:stretch>
            <a:fillRect/>
          </a:stretch>
        </p:blipFill>
        <p:spPr>
          <a:xfrm>
            <a:off x="5892394" y="1283818"/>
            <a:ext cx="404165" cy="404165"/>
          </a:xfrm>
          <a:prstGeom prst="rect">
            <a:avLst/>
          </a:prstGeom>
        </p:spPr>
      </p:pic>
      <p:sp>
        <p:nvSpPr>
          <p:cNvPr id="4" name="Text 1"/>
          <p:cNvSpPr txBox="1"/>
          <p:nvPr/>
        </p:nvSpPr>
        <p:spPr>
          <a:xfrm>
            <a:off x="0" y="2514600"/>
            <a:ext cx="12191695"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2"/>
          <p:cNvSpPr txBox="1"/>
          <p:nvPr/>
        </p:nvSpPr>
        <p:spPr>
          <a:xfrm>
            <a:off x="0" y="3520440"/>
            <a:ext cx="12191695" cy="457200"/>
          </a:xfrm>
          <a:prstGeom prst="rect">
            <a:avLst/>
          </a:prstGeom>
          <a:noFill/>
          <a:ln/>
        </p:spPr>
        <p:txBody>
          <a:bodyPr wrap="square" lIns="0" tIns="0" rIns="0" bIns="0" rtlCol="0" anchor="ctr"/>
          <a:lstStyle/>
          <a:p>
            <a:pPr marL="0" indent="0" algn="ctr">
              <a:buNone/>
            </a:pPr>
            <a:r>
              <a:rPr lang="en-US" sz="1600" i="1" dirty="0">
                <a:solidFill>
                  <a:srgbClr val="B9D0C4"/>
                </a:solidFill>
                <a:latin typeface="Calibri" pitchFamily="34" charset="0"/>
                <a:ea typeface="Calibri" pitchFamily="34" charset="-122"/>
                <a:cs typeface="Calibri" pitchFamily="34" charset="-120"/>
              </a:rPr>
              <a:t>Smart Irrigation System — Tinkercad Circuit &amp; Three.js Digital Twin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1741</Words>
  <Application>Microsoft Office PowerPoint</Application>
  <PresentationFormat>Widescreen</PresentationFormat>
  <Paragraphs>266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Irrigation System</dc:title>
  <dc:subject>PptxGenJS Presentation</dc:subject>
  <dc:creator>CEPDT Project</dc:creator>
  <cp:lastModifiedBy>Sohan ‎</cp:lastModifiedBy>
  <cp:revision>2</cp:revision>
  <dcterms:created xsi:type="dcterms:W3CDTF">2026-09-22T09:14:54Z</dcterms:created>
  <dcterms:modified xsi:type="dcterms:W3CDTF">2026-09-26T05:36:53Z</dcterms:modified>
</cp:coreProperties>
</file>